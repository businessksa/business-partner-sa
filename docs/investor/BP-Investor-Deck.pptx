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إيراد (مليون ﷼)</c:v>
                </c:pt>
              </c:strCache>
            </c:strRef>
          </c:tx>
          <c:spPr>
            <a:solidFill>
              <a:srgbClr val="0066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السنة 1</c:v>
                  </c:pt>
                  <c:pt idx="1">
                    <c:v>السنة 2</c:v>
                  </c:pt>
                  <c:pt idx="2">
                    <c:v>السنة 3</c:v>
                  </c:pt>
                  <c:pt idx="3">
                    <c:v>السنة 4</c:v>
                  </c:pt>
                  <c:pt idx="4">
                    <c:v>السنة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3.3</c:v>
                </c:pt>
                <c:pt idx="2">
                  <c:v>10.8</c:v>
                </c:pt>
                <c:pt idx="3">
                  <c:v>31</c:v>
                </c:pt>
                <c:pt idx="4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66C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تسويق واكتساب عملاء</c:v>
                </c:pt>
                <c:pt idx="1">
                  <c:v>منتج وأتمتة (n8n)</c:v>
                </c:pt>
                <c:pt idx="2">
                  <c:v>فريق وتشغيل أساسي</c:v>
                </c:pt>
                <c:pt idx="3">
                  <c:v>تهيئة الامتثال والتوسّع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Revenue-share offer: SAR 500K for 25% of collected revenue, capped at 2x over 24-36 months. Numbers are placeholders pending the final cost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OPPORTUNITY  ·  CONFIDENTIAL  ·  فرصة استثمارية · سري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شركتك كاملة كخدمة — يشغّلها ويبقيها ممتثلة فريقٌ من الذكاء الاصطناعي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company, fully operated by an AI team — compliant from day 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091672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· The Ask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﷼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المبلغ · Investment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4526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الإيراد المُحصّل · of collected revenue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0" y="4526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سقف العائد · Return cap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15400" y="4526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24–36 شهر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15400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الأفق · Horizon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Business Partner  ·  businesspartner.sa  ·  +966 53 054 0231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· الملخص التنفيذي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الفرصة باختصار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in brief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~75M ﷼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إيراد متوقع السنة 5 (سيناريو توسّع)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Year-5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2860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0560" y="3154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اختراق السوق المطلوب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penetration needed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183880" y="3154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إيراد شهري متكرر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monthly revenue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75720" y="423367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60520"/>
            <a:ext cx="1077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Company-as-a-Service: فريق ذكاء اصطناعي يشغّل شركة رائد الأعمال ويبقيها ممتثلة من اليوم الأول.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75720" y="48006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27448"/>
            <a:ext cx="1077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الآن: رؤية 2030 + رقمنة الجهات الحكومية + سوق ناضج بلا لاعب متخصص بالذكاء الاصطناعي.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475720" y="536752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94376"/>
            <a:ext cx="10771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مشاركة إيرادات متوازن: العائد من إيرادٍ مُحصّل فعليًا — لا وعد نظري، ولا مخاطرة مفتوحة.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· المشكلة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رائد الأعمال يغرق قبل أن يبدأ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Buried before they begin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30952" y="26243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426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تعقيد الامتثال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08152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قوى، مقيم، GOSI، مدد، نطاقات، بلدي — كلها رقمية ومترابطة، والتأخير = غرامات.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42316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08792" y="26243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6426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فريق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308152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أو صاحب العمل الحر بلا مساحة ولا طاقم ولا خبرة في التأسيس والإدارة.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30952" y="436168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66C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9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تكلفة عالية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481888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توظيف طاقم كامل (HR، قانوني، امتثال، تسويق) مكلف قبل أول ريال إيراد.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416052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908792" y="436168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379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أخطاء مكلفة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481888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 إجرائي واحد = تجميد خدمات أو غرامة أو فقدان امتثال.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STORY · القصة الإنسانية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0515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موظف 9–5 إلى صاحب شركة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0" y="17373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employee to founder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“عندي فكرة ووقت محدود…</a:t>
            </a:r>
            <a:endParaRPr lang="en-US" sz="19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لكن ما أعرف أؤسّس، ولا أدير،</a:t>
            </a:r>
            <a:endParaRPr lang="en-US" sz="19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 أتابع الامتثال.”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11480" y="4937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story repeated across the Kingdom.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109960" y="242316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11109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44144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يشترك في Business Partner.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1109960" y="3355848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1110996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37413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يربط حساباته بأمان (بلا كلمة مرور).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1109960" y="4288536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1110996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4306824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ذكاء اصطناعي يؤسّس ويراقب وينفّذ.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1109960" y="522122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1109960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523951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يبدأ شركته بأقل تكلفة وأسرع طريقة — بفريق كامل من اليوم الأول.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· الحل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واحدة — رحلة كاملة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the whole journey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965960" cy="1280160"/>
          </a:xfrm>
          <a:prstGeom prst="roundRect">
            <a:avLst>
              <a:gd name="adj" fmla="val 6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4732" y="2651760"/>
            <a:ext cx="493776" cy="49377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1284732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547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32888" y="2788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807208" y="2468880"/>
            <a:ext cx="1965960" cy="1280160"/>
          </a:xfrm>
          <a:prstGeom prst="roundRect">
            <a:avLst>
              <a:gd name="adj" fmla="val 6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43300" y="2651760"/>
            <a:ext cx="493776" cy="49377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3543300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07208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التأسيس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07208" y="3547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788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65776" y="2468880"/>
            <a:ext cx="1965960" cy="1280160"/>
          </a:xfrm>
          <a:prstGeom prst="roundRect">
            <a:avLst>
              <a:gd name="adj" fmla="val 6429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1868" y="2651760"/>
            <a:ext cx="493776" cy="49377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801868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65776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الامتثال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65776" y="3547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50024" y="2788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324344" y="2468880"/>
            <a:ext cx="1965960" cy="1280160"/>
          </a:xfrm>
          <a:prstGeom prst="roundRect">
            <a:avLst>
              <a:gd name="adj" fmla="val 6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0436" y="2651760"/>
            <a:ext cx="493776" cy="49377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6" name="Text 24"/>
          <p:cNvSpPr/>
          <p:nvPr/>
        </p:nvSpPr>
        <p:spPr>
          <a:xfrm>
            <a:off x="8060436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24344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التشغيل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24344" y="3547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08592" y="2788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582912" y="2468880"/>
            <a:ext cx="1965960" cy="1280160"/>
          </a:xfrm>
          <a:prstGeom prst="roundRect">
            <a:avLst>
              <a:gd name="adj" fmla="val 6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19004" y="2651760"/>
            <a:ext cx="493776" cy="49377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2" name="Text 30"/>
          <p:cNvSpPr/>
          <p:nvPr/>
        </p:nvSpPr>
        <p:spPr>
          <a:xfrm>
            <a:off x="10319004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82912" y="3200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82912" y="3547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16052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4389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القلب: فريق الخدمات المشتركة بالذكاء الاصطناعي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868680" y="4892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 الإيراد المتكرر. وحوله — التأسيس، الموارد البشرية، سياحة الأعمال، العقار، وفريق المهام الصعبة (Task Force) — كسطح بيع تقاطعي يرفع قيمة العميل الواحد.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· لماذا الآن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نافذة لن تتكرّر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window that won't come again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رؤية 2030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صريح للمنشآت الصغيرة، تقليل الاعتماد على النفط، وفتح فرص وظيفية جديدة.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3317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7992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رقمنة حكومية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07992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الجهات على منصات رقمية — أرضٌ خصبة للأتمتة والامتثال الذكي.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23317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بلا منافس متخصص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11312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مكاتب الخدمات تقليدية يدوية؛ لا أحد يقدّم فريقًا ذكيًا متكاملًا.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800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4400" y="5330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نفاذ إنترنت · Internet penetration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4800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1.3M+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26280" y="5330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منشأة صغيرة/متوسطة · SMEs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4800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138160" y="5330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 التحوّل · Transformation driver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· المنتج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الخدمات المشتركة بالذكاء الاصطناعي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Shared-Services Team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مديرًا بالذكاء الاصطناعي — كلٌّ تحته وكلاء تنفيذ (Sub-Agents) — يعملون 24/7 عبر واتساب، الصوت، الإيميل، وبوابة الموقع، ويردّون بمبادرة لا مجرّد إجابة.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260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باهر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369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استشارات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1488" y="2834640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29260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أحمد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98648" y="32369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تخطيط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74336" y="2834640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11496" y="29260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مازن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11496" y="32369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عمليات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87184" y="2834640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24344" y="29260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ناصر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24344" y="32369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موارد بشرية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00032" y="2834640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37192" y="29260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37192" y="32369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مبيعات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30752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22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تسويق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61488" y="3730752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8648" y="3822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عبدالعزيز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98648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قانوني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74336" y="3730752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11496" y="3822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ملاك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11496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إداري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87184" y="3730752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24344" y="3822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24344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تقنية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400032" y="3730752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37192" y="3822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مشاري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37192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امتثال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626864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718304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سعيد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" y="50292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علاقات حكومية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61488" y="4626864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98648" y="4718304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خالد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898648" y="50292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خدمة عملاء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74336" y="4626864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11496" y="4718304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فيصل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111496" y="50292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مالي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187184" y="4626864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24344" y="4718304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فهد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324344" y="50292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شراكات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400032" y="4626864"/>
            <a:ext cx="2084832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37192" y="4718304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537192" y="50292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GOVERNANCE · الامتثال والحوكمة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إيجنت لكل منصة حكومية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per government platform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2478024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377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91840" y="233172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144" y="2478024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2377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مقيم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35040" y="233172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1344" y="2478024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377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وزارة التجارة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778240" y="233172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24544" y="2478024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2377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الزكاة والضريبة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04495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" y="3191256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0906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بلدي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291840" y="304495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38144" y="3191256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3" name="Text 21"/>
          <p:cNvSpPr/>
          <p:nvPr/>
        </p:nvSpPr>
        <p:spPr>
          <a:xfrm>
            <a:off x="3794760" y="30906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الاستثمار (MISA)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35040" y="304495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1344" y="3191256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0906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السياحة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778240" y="304495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24544" y="3191256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9" name="Text 27"/>
          <p:cNvSpPr/>
          <p:nvPr/>
        </p:nvSpPr>
        <p:spPr>
          <a:xfrm>
            <a:off x="9281160" y="30906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الغرف التجارية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4160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الحوكمة — الخط الأحمر · Governance red-line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183112" y="468172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كلمات مرور ولا OTP إطلاقًا — ربط حسابات آمن فقط.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1183112" y="506577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5001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بشري قبل أي دفع أو توقيع أو تقديم حكومي مدفوع.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1183112" y="544982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53858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الأدلة والأنظمة محفوظة في Notion، وتحديثاتها آلية عبر n8n.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· كيف تعمل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العميل في خمس خطوات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journey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965960" cy="21945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57300" y="288036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32888" y="338328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807208" y="2651760"/>
            <a:ext cx="1965960" cy="21945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15868" y="288036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3515868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44368" y="3611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آمن للحسابات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98648" y="4480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linking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91456" y="338328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065776" y="2651760"/>
            <a:ext cx="1965960" cy="21945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74436" y="288036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5774436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02936" y="3611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وتنبيه آلي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57216" y="4480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&amp; alert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50024" y="338328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7324344" y="2651760"/>
            <a:ext cx="1965960" cy="2194560"/>
          </a:xfrm>
          <a:prstGeom prst="roundRect">
            <a:avLst>
              <a:gd name="adj" fmla="val 4186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33004" y="28803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033004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61504" y="3611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تنفيذ (Concierge هجين ← أتمتة)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15784" y="4480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308592" y="338328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9582912" y="2651760"/>
            <a:ext cx="1965960" cy="21945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291572" y="288036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2" name="Text 30"/>
          <p:cNvSpPr/>
          <p:nvPr/>
        </p:nvSpPr>
        <p:spPr>
          <a:xfrm>
            <a:off x="10291572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20072" y="3611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 وتقارير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74352" y="4480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&amp; report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العميل لا يغادر المنصة — رحلة واحدة متصلة من الاشتراك إلى التشغيل.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 STACK · المنظومة التقنية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تجربة «الذكاء المربوط بكل أدواتك» — لكل عميل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client gets an AI wired into all their tools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الأوامر · Commands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19272" y="242316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02152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02152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الأتمتة · Automation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9904" y="242316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72784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72784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العقل والذاكرة · Brain &amp; memory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860536" y="242316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43416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 / Vercel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43416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 · Interface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1672" cy="1554480"/>
          </a:xfrm>
          <a:prstGeom prst="roundRect">
            <a:avLst>
              <a:gd name="adj" fmla="val 5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343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تكامل مع Gmail و Google Workspace و Slack و Meta و WhatsApp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846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الأتمتة عبر n8n تخفّض تكلفة الخدمة لكل عميل مع النمو — هامش يتحسّن كلما اتّسعنا.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 · نموذج الإيراد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مصادر دخل متكرّرة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income streams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4231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48472" y="2450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اشتراكات شهرية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450592"/>
            <a:ext cx="6793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المحرّك: امتثال 250 · فريق متخصص 500 · خدمات مشتركة (مدمجة).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90672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3182112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48472" y="32095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 تأسيس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209544"/>
            <a:ext cx="6793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معاملة one-time تقود لاشتراك سنوي متكرر.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3941064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48472" y="39684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 تقاطعي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968496"/>
            <a:ext cx="6793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سياحة أعمال، عقار، توظيف، Task Force.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08576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" y="4700016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48472" y="4727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 تهيئة تكاملات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727448"/>
            <a:ext cx="6793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لربط أدوات العميل.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367528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5458968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48472" y="5486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عمولات إحالة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71600" y="5486400"/>
            <a:ext cx="6793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تمويل حكومي وموردين.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· اقتصاديات الوحدة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رابحة قابلة للتوسّع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scalable, profitable unit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5786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500–700 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 شهري — يرتفع مع البيع التقاطعي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23774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5786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منخفض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— قنوات رقمية + إحالات + شبكة المؤسس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1788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يتحسّن مع النمو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الهامش — نموذج برمجي خفيف التكلفة (n8n)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39776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41788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منخفض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 متكرر + امتثال إلزامي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ملاحظة: الأرقام النهائية تُقفل مع النموذج المالي (تكلفة API / n8n / سيرفرات / churn).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· حجم السوق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فرصة تتّسع طبقةً بعد طبقة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SAM · SOM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0066C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163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1.3M+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247120" y="2697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منشأة صغيرة/متوسطة في السعودية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21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0507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المنشآت &lt; 20–50 موظف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9536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تحتاج إدارة امتثال مستمرة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956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285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~9,000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760720" y="51663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عميل بالسنة 5 — أقل من 1% اختراق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المصادر: منشآت · الهيئة العامة للإحصاء.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· المنافسة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أحد يقدّم فريقًا ذكيًا متكاملًا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offers an integrated AI team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505456"/>
                <a:gridCol w="2505456"/>
                <a:gridCol w="2514600"/>
              </a:tblGrid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القدرة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مكاتب تقليدية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 خارجي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Partner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وكيل ذكي 24/7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أتمتة (n8n)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جزئي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تنبيهات تجديد آلية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يدوي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جزئي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السعر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أعلى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أعلى بكثير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الأرخص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رحلة متكاملة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· الخندق الدفاعي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يصعب نسخنا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hard to replicate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633472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651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حصرية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قاعدة سلوك امتثال للمنشآت الصغيرة.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2512" y="2633472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2651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أتمتة ناضجة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1546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ورك فلوهات n8n يصعب نسخها بسرعة.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370832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امتثال متخصص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معرفة عميقة بالأنظمة وتحديثاتها لحظيًا.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411480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4370832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 شبكي وعلامة موثوقة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48920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عميل يرفع قيمة المنصة.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&amp; GROWTH · الشراكات وقنوات النمو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شبكةٌ تضخّ النمو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that pumps growth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42900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قنوات الوصول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الموقع، واتساب، حملات إيميل B2B، السوشال ميديا، وشبكة المؤسس الواسعة.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2377440"/>
            <a:ext cx="342900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7992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شراكات مستهدفة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07992" y="32004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تكامل / رابط، البيانات المفتوحة، الغرف التجارية، الحاضنات والمسرّعات.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2377440"/>
            <a:ext cx="342900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 عضوي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11312" y="32004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إحالات متبادلة + بيع تقاطعي يرفع قيمة العميل الواحد.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· REVENUE — المالية: الإيراد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نموٌّ أسّي مدفوع بالوحدة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Exponential, unit-driven growth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286000"/>
          <a:ext cx="67665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377440"/>
          <a:ext cx="4005072" cy="914400"/>
        </p:xfrm>
        <a:graphic>
          <a:graphicData uri="http://schemas.openxmlformats.org/drawingml/2006/table">
            <a:tbl>
              <a:tblPr/>
              <a:tblGrid>
                <a:gridCol w="1060704"/>
                <a:gridCol w="1463040"/>
                <a:gridCol w="1481328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السنة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عملاء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إيراد 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توضيحي مبني على افتراضات معلنة — ليس وعد عائد.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STATEMENT · قائمة الدخل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الطريق إلى ربحية عالية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to high profitability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82712" y="26334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هامش إجمالي مرتفع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633472"/>
            <a:ext cx="642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برمجي خفيف التكلفة — تكلفة الخدمة تنخفض مع الأتمتة.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82712" y="36850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تعادل مبكر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685032"/>
            <a:ext cx="642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تحكّم في المصاريف التشغيلية مع نمو الاشتراكات المتكرّرة.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7091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82712" y="4736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تدفّق نقدي يتحسّن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736592"/>
            <a:ext cx="642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عميل جديد أرخص خدمةً من سابقه مع اتّساع الأتمتة.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تفصيلية (قائمة دخل كاملة) تُقفل مع النموذج المالي النهائي قبل تقديم العرض.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· مؤشرات الأداء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نقيسه ونحرّكه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measure and drive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429000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743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العملاء المدفوعين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2468880"/>
            <a:ext cx="3429000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788920"/>
            <a:ext cx="502920" cy="5029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2743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الإيراد المتكرر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2468880"/>
            <a:ext cx="3429000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2788920"/>
            <a:ext cx="502920" cy="5029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960" y="2743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معدّل التفعيل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429000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الاحتفاظ (churn)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51960" y="3840480"/>
            <a:ext cx="3429000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4160520"/>
            <a:ext cx="502920" cy="5029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رضا العملاء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55280" y="3840480"/>
            <a:ext cx="3429000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83880" y="4160520"/>
            <a:ext cx="502920" cy="5029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8" name="Text 26"/>
          <p:cNvSpPr/>
          <p:nvPr/>
        </p:nvSpPr>
        <p:spPr>
          <a:xfrm>
            <a:off x="81838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2396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زمن تنفيذ الطلب الروتيني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شفافة شهرية للمستثمر — بمعايير مؤسسية.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 · استخدام أموال الاستثمار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تذهب الـ 500,000 ﷼؟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the funds go?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2286000"/>
          <a:ext cx="4754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25146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066CC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0" y="2468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تسويق واكتساب عملاء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33832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3337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772400" y="3337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 وأتمتة (n8n)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26480" y="425196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4206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7240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وتشغيل أساسي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26480" y="512064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94A3B8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5074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772400" y="5074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تهيئة الامتثال والتوسّع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رأس مال موجّه للجذب — كل ريال على نموٍّ قابل للقياس.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DEAL · هيكل الصفقة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مشاركة إيرادات — عادلة وواضحة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 — clear &amp; fair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63347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﷼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المبلغ · Investment (نمو)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23774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63347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4652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الإيراد المُحصّل فعليًا · of collected revenue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23367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6868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سقف العائد (1,000,000 ﷼) · Return cap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39776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423367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24–36 شهر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4652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الأفق الزمني · Horizon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استبعاد ضريبة القيمة المضافة والاسترجاعات ورسوم بوابة الدفع. السقف يشمل الأصل والعائد.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PROTECTION · حماية المستثمر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توازنٌ في المخاطر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risk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6517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651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تمديد المدة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حتى بلوغ السقف إذا تأخّر النمو.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2512" y="26517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2651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لحصة ملكية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الرصيد غير المسترد يتحوّل بتقييم متّفق عليه مسبقًا.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3891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389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أولوية في الجولة القادمة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 دخول مبكر في التمويل اللاحق.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411480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43891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4389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مشاركة أرباح خدمات عالية الهامش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00800" y="49377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التأسيس و Task Force.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الشركة لا تَعِد بعائد مضمون غير واقعي — والمستثمر لا يبقى بلا حماية إذا تأخّر النمو.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SCENARIOS · سيناريوهات العائد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مسارات — كلّها تبلغ السقف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paths — all reach the cap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200400"/>
                <a:gridCol w="4507992"/>
              </a:tblGrid>
              <a:tr h="777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السيناريو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الأفق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العائد للمستثمر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متحفّظ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 شهر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يقترب من 2×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أساسي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24–30 شهر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 (السقف)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متفائل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24 شهر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 أسرع + أولوية جولة قادمة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مخاطرة محسوبة: العائد من إيرادٍ مُحصّل، والحماية تحفظ رأس المال.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· المخاطر وإدارتها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نراها… ونديرها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see them — and manage them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76872"/>
              </a:tblGrid>
              <a:tr h="7132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المخاطرة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كيف نخفّفها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بطء تبنّي العملاء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Concierge هجين + شبكة المؤسس + حملات مستهدفة.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الوصول للمنصات الحكومية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نموذج «دليل ومنفّذ مسودات» + شراكات رسمية تدريجيًا.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التنظيم وحماية البيانات (PDPL)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حوكمة صارمة (لا OTP) + سياسة خصوصية من اليوم الأول.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0066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التمويل اللاحق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تعادل مبكر يقلّل الاعتماد على الجولات.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1371600"/>
            <a:ext cx="1828800" cy="18288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باهر مقنص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Baher Magnas · Founder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3383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i="1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طبيب أسنان تحوّل إلى ريادة الأعمال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· الفريق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0515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خبرةٌ تشغيلية وحكومية وتقنية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Operational, government &amp; technical expertise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430000" y="2468880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377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المنصات الحكومية والامتثال والالتزام.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430000" y="3200400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1089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الموارد البشرية والاستقدام وتشغيل الخدمات اللوجستية.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0" y="3931920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8404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تأسيس الشركات والاستشارات مع الجهات الحكومية.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30000" y="4663440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5720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السياحة والعقار — رحلة المستثمر داخل المملكة.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430000" y="5394960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53035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الذراع التقنية: Claudesite.net — بناء وتشغيل وتسويق احترافي.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5943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ندعو المستثمر شريكًا ومستشارًا — لا ممولًا فقط.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businesspartner.sa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نبني شركاتٍ ذاتية التشغيل — ونصنع أثرًا في رؤية 2030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self-operating companies — and create impact for Vision 2030.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﷼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4462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المبلغ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4462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الإيراد المُحصّل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63640" y="4462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سقف العائد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24–36 شهر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961120" y="4462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businesspartner.sa   ·   business@businesspartner.sa   ·   +966 53 054 0231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مشاركة إيرادات — الأرقام مقترحة وتُقفل بعد النموذج المالي النهائي.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Business Partner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Business Partner</dc:creator>
  <cp:lastModifiedBy>Business Partner</cp:lastModifiedBy>
  <cp:revision>1</cp:revision>
  <dcterms:created xsi:type="dcterms:W3CDTF">2026-07-20T21:55:21Z</dcterms:created>
  <dcterms:modified xsi:type="dcterms:W3CDTF">2026-07-20T21:55:21Z</dcterms:modified>
</cp:coreProperties>
</file>