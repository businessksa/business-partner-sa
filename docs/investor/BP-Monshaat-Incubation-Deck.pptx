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نحن لا نبيع ذكاءً اصطناعيًا — نبيع نتيجة: منشأتك لا تُفاجأ بمخالفة ولا تتجمّد. الذكاء الاصطناعي هو ما يجعل هذه النتيجة ممكنة بسعرٍ في متناول أصغر منشأة.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حالات عالجتها بيدي لسنوات. كل منصة تعمل بمعزل عن الأخرى — ولا مكان فيها للنسيان. وأقسى ما في النطاق الأحمر أن عمالتك نفسها يحق لها تركك دون موافقتك، فيتسارع الانهيار. صاحب المنشأة يكتشف المشكلة عادةً بعد أن تُقفل الشاشة في وجهه.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السؤال ليس «هل الامتثال مهم؟» — الجميع يعرف أنه مهم. السؤال: لماذا ما زال يُدار بأشخاص متفرقين وردود أفعال؟ لأنه لم يوجد بديل — حتى الآن.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لسنا فريقًا تقنيًا يتعلم الامتثال ليبني منتجًا — نحن نحوّل خدمةً نبيعها فعلًا اليوم إلى منتج. نعرف مواضع العطب في هذه الإجراءات لأننا اكتوينا بها بأنفسنا قبل عملائنا.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الكلمة المفصلية هنا: باعتماد المالك — لا بالنيابة عنه. لا نطلب ولا نخزّن بيانات دخول، والأتمتة الكاملة تأتي لاحقًا عبر التكاملات الرسمية — وهي جزء من طلبنا من البرنامج.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بالضبط ما أفعله اليوم يدويًا لعملائي — والوكيل يفعله لكل العملاء في اللحظة نفسها. ولاحظوا دقة الخيارات: خروج الوافد يرفع النسبة لأنه يُنقص المقام (ويظهر أثره في متوسط الـ26 أسبوعًا تدريجيًا)، والدوام الجزئي بشروطه يُحتسب نصف عامل — وأثر كل نطاق موثّق بمرجعه في دليل نطاقات ضمن مكتبتنا. هذه التفاصيل هي الفرق بين وكيلٍ يعرف الأنظمة وروبوت محادثة عام.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الجهات التنظيمية تدفع السوق نحونا كل ربع سنة: كل رفعٍ لنسبة توطين أو اشتراطٍ تنظيمي جديد يعني منشآت أكثر تحتاج متابعةً مستمرة لا تتوفر لها اليوم.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لن أعرض حصة سوقية مستهدفة مبالغًا فيها. نجاح السنة الأولى يقاس بعشرات العملاء الدافعين الراضين — ومن هناك يتوسع كل شيء.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ميزتنا المركّبة: الخبرة المضمّنة في المنتج + مسارات التنفيذ + سجل الحالات الذي يتراكم مع كل عميل — وهذا ما لا يشتريه منافس متأخر بسرعة.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الأسعار فرضيات نختبرها في المرحلة التجريبية، ولن نثبّتها قبل أن نعرف التكلفة الفعلية لخدمة العميل الواحد. المنطق الثابت: أرخص بكثير من بدائله، ومتكرر، وينمو مع عدد الموظفين والمنصات.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معيار نجاحنا في البرنامج ضيق وقابل للقياس: وكيل واحد مركّز يعمل بموثوقية لعشرات المنشآت الحقيقية — لا عشرون وكيلًا نصف جاهز. بعد الإثبات نتوسع إلى طبقة الامتثال الكاملة.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نطلب المال اليوم — نطلب البيئة التي تجعل الأدلة قاطعة. إن أثبتنا نطاق الانطلاق خلال 90 يومًا، صار كل ما بعده — التمويل والتوسع والتكاملات — حديثَ أرقام، لا وعود.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371600"/>
            <a:ext cx="3474720" cy="347472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 برنامج الاحتضان — منشآت · الرياض 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وكلاء الامتثال الأذكياء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Compliance Agents · Business Partner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فريق امتثال حكومي كامل داخل واتساب: يراقب ويجهّز وينفّذ — بضغطة اعتماد منك.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AE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government-compliance team inside WhatsApp — on your approval.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75488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7548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30552" y="475488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30552" y="47548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مقيم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12464" y="475488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12464" y="4754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التأمينات الاجتماعية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54496" y="475488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47548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مدد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36408" y="475488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36408" y="47548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أجير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418320" y="475488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0" y="4754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نطاقات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8064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Baher Magnas · businesspartner.sa · +966 53 054 0231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· المشكلة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استقالة موظفٍ واحد… وتتجمّد المنشأة كلها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resignation — and the whole establishment freezes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0" y="245059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24688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منشأة لوجستيات · 40 موظفًا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290779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يستقيل موظف سعودي واحد.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05072" y="278892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251960" y="2286000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78040" y="245059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7178040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53128" y="24688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النسبة يهبط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53128" y="290779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التوطين (على 26 أسبوعًا) يهبط أسبوعًا بعد أسبوع → النطاق الأحمر.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08392" y="278892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955280" y="2286000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881360" y="245059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10881360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56448" y="24688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قوى تُوقف خدماتها فورًا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56448" y="290779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يتوقف إصدار رخص العمل وتجديدها والتأشيرات ونقل الخدمات إليها — وعمالتها يحق لها الانتقال عنها دون موافقتها.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069080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74720" y="423367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E11D48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4233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9808" y="42519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هويات مقيم تتعثر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9808" y="469087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تجديدها مشروط برخصة عمل سارية → غرامات وعمالة غير نظامية.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005072" y="45720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4251960" y="4069080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78040" y="423367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7178040" y="4233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453128" y="42519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البنك يوقف الصلاحيات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453128" y="469087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تعذُّر تجديد هوية المفوض يوقف صلاحياته البنكية — وتعليق السجل يجمّد الحساب → يتعذّر ملف الرواتب في مدد.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08392" y="45720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7955280" y="4069080"/>
            <a:ext cx="34290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881360" y="423367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B91C1C"/>
          </a:solidFill>
          <a:ln/>
        </p:spPr>
      </p:sp>
      <p:sp>
        <p:nvSpPr>
          <p:cNvPr id="37" name="Text 35"/>
          <p:cNvSpPr/>
          <p:nvPr/>
        </p:nvSpPr>
        <p:spPr>
          <a:xfrm>
            <a:off x="10881360" y="4233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156448" y="42519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مخالفة فوق المخالفة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156448" y="469087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تأخُّر الأجور = مخالفة جديدة لنظام حماية الأجور.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انزلاقٌ واحد يولّد مخالفات متتابعة — وكل منصة تعمل بمعزل عن الأخرى.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AI Compliance Agents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STAKES · لماذا لا يمكن تجاهلها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كلفة الخطأ باهظة… ولا بديل اليوم يمنعه قبل وقوعه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Mistakes are expensive — nothing today prevents them in advance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429000" cy="2240280"/>
          </a:xfrm>
          <a:prstGeom prst="roundRect">
            <a:avLst>
              <a:gd name="adj" fmla="val 367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كلفة المخالفة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31089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غرامات · تجميد رخص وحسابات · توقّف التوظيف والتأشيرات · أثر نظامي على المنشأة وعمالتها.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2331720"/>
            <a:ext cx="3429000" cy="2240280"/>
          </a:xfrm>
          <a:prstGeom prst="roundRect">
            <a:avLst>
              <a:gd name="adj" fmla="val 367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7992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موظف امتثال متفرغ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07992" y="31089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تكلفة إجمالية 8–15 ألف ريال شهريًا (راتب وبدلات وتأمينات — تقدير معلن) · حاضر في ساعات الدوام، غائب لحظة وقوع الحدث · تغادر معرفتُه بمغادرته.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2331720"/>
            <a:ext cx="3429000" cy="2240280"/>
          </a:xfrm>
          <a:prstGeom prst="roundRect">
            <a:avLst>
              <a:gd name="adj" fmla="val 367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11312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مستشار أو مكتب خدمات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11312" y="31089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أتعاب لكل معاملة · يُستدعى بعد وقوع المشكلة · بلا متابعة مستمرة.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50749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الفجوة: لا حلَّ استباقيًّا متواصلًا بسعرٍ تطيقه المنشآت الصغيرة والمتوسطة — حتى الآن.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AI Compliance Agents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371600"/>
            <a:ext cx="3474720" cy="347472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STORY · ميزة لا تُنسخ ولا تُشترى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عشتُ هذه المشكلة قبل أن أبني حلّها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E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lived this problem before building the product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14600" y="251460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25146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254203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أعمال العائلة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3291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سنوات من العلاقات الحكومية على كل منصة — وعرفتُ مواضع العطب واحدًا واحدًا.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72968" y="292608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37560" y="233172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0" y="251460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38728" y="254203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مشاريعي الخاصة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38728" y="3291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رأيتُ شركات تهوي إلى النطاق الأحمر فتتجمّد رخصها وحساباتها بسبب متطلبٍ واحد.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61888" y="292608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126480" y="233172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92440" y="251460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80924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27648" y="254203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كنتُ الرقم الذي يتصلون به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27648" y="3291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رواد أعمال يلجؤون إليّ لإصلاح تعثّرات الامتثال.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750808" y="292608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915400" y="233172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881360" y="251460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108813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16568" y="254203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16568" y="3291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شركة خدمات قائمة: 92 خدمة مفعّلة تُقدَّم للعملاء فعليًا.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43484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3B1A1F"/>
          </a:solidFill>
          <a:ln w="12700">
            <a:solidFill>
              <a:srgbClr val="7F1D1D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68680" y="459028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ثم اصطدمتُ بحدّ النمو في نموذج الخدمات: كل عميل جديد يحتاج موظفًا جديدًا يتقن الإجراءات — فالإيراد مقيّد بحجم الفريق.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68680" y="513892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الحل: نحوّل هذه الخبرة إلى وكلاء ذكاء اصطناعي — فينمو الإيراد دون أن يقيّده عدد الموظفين.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AI Compliance Agents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 · الحل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يراقب · ينبّه · يجهّز · تعتمد أنت · ينفّذ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monitors · alerts · prepares · you approve · it executes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965960" cy="233172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75588" y="2514600"/>
            <a:ext cx="512064" cy="512064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8" name="Text 6"/>
          <p:cNvSpPr/>
          <p:nvPr/>
        </p:nvSpPr>
        <p:spPr>
          <a:xfrm>
            <a:off x="1275588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يراقب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" y="3858768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حالة منشأتك يوميًا: نطاقات، توثيق العقود، هويات مقيم، رخص العمل، نظام حماية الأجور.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32888" y="310896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807208" y="2331720"/>
            <a:ext cx="1965960" cy="233172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34156" y="2514600"/>
            <a:ext cx="512064" cy="512064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4" name="Text 12"/>
          <p:cNvSpPr/>
          <p:nvPr/>
        </p:nvSpPr>
        <p:spPr>
          <a:xfrm>
            <a:off x="3534156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98648" y="320040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ينبّه قبل المخالفة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0" y="3858768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بالأثر والمهلة — لا بمجرد إشعار.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91456" y="310896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065776" y="2331720"/>
            <a:ext cx="1965960" cy="233172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92724" y="2514600"/>
            <a:ext cx="512064" cy="512064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0" name="Text 18"/>
          <p:cNvSpPr/>
          <p:nvPr/>
        </p:nvSpPr>
        <p:spPr>
          <a:xfrm>
            <a:off x="5792724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57216" y="320040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يجهّز الإجراء كاملًا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84648" y="3858768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مَن، وماذا، والرسوم، والنموذج، والخطوات.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50024" y="310896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7324344" y="2331720"/>
            <a:ext cx="1965960" cy="2331720"/>
          </a:xfrm>
          <a:prstGeom prst="roundRect">
            <a:avLst>
              <a:gd name="adj" fmla="val 4186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51292" y="2514600"/>
            <a:ext cx="512064" cy="51206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8051292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15784" y="320040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تعتمد أنت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43216" y="3858768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بضغطة واحدة — القرار دائمًا بيد المالك.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308592" y="310896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9582912" y="2331720"/>
            <a:ext cx="1965960" cy="233172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309860" y="2514600"/>
            <a:ext cx="512064" cy="512064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32" name="Text 30"/>
          <p:cNvSpPr/>
          <p:nvPr/>
        </p:nvSpPr>
        <p:spPr>
          <a:xfrm>
            <a:off x="10309860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674352" y="320040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ينفّذ ويوثّق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701784" y="3858768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خطوة في سجل تدقيق: من؟ ومتى؟ وماذا؟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502920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68680" y="523036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نطلب ولا نخزّن كلمات المرور أو رموز التحقق لمرة واحدة (OTP) — التفويض بيد المالك دائمًا.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AI Compliance Agents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 · العرض التوضيحي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تنبيه واحد… من الرصد إلى الإغلاق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alert, from detection to closure: Nitaqat &amp; wage protection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709160" y="2194560"/>
            <a:ext cx="6949440" cy="4069080"/>
          </a:xfrm>
          <a:prstGeom prst="roundRect">
            <a:avLst>
              <a:gd name="adj" fmla="val 2697"/>
            </a:avLst>
          </a:prstGeom>
          <a:solidFill>
            <a:srgbClr val="E7EBE4"/>
          </a:solidFill>
          <a:ln w="12700">
            <a:solidFill>
              <a:srgbClr val="C8D0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09160" y="2194560"/>
            <a:ext cx="6949440" cy="457200"/>
          </a:xfrm>
          <a:prstGeom prst="roundRect">
            <a:avLst>
              <a:gd name="adj" fmla="val 24000"/>
            </a:avLst>
          </a:prstGeom>
          <a:solidFill>
            <a:srgbClr val="075E54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21945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وكيل الامتثال — Business Partner  ✆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2761488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D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2798064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تنبيه: باستقالة أحمد (سعودي)، بدأ متوسط نسبة التوطين لديكم — المحتسب على آخر 26 أسبوعًا — بالانخفاض. المتوقع دخولكم النطاق الأخضر المنخفض خلال 3 أسابيع — وعنده تتقلص امتيازاتكم في قوى ويتوقف إصدار التأشيرات الجديدة.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3785616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D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3822192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خياراتكم: (أ) توظيف سعودي بأجر 4,000 ريال فأكثر — يُحتسب عاملًا كاملًا وجهّزتُ 3 مرشحين · (ب) دوام جزئي بأجر ≥3,000 ريال مسجّل في التأمينات — نصف عامل · (ج) تقديم الخروج النهائي المجدول — يرفع نسبة الأسبوع فورًا فيتحسّن المتوسط تباعًا.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4809744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DCF8C6"/>
          </a:solidFill>
          <a:ln w="12700">
            <a:solidFill>
              <a:srgbClr val="C5E8A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484632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الخيار (أ) 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5330952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D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536752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تم. جهّزتُ عرض العمل والعقد لتوثيقه في قوى وأرسلتهما لاعتمادكم. أتابع المتوسط أسبوعيًا حتى عودتكم إلى النطاق الآمن — وكل خطوة مسجّلة في سجل التدقيق.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194560"/>
            <a:ext cx="3886200" cy="4069080"/>
          </a:xfrm>
          <a:prstGeom prst="roundRect">
            <a:avLst>
              <a:gd name="adj" fmla="val 21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04672" y="23957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نسبة التوطين — قبل وبعد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4672" y="3017520"/>
            <a:ext cx="3364992" cy="713232"/>
          </a:xfrm>
          <a:prstGeom prst="roundRect">
            <a:avLst>
              <a:gd name="adj" fmla="val 10256"/>
            </a:avLst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1089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بلا تدخّل: الأخضر المنخفض ثم الأحمر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" y="3931920"/>
            <a:ext cx="3364992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023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بعد المعالجة: استقرار في الأخضر المتوسط ✓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4672" y="50749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اكتشافٍ متأخر بعد المخالفة… إلى إنذارٍ مبكر قبلها بأسابيع.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AI Compliance Agents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 · لماذا الآن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 قوى تدفع السوق نحونا — الآن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forces are pushing the market toward us — now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91840" y="2514600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57860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الأنظمة تشتد عامًا بعد عام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3401568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توثيق العقود عبر قوى: 85% بنهاية أبريل ثم 90% بنهاية يونيو 2026 (معمول به اليوم)، مع توسّع قرارات التوطين ونظام حماية الأجور.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51960" y="233172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95160" y="2514600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3" name="Text 11"/>
          <p:cNvSpPr/>
          <p:nvPr/>
        </p:nvSpPr>
        <p:spPr>
          <a:xfrm>
            <a:off x="69951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07992" y="257860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المنصات جاهزة للأتمتة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07992" y="3401568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قوى ومقيم والتأمينات الاجتماعية ومدد منصاتٌ ذات بنية رقمية وواجهات برمجية (API) — وهو ما يجعل عمل الوكلاء عليها ممكنًا.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0" y="233172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698480" y="2514600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8" name="Text 16"/>
          <p:cNvSpPr/>
          <p:nvPr/>
        </p:nvSpPr>
        <p:spPr>
          <a:xfrm>
            <a:off x="106984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11312" y="257860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الساحة أمامنا مفتوحة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11312" y="3401568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 نرصد حتى تاريخه حلًّا مبنيًّا من أساسه على الوكلاء الأذكياء (مسح تنافسي — يوليو 2026)؛ الموجود مكاتب يدوية أو أدوات أحادية الغرض.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93776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5074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2468880" y="5120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توثيق العقود — معمول به اليوم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26280" y="5074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 مليون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080760" y="5120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منشأة في قوى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38160" y="5074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692640" y="5120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منافس مماثل مرصود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AI Compliance Agents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· السوق وشريحة الانطلاق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أكثر من مليوني منشأة ملزمة بالامتثال — ونبدأ بالأشد تعرضًا للخطر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million establishments must comply — we start with the most exposed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871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 مليون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926080" y="2487168"/>
            <a:ext cx="8348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منشأة مسجلة في قوى — السوق الكلي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8412480" cy="868680"/>
          </a:xfrm>
          <a:prstGeom prst="roundRect">
            <a:avLst>
              <a:gd name="adj" fmla="val 9474"/>
            </a:avLst>
          </a:prstGeom>
          <a:solidFill>
            <a:srgbClr val="0066C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387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1.68 مليون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926080" y="3538728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منشأة صغيرة ومتوسطة (الربع الأول 2025) · الرياض 39% (نحو 655 ألفًا)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6035040" cy="868680"/>
          </a:xfrm>
          <a:prstGeom prst="roundRect">
            <a:avLst>
              <a:gd name="adj" fmla="val 9474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59028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شريحة الانطلاق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926080" y="459028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منشآت 10–250 موظفًا بمزيج سعودي/وافد — الأشد تعرضًا لمخاطر نطاقات ونظام حماية الأجور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573328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قطاعات البداية: اللوجستيات والتوصيل · المطاعم والضيافة · التجزئة · المقاولات — المصادر: منصة قوى · منشآت · الهيئة العامة للإحصاء.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AI Compliance Agents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 · المشهد التنافسي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الخدمة اليدوية بطيئة، والأدوات الجاهزة محدودة — والمساحة بينهما خالية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service is slow, packaged tools are narrow — the space between is empty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743200"/>
                <a:gridCol w="2834640"/>
                <a:gridCol w="2862072"/>
              </a:tblGrid>
              <a:tr h="5669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القدرة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مكاتب الخدمات والاستشارات (عمل يدوي)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برمجيات محدودة النطاق (موارد بشرية ورواتب)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وكيل الامتثال من Business Partner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استباقي قبل المخالفة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رد فعل بعد وقوعها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إشعارات بيانات جزئية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إنذار مبكر بالأثر والمهلة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تغطية المنصات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شخص لكل منصة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منصة أو وظيفة واحدة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طبقة واحدة لكل المنصات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يجهّز الإجراء وينفّذه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يدويًا وببطء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باعتماد المالك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ينمو دون زيادة موظفين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خبرة سعودية مضمّنة في المنتج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في رؤوس الأفراد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سطحية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من ممارسة ميدانية لعشر سنوات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نكمّل أنظمة الموارد البشرية والرواتب ولا نحلّ محلَّها — ويمكن أن تصبح قناة بيع لنا لاحقًا.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AI Compliance Agents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· نموذج العمل والتسعير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اشتراك شهري بما بين عُشر وخُمس كلفة موظف امتثال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monthly subscription at one-tenth to one-fifth the cost of a hire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560320" cy="2194560"/>
          </a:xfrm>
          <a:prstGeom prst="roundRect">
            <a:avLst>
              <a:gd name="adj" fmla="val 3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4505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2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249 ريالًا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31520" y="29992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حتى 5 موظفين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40156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مراقبة وتنبيهات.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2286000"/>
            <a:ext cx="2560320" cy="2194560"/>
          </a:xfrm>
          <a:prstGeom prst="roundRect">
            <a:avLst>
              <a:gd name="adj" fmla="val 3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24505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2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599 ريالًا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474720" y="29992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6 إلى 49 موظفًا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340156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 تجهيز الإجراءات وتقرير شهري.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2286000"/>
            <a:ext cx="2560320" cy="2194560"/>
          </a:xfrm>
          <a:prstGeom prst="roundRect">
            <a:avLst>
              <a:gd name="adj" fmla="val 3750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24505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2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1,499 ريالًا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6217920" y="29992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50 إلى 249 موظفًا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340156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 متابعة التوطين متعدد المهن وأولوية التنفيذ.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961120" y="2286000"/>
            <a:ext cx="2679192" cy="2194560"/>
          </a:xfrm>
          <a:prstGeom prst="roundRect">
            <a:avLst>
              <a:gd name="adj" fmla="val 37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25712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مقابل موظف متفرغ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235440" y="4041648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10241280" y="2926080"/>
            <a:ext cx="777240" cy="1389888"/>
          </a:xfrm>
          <a:prstGeom prst="roundRect">
            <a:avLst>
              <a:gd name="adj" fmla="val 5882"/>
            </a:avLst>
          </a:prstGeom>
          <a:solidFill>
            <a:srgbClr val="CBD5E1"/>
          </a:solidFill>
          <a:ln/>
        </p:spPr>
      </p:sp>
      <p:sp>
        <p:nvSpPr>
          <p:cNvPr id="22" name="Text 20"/>
          <p:cNvSpPr/>
          <p:nvPr/>
        </p:nvSpPr>
        <p:spPr>
          <a:xfrm>
            <a:off x="9235440" y="37307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195560" y="2651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8–15K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25712" y="43708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العُشر إلى الخُمس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75488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" y="48920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رسوم تهيئة لمرة واحدة · تنفيذ مُدار للمعاملات الكبيرة · باقة مؤسسية بعلامة الشريك التجارية (White Label) لمكاتب الخدمات والمجموعات.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53492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الأسعار تجريبية — تُثبَّت بعد قياس التكلفة الفعلية لخدمة العميل في المرحلة التجريبية.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AI Compliance Agents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&amp; VALIDATION · الإنجاز وخطة الإثبات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بنينا نظامًا يعمل — وفي برنامج الاحتضان نثبت موثوقيته ميدانيًا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a working system — in the incubator we prove it in the field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45352" y="2377440"/>
            <a:ext cx="5394960" cy="3611880"/>
          </a:xfrm>
          <a:prstGeom prst="roundRect">
            <a:avLst>
              <a:gd name="adj" fmla="val 227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19672" y="2560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مبنيّ اليوم ✓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11183112" y="3136392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6519672" y="306324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وكيل مراقبة يومي قيد التشغيل يصدر تقريره في السابعة صباحًا (على نظام أتمتة سير العمل n8n) + وكيل محادثة.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1183112" y="3849624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377647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امتثال وسجل تدقيق وبوابة موافقات على منصة إدارة العمل (Notion).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1183112" y="4562856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519672" y="4489704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حاسبات آلية لنطاقات والرسوم الحكومية + مكتبة 83 مرجعًا حكوميًا رسميًا.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1183112" y="5276088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519672" y="5202936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قناة واتساب للأعمال مفعّلة + شركة خدمات قائمة تدرّ دخلًا ومعرفة.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377440"/>
            <a:ext cx="5394960" cy="3611880"/>
          </a:xfrm>
          <a:prstGeom prst="roundRect">
            <a:avLst>
              <a:gd name="adj" fmla="val 22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2560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نثبته في البرنامج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486400" y="3136392"/>
            <a:ext cx="118872" cy="118872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06324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 الانطلاق: مراقبة نطاقات ونظام حماية الأجور تعمل بموثوقية.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0" y="3849624"/>
            <a:ext cx="118872" cy="118872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77647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لدى 20–50 منشأة حقيقية خلال 90 يومًا.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0" y="4562856"/>
            <a:ext cx="118872" cy="118872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489704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المقاييس: دقة التنبيهات · الزمن من التنبيه إلى الإجراء · معدل الاحتفاظ بالعملاء.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0" y="5276088"/>
            <a:ext cx="118872" cy="118872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202936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الرغبة الفعلية في الدفع · التكلفة الفعلية لخدمة العميل الواحد.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AI Compliance Agents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371600"/>
            <a:ext cx="3474720" cy="347472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 · الطلب من البرنامج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نطلبه من منشآت — وما سنحققه به في 90 يومًا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E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ask of Monsha'at — and what we'll deliver in 90 days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42900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319272" y="24688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3319272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احتضان وإرشاد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30358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المنتج والحوكمة والأمن.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51960" y="2286000"/>
            <a:ext cx="342900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022592" y="24688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7022592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07992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20 إلى 50 منشأة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07992" y="30358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شركاء تجربة مبكرون يشاركون في تطوير المنتج.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0" y="2286000"/>
            <a:ext cx="342900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725912" y="24688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0725912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11312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مسارات التكامل الرسمية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11312" y="30358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التوجيه نحو البيئة التجريبية التنظيمية (Sandbox) والواجهات البرمجية المعتمدة لدى الجهات.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42519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E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الخطة: إطلاق نطاق الانطلاق خلال 30 يومًا ← مرحلة تجريبية موثّقة بحلول اليوم التسعين ← نموذج مالي مبنيّ على الأرقام التشغيلية الفعلية ← جولة استثمارية مبنية على أدلة لا وعود.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983480"/>
            <a:ext cx="1109167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212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«عشر سنوات ونحن نطفئ حرائق الامتثال بأيدينا — اليوم نبني الوكيل الذي يمنع اشتعالها.»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548640" y="58064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years putting out compliance fires by hand — now we're building the agent that prevents them.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 · AI Compliance Agents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34472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Business Partner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Business Partner</dc:creator>
  <cp:lastModifiedBy>Business Partner</cp:lastModifiedBy>
  <cp:revision>1</cp:revision>
  <dcterms:created xsi:type="dcterms:W3CDTF">2026-08-12T01:11:44Z</dcterms:created>
  <dcterms:modified xsi:type="dcterms:W3CDTF">2026-08-12T01:11:44Z</dcterms:modified>
</cp:coreProperties>
</file>