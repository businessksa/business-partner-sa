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sell AI — we sell an outcome: your company never gets surprised by a violation or a freeze. AI is how we deliver that at a price an SME can afford.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scare scenario — these are cases Baher fixed with his own hands for years. The platforms don't talk to each other and don't forgive. The owner usually discovers the problem only after the screen locks him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isn't whether compliance matters — everyone knows. The question is why it's still managed by scattered people and reaction. Because no alternative existed — until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 tech team learning compliance to build software — we are encoding the thing we already sell as a service today. Our edge over any competitor: we know where these workflows break, because we broke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preposition: the agent executes WITH the owner's approval, never instead of his will. We never ask for or store passwords or OTPs. Full automation comes later through official integrations — which is part of what we're asking the program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literally what Baher does manually for clients today — the agent does it for every client at the same moment, three weeks before the problem instead of three days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Regulators push the market toward us every quarter: every ratio raise or new control means more establishments needing continuous monitoring they don't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inflated SOM: year-one success is measured in dozens of paying, satisfied customers — everything scales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complement HRMS/payroll rather than replace them — and they can become a channel later. The compounding advantage: knowledge + execution workflows + a case log that grows with every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Prices are hypotheses we test in the pilot — we won't lock them before we know the true cost-to-serve per client. The fixed logic: far cheaper than the alternatives, recurring, and it grows with headcount and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success criterion in the program is narrow and measurable: one focused agent running reliably for dozens of real establishments — not twenty half-ready agents. Then we expand into the full compliance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asking for money today — we're asking for the environment that makes the evidence conclusive. If we prove the wedge in 90 days, everything after — funding, expansion, integrations — becomes a numbers conversation, not a promises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0241280" y="-1371600"/>
            <a:ext cx="3474720" cy="3474720"/>
          </a:xfrm>
          <a:prstGeom prst="ellipse">
            <a:avLst/>
          </a:prstGeom>
          <a:solidFill>
            <a:srgbClr val="1E293B"/>
          </a:solidFill>
          <a:ln/>
        </p:spPr>
      </p:sp>
      <p:sp>
        <p:nvSpPr>
          <p:cNvPr id="3" name="Text 1"/>
          <p:cNvSpPr/>
          <p:nvPr/>
        </p:nvSpPr>
        <p:spPr>
          <a:xfrm>
            <a:off x="548640" y="685800"/>
            <a:ext cx="9144000" cy="274320"/>
          </a:xfrm>
          <a:prstGeom prst="rect">
            <a:avLst/>
          </a:prstGeom>
          <a:noFill/>
          <a:ln/>
        </p:spPr>
        <p:txBody>
          <a:bodyPr wrap="square" lIns="0" tIns="0" rIns="0" bIns="0" rtlCol="0" anchor="ctr"/>
          <a:lstStyle/>
          <a:p>
            <a:pPr algn="l" indent="0" marL="0">
              <a:buNone/>
            </a:pPr>
            <a:r>
              <a:rPr lang="en-US" sz="1100" b="1" spc="300" kern="0" dirty="0">
                <a:solidFill>
                  <a:srgbClr val="10B981"/>
                </a:solidFill>
                <a:latin typeface="Arial" pitchFamily="34" charset="0"/>
                <a:ea typeface="Arial" pitchFamily="34" charset="-122"/>
                <a:cs typeface="Arial" pitchFamily="34" charset="-120"/>
              </a:rPr>
              <a:t>ITTICA APPLICATION · RIYADH 2026</a:t>
            </a:r>
            <a:endParaRPr lang="en-US" sz="1100" dirty="0"/>
          </a:p>
        </p:txBody>
      </p:sp>
      <p:sp>
        <p:nvSpPr>
          <p:cNvPr id="4" name="Text 2"/>
          <p:cNvSpPr/>
          <p:nvPr/>
        </p:nvSpPr>
        <p:spPr>
          <a:xfrm>
            <a:off x="548640" y="1691640"/>
            <a:ext cx="11091672" cy="868680"/>
          </a:xfrm>
          <a:prstGeom prst="rect">
            <a:avLst/>
          </a:prstGeom>
          <a:noFill/>
          <a:ln/>
        </p:spPr>
        <p:txBody>
          <a:bodyPr wrap="square" lIns="0" tIns="0" rIns="0" bIns="0" rtlCol="0" anchor="ctr"/>
          <a:lstStyle/>
          <a:p>
            <a:pPr rtl="1" algn="r" indent="0" marL="0">
              <a:buNone/>
            </a:pPr>
            <a:r>
              <a:rPr lang="en-US" sz="4800" b="1" dirty="0">
                <a:solidFill>
                  <a:srgbClr val="FFFFFF"/>
                </a:solidFill>
                <a:latin typeface="Arial" pitchFamily="34" charset="0"/>
                <a:ea typeface="Arial" pitchFamily="34" charset="-122"/>
                <a:cs typeface="Arial" pitchFamily="34" charset="-120"/>
              </a:rPr>
              <a:t>وكلاء الامتثال الذكية</a:t>
            </a:r>
            <a:endParaRPr lang="en-US" sz="4800" dirty="0"/>
          </a:p>
        </p:txBody>
      </p:sp>
      <p:sp>
        <p:nvSpPr>
          <p:cNvPr id="5" name="Text 3"/>
          <p:cNvSpPr/>
          <p:nvPr/>
        </p:nvSpPr>
        <p:spPr>
          <a:xfrm>
            <a:off x="548640" y="2606040"/>
            <a:ext cx="11091672" cy="457200"/>
          </a:xfrm>
          <a:prstGeom prst="rect">
            <a:avLst/>
          </a:prstGeom>
          <a:noFill/>
          <a:ln/>
        </p:spPr>
        <p:txBody>
          <a:bodyPr wrap="square" lIns="0" tIns="0" rIns="0" bIns="0" rtlCol="0" anchor="ctr"/>
          <a:lstStyle/>
          <a:p>
            <a:pPr algn="l" indent="0" marL="0">
              <a:buNone/>
            </a:pPr>
            <a:r>
              <a:rPr lang="en-US" sz="2200" b="1" dirty="0">
                <a:solidFill>
                  <a:srgbClr val="10B981"/>
                </a:solidFill>
                <a:latin typeface="Arial" pitchFamily="34" charset="0"/>
                <a:ea typeface="Arial" pitchFamily="34" charset="-122"/>
                <a:cs typeface="Arial" pitchFamily="34" charset="-120"/>
              </a:rPr>
              <a:t>AI Compliance Agents · Business Partner</a:t>
            </a:r>
            <a:endParaRPr lang="en-US" sz="2200" dirty="0"/>
          </a:p>
        </p:txBody>
      </p:sp>
      <p:sp>
        <p:nvSpPr>
          <p:cNvPr id="6" name="Text 4"/>
          <p:cNvSpPr/>
          <p:nvPr/>
        </p:nvSpPr>
        <p:spPr>
          <a:xfrm>
            <a:off x="548640" y="3383280"/>
            <a:ext cx="11091672" cy="502920"/>
          </a:xfrm>
          <a:prstGeom prst="rect">
            <a:avLst/>
          </a:prstGeom>
          <a:noFill/>
          <a:ln/>
        </p:spPr>
        <p:txBody>
          <a:bodyPr wrap="square" lIns="0" tIns="0" rIns="0" bIns="0" rtlCol="0" anchor="t"/>
          <a:lstStyle/>
          <a:p>
            <a:pPr rtl="1" algn="r" indent="0" marL="0">
              <a:lnSpc>
                <a:spcPct val="105000"/>
              </a:lnSpc>
              <a:buNone/>
            </a:pPr>
            <a:r>
              <a:rPr lang="en-US" sz="1900" dirty="0">
                <a:solidFill>
                  <a:srgbClr val="E2E8F0"/>
                </a:solidFill>
                <a:latin typeface="Arial" pitchFamily="34" charset="0"/>
                <a:ea typeface="Arial" pitchFamily="34" charset="-122"/>
                <a:cs typeface="Arial" pitchFamily="34" charset="-120"/>
              </a:rPr>
              <a:t>فريق امتثالك الحكومي… كبرمجيات. يراقب، يجهّز، وينفّذ باعتمادك — عبر واتساب.</a:t>
            </a:r>
            <a:endParaRPr lang="en-US" sz="1900" dirty="0"/>
          </a:p>
        </p:txBody>
      </p:sp>
      <p:sp>
        <p:nvSpPr>
          <p:cNvPr id="7" name="Text 5"/>
          <p:cNvSpPr/>
          <p:nvPr/>
        </p:nvSpPr>
        <p:spPr>
          <a:xfrm>
            <a:off x="548640" y="3931920"/>
            <a:ext cx="11091672" cy="365760"/>
          </a:xfrm>
          <a:prstGeom prst="rect">
            <a:avLst/>
          </a:prstGeom>
          <a:noFill/>
          <a:ln/>
        </p:spPr>
        <p:txBody>
          <a:bodyPr wrap="square" lIns="0" tIns="0" rIns="0" bIns="0" rtlCol="0" anchor="t"/>
          <a:lstStyle/>
          <a:p>
            <a:pPr algn="l" indent="0" marL="0">
              <a:buNone/>
            </a:pPr>
            <a:r>
              <a:rPr lang="en-US" sz="1300" i="1" dirty="0">
                <a:solidFill>
                  <a:srgbClr val="AEC0D6"/>
                </a:solidFill>
                <a:latin typeface="Arial" pitchFamily="34" charset="0"/>
                <a:ea typeface="Arial" pitchFamily="34" charset="-122"/>
                <a:cs typeface="Arial" pitchFamily="34" charset="-120"/>
              </a:rPr>
              <a:t>Your government-compliance team, as software — over WhatsApp.</a:t>
            </a:r>
            <a:endParaRPr lang="en-US" sz="1300" dirty="0"/>
          </a:p>
        </p:txBody>
      </p:sp>
      <p:sp>
        <p:nvSpPr>
          <p:cNvPr id="8" name="Shape 6"/>
          <p:cNvSpPr/>
          <p:nvPr/>
        </p:nvSpPr>
        <p:spPr>
          <a:xfrm>
            <a:off x="548640" y="4754880"/>
            <a:ext cx="1664208" cy="548640"/>
          </a:xfrm>
          <a:prstGeom prst="roundRect">
            <a:avLst>
              <a:gd name="adj" fmla="val 13333"/>
            </a:avLst>
          </a:prstGeom>
          <a:solidFill>
            <a:srgbClr val="1E293B"/>
          </a:solidFill>
          <a:ln w="12700">
            <a:solidFill>
              <a:srgbClr val="334155"/>
            </a:solidFill>
            <a:prstDash val="solid"/>
          </a:ln>
        </p:spPr>
      </p:sp>
      <p:sp>
        <p:nvSpPr>
          <p:cNvPr id="9" name="Text 7"/>
          <p:cNvSpPr/>
          <p:nvPr/>
        </p:nvSpPr>
        <p:spPr>
          <a:xfrm>
            <a:off x="548640" y="4754880"/>
            <a:ext cx="1664208" cy="548640"/>
          </a:xfrm>
          <a:prstGeom prst="rect">
            <a:avLst/>
          </a:prstGeom>
          <a:noFill/>
          <a:ln/>
        </p:spPr>
        <p:txBody>
          <a:bodyPr wrap="square" lIns="0" tIns="0" rIns="0" bIns="0" rtlCol="0" anchor="ctr"/>
          <a:lstStyle/>
          <a:p>
            <a:pPr rtl="1" algn="ctr" indent="0" marL="0">
              <a:buNone/>
            </a:pPr>
            <a:r>
              <a:rPr lang="en-US" sz="1400" b="1" dirty="0">
                <a:solidFill>
                  <a:srgbClr val="D5DEEA"/>
                </a:solidFill>
                <a:latin typeface="Arial" pitchFamily="34" charset="0"/>
                <a:ea typeface="Arial" pitchFamily="34" charset="-122"/>
                <a:cs typeface="Arial" pitchFamily="34" charset="-120"/>
              </a:rPr>
              <a:t>قوى</a:t>
            </a:r>
            <a:endParaRPr lang="en-US" sz="1400" dirty="0"/>
          </a:p>
        </p:txBody>
      </p:sp>
      <p:sp>
        <p:nvSpPr>
          <p:cNvPr id="10" name="Shape 8"/>
          <p:cNvSpPr/>
          <p:nvPr/>
        </p:nvSpPr>
        <p:spPr>
          <a:xfrm>
            <a:off x="2377440" y="4754880"/>
            <a:ext cx="1664208" cy="548640"/>
          </a:xfrm>
          <a:prstGeom prst="roundRect">
            <a:avLst>
              <a:gd name="adj" fmla="val 13333"/>
            </a:avLst>
          </a:prstGeom>
          <a:solidFill>
            <a:srgbClr val="1E293B"/>
          </a:solidFill>
          <a:ln w="12700">
            <a:solidFill>
              <a:srgbClr val="334155"/>
            </a:solidFill>
            <a:prstDash val="solid"/>
          </a:ln>
        </p:spPr>
      </p:sp>
      <p:sp>
        <p:nvSpPr>
          <p:cNvPr id="11" name="Text 9"/>
          <p:cNvSpPr/>
          <p:nvPr/>
        </p:nvSpPr>
        <p:spPr>
          <a:xfrm>
            <a:off x="2377440" y="4754880"/>
            <a:ext cx="1664208" cy="548640"/>
          </a:xfrm>
          <a:prstGeom prst="rect">
            <a:avLst/>
          </a:prstGeom>
          <a:noFill/>
          <a:ln/>
        </p:spPr>
        <p:txBody>
          <a:bodyPr wrap="square" lIns="0" tIns="0" rIns="0" bIns="0" rtlCol="0" anchor="ctr"/>
          <a:lstStyle/>
          <a:p>
            <a:pPr rtl="1" algn="ctr" indent="0" marL="0">
              <a:buNone/>
            </a:pPr>
            <a:r>
              <a:rPr lang="en-US" sz="1400" b="1" dirty="0">
                <a:solidFill>
                  <a:srgbClr val="D5DEEA"/>
                </a:solidFill>
                <a:latin typeface="Arial" pitchFamily="34" charset="0"/>
                <a:ea typeface="Arial" pitchFamily="34" charset="-122"/>
                <a:cs typeface="Arial" pitchFamily="34" charset="-120"/>
              </a:rPr>
              <a:t>مقيم</a:t>
            </a:r>
            <a:endParaRPr lang="en-US" sz="1400" dirty="0"/>
          </a:p>
        </p:txBody>
      </p:sp>
      <p:sp>
        <p:nvSpPr>
          <p:cNvPr id="12" name="Shape 10"/>
          <p:cNvSpPr/>
          <p:nvPr/>
        </p:nvSpPr>
        <p:spPr>
          <a:xfrm>
            <a:off x="4206240" y="4754880"/>
            <a:ext cx="1664208" cy="548640"/>
          </a:xfrm>
          <a:prstGeom prst="roundRect">
            <a:avLst>
              <a:gd name="adj" fmla="val 13333"/>
            </a:avLst>
          </a:prstGeom>
          <a:solidFill>
            <a:srgbClr val="1E293B"/>
          </a:solidFill>
          <a:ln w="12700">
            <a:solidFill>
              <a:srgbClr val="334155"/>
            </a:solidFill>
            <a:prstDash val="solid"/>
          </a:ln>
        </p:spPr>
      </p:sp>
      <p:sp>
        <p:nvSpPr>
          <p:cNvPr id="13" name="Text 11"/>
          <p:cNvSpPr/>
          <p:nvPr/>
        </p:nvSpPr>
        <p:spPr>
          <a:xfrm>
            <a:off x="4206240" y="4754880"/>
            <a:ext cx="1664208" cy="548640"/>
          </a:xfrm>
          <a:prstGeom prst="rect">
            <a:avLst/>
          </a:prstGeom>
          <a:noFill/>
          <a:ln/>
        </p:spPr>
        <p:txBody>
          <a:bodyPr wrap="square" lIns="0" tIns="0" rIns="0" bIns="0" rtlCol="0" anchor="ctr"/>
          <a:lstStyle/>
          <a:p>
            <a:pPr rtl="1" algn="ctr" indent="0" marL="0">
              <a:buNone/>
            </a:pPr>
            <a:r>
              <a:rPr lang="en-US" sz="1400" b="1" dirty="0">
                <a:solidFill>
                  <a:srgbClr val="D5DEEA"/>
                </a:solidFill>
                <a:latin typeface="Arial" pitchFamily="34" charset="0"/>
                <a:ea typeface="Arial" pitchFamily="34" charset="-122"/>
                <a:cs typeface="Arial" pitchFamily="34" charset="-120"/>
              </a:rPr>
              <a:t>التأمينات</a:t>
            </a:r>
            <a:endParaRPr lang="en-US" sz="1400" dirty="0"/>
          </a:p>
        </p:txBody>
      </p:sp>
      <p:sp>
        <p:nvSpPr>
          <p:cNvPr id="14" name="Shape 12"/>
          <p:cNvSpPr/>
          <p:nvPr/>
        </p:nvSpPr>
        <p:spPr>
          <a:xfrm>
            <a:off x="6035040" y="4754880"/>
            <a:ext cx="1664208" cy="548640"/>
          </a:xfrm>
          <a:prstGeom prst="roundRect">
            <a:avLst>
              <a:gd name="adj" fmla="val 13333"/>
            </a:avLst>
          </a:prstGeom>
          <a:solidFill>
            <a:srgbClr val="1E293B"/>
          </a:solidFill>
          <a:ln w="12700">
            <a:solidFill>
              <a:srgbClr val="334155"/>
            </a:solidFill>
            <a:prstDash val="solid"/>
          </a:ln>
        </p:spPr>
      </p:sp>
      <p:sp>
        <p:nvSpPr>
          <p:cNvPr id="15" name="Text 13"/>
          <p:cNvSpPr/>
          <p:nvPr/>
        </p:nvSpPr>
        <p:spPr>
          <a:xfrm>
            <a:off x="6035040" y="4754880"/>
            <a:ext cx="1664208" cy="548640"/>
          </a:xfrm>
          <a:prstGeom prst="rect">
            <a:avLst/>
          </a:prstGeom>
          <a:noFill/>
          <a:ln/>
        </p:spPr>
        <p:txBody>
          <a:bodyPr wrap="square" lIns="0" tIns="0" rIns="0" bIns="0" rtlCol="0" anchor="ctr"/>
          <a:lstStyle/>
          <a:p>
            <a:pPr rtl="1" algn="ctr" indent="0" marL="0">
              <a:buNone/>
            </a:pPr>
            <a:r>
              <a:rPr lang="en-US" sz="1400" b="1" dirty="0">
                <a:solidFill>
                  <a:srgbClr val="D5DEEA"/>
                </a:solidFill>
                <a:latin typeface="Arial" pitchFamily="34" charset="0"/>
                <a:ea typeface="Arial" pitchFamily="34" charset="-122"/>
                <a:cs typeface="Arial" pitchFamily="34" charset="-120"/>
              </a:rPr>
              <a:t>مدد</a:t>
            </a:r>
            <a:endParaRPr lang="en-US" sz="1400" dirty="0"/>
          </a:p>
        </p:txBody>
      </p:sp>
      <p:sp>
        <p:nvSpPr>
          <p:cNvPr id="16" name="Shape 14"/>
          <p:cNvSpPr/>
          <p:nvPr/>
        </p:nvSpPr>
        <p:spPr>
          <a:xfrm>
            <a:off x="7863840" y="4754880"/>
            <a:ext cx="1664208" cy="548640"/>
          </a:xfrm>
          <a:prstGeom prst="roundRect">
            <a:avLst>
              <a:gd name="adj" fmla="val 13333"/>
            </a:avLst>
          </a:prstGeom>
          <a:solidFill>
            <a:srgbClr val="1E293B"/>
          </a:solidFill>
          <a:ln w="12700">
            <a:solidFill>
              <a:srgbClr val="334155"/>
            </a:solidFill>
            <a:prstDash val="solid"/>
          </a:ln>
        </p:spPr>
      </p:sp>
      <p:sp>
        <p:nvSpPr>
          <p:cNvPr id="17" name="Text 15"/>
          <p:cNvSpPr/>
          <p:nvPr/>
        </p:nvSpPr>
        <p:spPr>
          <a:xfrm>
            <a:off x="7863840" y="4754880"/>
            <a:ext cx="1664208" cy="548640"/>
          </a:xfrm>
          <a:prstGeom prst="rect">
            <a:avLst/>
          </a:prstGeom>
          <a:noFill/>
          <a:ln/>
        </p:spPr>
        <p:txBody>
          <a:bodyPr wrap="square" lIns="0" tIns="0" rIns="0" bIns="0" rtlCol="0" anchor="ctr"/>
          <a:lstStyle/>
          <a:p>
            <a:pPr rtl="1" algn="ctr" indent="0" marL="0">
              <a:buNone/>
            </a:pPr>
            <a:r>
              <a:rPr lang="en-US" sz="1400" b="1" dirty="0">
                <a:solidFill>
                  <a:srgbClr val="D5DEEA"/>
                </a:solidFill>
                <a:latin typeface="Arial" pitchFamily="34" charset="0"/>
                <a:ea typeface="Arial" pitchFamily="34" charset="-122"/>
                <a:cs typeface="Arial" pitchFamily="34" charset="-120"/>
              </a:rPr>
              <a:t>أجير</a:t>
            </a:r>
            <a:endParaRPr lang="en-US" sz="1400" dirty="0"/>
          </a:p>
        </p:txBody>
      </p:sp>
      <p:sp>
        <p:nvSpPr>
          <p:cNvPr id="18" name="Shape 16"/>
          <p:cNvSpPr/>
          <p:nvPr/>
        </p:nvSpPr>
        <p:spPr>
          <a:xfrm>
            <a:off x="9692640" y="4754880"/>
            <a:ext cx="1664208" cy="548640"/>
          </a:xfrm>
          <a:prstGeom prst="roundRect">
            <a:avLst>
              <a:gd name="adj" fmla="val 13333"/>
            </a:avLst>
          </a:prstGeom>
          <a:solidFill>
            <a:srgbClr val="1E293B"/>
          </a:solidFill>
          <a:ln w="12700">
            <a:solidFill>
              <a:srgbClr val="334155"/>
            </a:solidFill>
            <a:prstDash val="solid"/>
          </a:ln>
        </p:spPr>
      </p:sp>
      <p:sp>
        <p:nvSpPr>
          <p:cNvPr id="19" name="Text 17"/>
          <p:cNvSpPr/>
          <p:nvPr/>
        </p:nvSpPr>
        <p:spPr>
          <a:xfrm>
            <a:off x="9692640" y="4754880"/>
            <a:ext cx="1664208" cy="548640"/>
          </a:xfrm>
          <a:prstGeom prst="rect">
            <a:avLst/>
          </a:prstGeom>
          <a:noFill/>
          <a:ln/>
        </p:spPr>
        <p:txBody>
          <a:bodyPr wrap="square" lIns="0" tIns="0" rIns="0" bIns="0" rtlCol="0" anchor="ctr"/>
          <a:lstStyle/>
          <a:p>
            <a:pPr rtl="1" algn="ctr" indent="0" marL="0">
              <a:buNone/>
            </a:pPr>
            <a:r>
              <a:rPr lang="en-US" sz="1400" b="1" dirty="0">
                <a:solidFill>
                  <a:srgbClr val="D5DEEA"/>
                </a:solidFill>
                <a:latin typeface="Arial" pitchFamily="34" charset="0"/>
                <a:ea typeface="Arial" pitchFamily="34" charset="-122"/>
                <a:cs typeface="Arial" pitchFamily="34" charset="-120"/>
              </a:rPr>
              <a:t>نطاقات</a:t>
            </a:r>
            <a:endParaRPr lang="en-US" sz="1400" dirty="0"/>
          </a:p>
        </p:txBody>
      </p:sp>
      <p:sp>
        <p:nvSpPr>
          <p:cNvPr id="20" name="Text 18"/>
          <p:cNvSpPr/>
          <p:nvPr/>
        </p:nvSpPr>
        <p:spPr>
          <a:xfrm>
            <a:off x="548640" y="5806440"/>
            <a:ext cx="11091672" cy="274320"/>
          </a:xfrm>
          <a:prstGeom prst="rect">
            <a:avLst/>
          </a:prstGeom>
          <a:noFill/>
          <a:ln/>
        </p:spPr>
        <p:txBody>
          <a:bodyPr wrap="square" lIns="0" tIns="0" rIns="0" bIns="0" rtlCol="0" anchor="ctr"/>
          <a:lstStyle/>
          <a:p>
            <a:pPr algn="l" indent="0" marL="0">
              <a:buNone/>
            </a:pPr>
            <a:r>
              <a:rPr lang="en-US" sz="1100" dirty="0">
                <a:solidFill>
                  <a:srgbClr val="8CA0B8"/>
                </a:solidFill>
                <a:latin typeface="Arial" pitchFamily="34" charset="0"/>
                <a:ea typeface="Arial" pitchFamily="34" charset="-122"/>
                <a:cs typeface="Arial" pitchFamily="34" charset="-120"/>
              </a:rPr>
              <a:t>Baher Magnas · businesspartner.sa · +966 53 054 0231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332720" y="-1280160"/>
            <a:ext cx="3291840" cy="3291840"/>
          </a:xfrm>
          <a:prstGeom prst="ellipse">
            <a:avLst/>
          </a:prstGeom>
          <a:solidFill>
            <a:srgbClr val="F1F5F9"/>
          </a:solidFill>
          <a:ln/>
        </p:spPr>
      </p:sp>
      <p:sp>
        <p:nvSpPr>
          <p:cNvPr id="3" name="Text 1"/>
          <p:cNvSpPr/>
          <p:nvPr/>
        </p:nvSpPr>
        <p:spPr>
          <a:xfrm>
            <a:off x="548640" y="548640"/>
            <a:ext cx="9144000" cy="274320"/>
          </a:xfrm>
          <a:prstGeom prst="rect">
            <a:avLst/>
          </a:prstGeom>
          <a:noFill/>
          <a:ln/>
        </p:spPr>
        <p:txBody>
          <a:bodyPr wrap="square" lIns="0" tIns="0" rIns="0" bIns="0" rtlCol="0" anchor="ctr"/>
          <a:lstStyle/>
          <a:p>
            <a:pPr algn="l" indent="0" marL="0">
              <a:buNone/>
            </a:pPr>
            <a:r>
              <a:rPr lang="en-US" sz="1100" b="1" spc="300" kern="0" dirty="0">
                <a:solidFill>
                  <a:srgbClr val="0066CC"/>
                </a:solidFill>
                <a:latin typeface="Arial" pitchFamily="34" charset="0"/>
                <a:ea typeface="Arial" pitchFamily="34" charset="-122"/>
                <a:cs typeface="Arial" pitchFamily="34" charset="-120"/>
              </a:rPr>
              <a:t>THE PROBLEM · المشكلة</a:t>
            </a:r>
            <a:endParaRPr lang="en-US" sz="1100" dirty="0"/>
          </a:p>
        </p:txBody>
      </p:sp>
      <p:sp>
        <p:nvSpPr>
          <p:cNvPr id="4" name="Text 2"/>
          <p:cNvSpPr/>
          <p:nvPr/>
        </p:nvSpPr>
        <p:spPr>
          <a:xfrm>
            <a:off x="548640" y="1005840"/>
            <a:ext cx="11091672" cy="777240"/>
          </a:xfrm>
          <a:prstGeom prst="rect">
            <a:avLst/>
          </a:prstGeom>
          <a:noFill/>
          <a:ln/>
        </p:spPr>
        <p:txBody>
          <a:bodyPr wrap="square" lIns="0" tIns="0" rIns="0" bIns="0" rtlCol="0" anchor="ctr"/>
          <a:lstStyle/>
          <a:p>
            <a:pPr rtl="1" algn="r" indent="0" marL="0">
              <a:buNone/>
            </a:pPr>
            <a:r>
              <a:rPr lang="en-US" sz="3000" b="1" dirty="0">
                <a:solidFill>
                  <a:srgbClr val="1E293B"/>
                </a:solidFill>
                <a:latin typeface="Arial" pitchFamily="34" charset="0"/>
                <a:ea typeface="Arial" pitchFamily="34" charset="-122"/>
                <a:cs typeface="Arial" pitchFamily="34" charset="-120"/>
              </a:rPr>
              <a:t>خطأ واحد… وتتساقط القطع</a:t>
            </a:r>
            <a:endParaRPr lang="en-US" sz="3000" dirty="0"/>
          </a:p>
        </p:txBody>
      </p:sp>
      <p:sp>
        <p:nvSpPr>
          <p:cNvPr id="5" name="Text 3"/>
          <p:cNvSpPr/>
          <p:nvPr/>
        </p:nvSpPr>
        <p:spPr>
          <a:xfrm>
            <a:off x="548640" y="1755648"/>
            <a:ext cx="11091672" cy="365760"/>
          </a:xfrm>
          <a:prstGeom prst="rect">
            <a:avLst/>
          </a:prstGeom>
          <a:noFill/>
          <a:ln/>
        </p:spPr>
        <p:txBody>
          <a:bodyPr wrap="square" lIns="0" tIns="0" rIns="0" bIns="0" rtlCol="0" anchor="ctr"/>
          <a:lstStyle/>
          <a:p>
            <a:pPr algn="l" indent="0" marL="0">
              <a:buNone/>
            </a:pPr>
            <a:r>
              <a:rPr lang="en-US" sz="1400" dirty="0">
                <a:solidFill>
                  <a:srgbClr val="64748B"/>
                </a:solidFill>
                <a:latin typeface="Arial" pitchFamily="34" charset="0"/>
                <a:ea typeface="Arial" pitchFamily="34" charset="-122"/>
                <a:cs typeface="Arial" pitchFamily="34" charset="-120"/>
              </a:rPr>
              <a:t>One slip — and the dominoes fall</a:t>
            </a:r>
            <a:endParaRPr lang="en-US" sz="1400" dirty="0"/>
          </a:p>
        </p:txBody>
      </p:sp>
      <p:sp>
        <p:nvSpPr>
          <p:cNvPr id="6" name="Shape 4"/>
          <p:cNvSpPr/>
          <p:nvPr/>
        </p:nvSpPr>
        <p:spPr>
          <a:xfrm>
            <a:off x="548640" y="2286000"/>
            <a:ext cx="3429000" cy="1554480"/>
          </a:xfrm>
          <a:prstGeom prst="roundRect">
            <a:avLst>
              <a:gd name="adj" fmla="val 5294"/>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7" name="Shape 5"/>
          <p:cNvSpPr/>
          <p:nvPr/>
        </p:nvSpPr>
        <p:spPr>
          <a:xfrm>
            <a:off x="3474720" y="2450592"/>
            <a:ext cx="347472" cy="347472"/>
          </a:xfrm>
          <a:prstGeom prst="roundRect">
            <a:avLst>
              <a:gd name="adj" fmla="val 15789"/>
            </a:avLst>
          </a:prstGeom>
          <a:solidFill>
            <a:srgbClr val="64748B"/>
          </a:solidFill>
          <a:ln/>
        </p:spPr>
      </p:sp>
      <p:sp>
        <p:nvSpPr>
          <p:cNvPr id="8" name="Text 6"/>
          <p:cNvSpPr/>
          <p:nvPr/>
        </p:nvSpPr>
        <p:spPr>
          <a:xfrm>
            <a:off x="3474720" y="245059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777240" y="2468880"/>
            <a:ext cx="2606040" cy="411480"/>
          </a:xfrm>
          <a:prstGeom prst="rect">
            <a:avLst/>
          </a:prstGeom>
          <a:noFill/>
          <a:ln/>
        </p:spPr>
        <p:txBody>
          <a:bodyPr wrap="square" lIns="0" tIns="0" rIns="0" bIns="0" rtlCol="0" anchor="t"/>
          <a:lstStyle/>
          <a:p>
            <a:pPr rtl="1" algn="r" indent="0" marL="0">
              <a:lnSpc>
                <a:spcPct val="105000"/>
              </a:lnSpc>
              <a:buNone/>
            </a:pPr>
            <a:r>
              <a:rPr lang="en-US" sz="1350" b="1" dirty="0">
                <a:solidFill>
                  <a:srgbClr val="64748B"/>
                </a:solidFill>
                <a:latin typeface="Arial" pitchFamily="34" charset="0"/>
                <a:ea typeface="Arial" pitchFamily="34" charset="-122"/>
                <a:cs typeface="Arial" pitchFamily="34" charset="-120"/>
              </a:rPr>
              <a:t>منشأة لوجستيات · 40 موظفًا</a:t>
            </a:r>
            <a:endParaRPr lang="en-US" sz="1350" dirty="0"/>
          </a:p>
        </p:txBody>
      </p:sp>
      <p:sp>
        <p:nvSpPr>
          <p:cNvPr id="10" name="Text 8"/>
          <p:cNvSpPr/>
          <p:nvPr/>
        </p:nvSpPr>
        <p:spPr>
          <a:xfrm>
            <a:off x="777240" y="2944368"/>
            <a:ext cx="3017520" cy="777240"/>
          </a:xfrm>
          <a:prstGeom prst="rect">
            <a:avLst/>
          </a:prstGeom>
          <a:noFill/>
          <a:ln/>
        </p:spPr>
        <p:txBody>
          <a:bodyPr wrap="square" lIns="0" tIns="0" rIns="0" bIns="0" rtlCol="0" anchor="t"/>
          <a:lstStyle/>
          <a:p>
            <a:pPr rtl="1" algn="r" indent="0" marL="0">
              <a:lnSpc>
                <a:spcPct val="105000"/>
              </a:lnSpc>
              <a:buNone/>
            </a:pPr>
            <a:r>
              <a:rPr lang="en-US" sz="1200" dirty="0">
                <a:solidFill>
                  <a:srgbClr val="334155"/>
                </a:solidFill>
                <a:latin typeface="Arial" pitchFamily="34" charset="0"/>
                <a:ea typeface="Arial" pitchFamily="34" charset="-122"/>
                <a:cs typeface="Arial" pitchFamily="34" charset="-120"/>
              </a:rPr>
              <a:t>يستقيل موظف سعودي واحد.</a:t>
            </a:r>
            <a:endParaRPr lang="en-US" sz="1200" dirty="0"/>
          </a:p>
        </p:txBody>
      </p:sp>
      <p:sp>
        <p:nvSpPr>
          <p:cNvPr id="11" name="Text 9"/>
          <p:cNvSpPr/>
          <p:nvPr/>
        </p:nvSpPr>
        <p:spPr>
          <a:xfrm>
            <a:off x="4005072" y="2788920"/>
            <a:ext cx="256032"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Arial" pitchFamily="34" charset="0"/>
                <a:ea typeface="Arial" pitchFamily="34" charset="-122"/>
                <a:cs typeface="Arial" pitchFamily="34" charset="-120"/>
              </a:rPr>
              <a:t>‹</a:t>
            </a:r>
            <a:endParaRPr lang="en-US" sz="2200" dirty="0"/>
          </a:p>
        </p:txBody>
      </p:sp>
      <p:sp>
        <p:nvSpPr>
          <p:cNvPr id="12" name="Shape 10"/>
          <p:cNvSpPr/>
          <p:nvPr/>
        </p:nvSpPr>
        <p:spPr>
          <a:xfrm>
            <a:off x="4251960" y="2286000"/>
            <a:ext cx="3429000" cy="1554480"/>
          </a:xfrm>
          <a:prstGeom prst="roundRect">
            <a:avLst>
              <a:gd name="adj" fmla="val 5294"/>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3" name="Shape 11"/>
          <p:cNvSpPr/>
          <p:nvPr/>
        </p:nvSpPr>
        <p:spPr>
          <a:xfrm>
            <a:off x="7178040" y="2450592"/>
            <a:ext cx="347472" cy="347472"/>
          </a:xfrm>
          <a:prstGeom prst="roundRect">
            <a:avLst>
              <a:gd name="adj" fmla="val 15789"/>
            </a:avLst>
          </a:prstGeom>
          <a:solidFill>
            <a:srgbClr val="D97706"/>
          </a:solidFill>
          <a:ln/>
        </p:spPr>
      </p:sp>
      <p:sp>
        <p:nvSpPr>
          <p:cNvPr id="14" name="Text 12"/>
          <p:cNvSpPr/>
          <p:nvPr/>
        </p:nvSpPr>
        <p:spPr>
          <a:xfrm>
            <a:off x="7178040" y="245059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p:nvPr/>
        </p:nvSpPr>
        <p:spPr>
          <a:xfrm>
            <a:off x="4480560" y="2468880"/>
            <a:ext cx="2606040" cy="411480"/>
          </a:xfrm>
          <a:prstGeom prst="rect">
            <a:avLst/>
          </a:prstGeom>
          <a:noFill/>
          <a:ln/>
        </p:spPr>
        <p:txBody>
          <a:bodyPr wrap="square" lIns="0" tIns="0" rIns="0" bIns="0" rtlCol="0" anchor="t"/>
          <a:lstStyle/>
          <a:p>
            <a:pPr rtl="1" algn="r" indent="0" marL="0">
              <a:lnSpc>
                <a:spcPct val="105000"/>
              </a:lnSpc>
              <a:buNone/>
            </a:pPr>
            <a:r>
              <a:rPr lang="en-US" sz="1350" b="1" dirty="0">
                <a:solidFill>
                  <a:srgbClr val="D97706"/>
                </a:solidFill>
                <a:latin typeface="Arial" pitchFamily="34" charset="0"/>
                <a:ea typeface="Arial" pitchFamily="34" charset="-122"/>
                <a:cs typeface="Arial" pitchFamily="34" charset="-120"/>
              </a:rPr>
              <a:t>النسبة تنزلق</a:t>
            </a:r>
            <a:endParaRPr lang="en-US" sz="1350" dirty="0"/>
          </a:p>
        </p:txBody>
      </p:sp>
      <p:sp>
        <p:nvSpPr>
          <p:cNvPr id="16" name="Text 14"/>
          <p:cNvSpPr/>
          <p:nvPr/>
        </p:nvSpPr>
        <p:spPr>
          <a:xfrm>
            <a:off x="4480560" y="2944368"/>
            <a:ext cx="3017520" cy="777240"/>
          </a:xfrm>
          <a:prstGeom prst="rect">
            <a:avLst/>
          </a:prstGeom>
          <a:noFill/>
          <a:ln/>
        </p:spPr>
        <p:txBody>
          <a:bodyPr wrap="square" lIns="0" tIns="0" rIns="0" bIns="0" rtlCol="0" anchor="t"/>
          <a:lstStyle/>
          <a:p>
            <a:pPr rtl="1" algn="r" indent="0" marL="0">
              <a:lnSpc>
                <a:spcPct val="105000"/>
              </a:lnSpc>
              <a:buNone/>
            </a:pPr>
            <a:r>
              <a:rPr lang="en-US" sz="1200" dirty="0">
                <a:solidFill>
                  <a:srgbClr val="334155"/>
                </a:solidFill>
                <a:latin typeface="Arial" pitchFamily="34" charset="0"/>
                <a:ea typeface="Arial" pitchFamily="34" charset="-122"/>
                <a:cs typeface="Arial" pitchFamily="34" charset="-120"/>
              </a:rPr>
              <a:t>المنشأة تدخل النطاق الأحمر في نطاقات.</a:t>
            </a:r>
            <a:endParaRPr lang="en-US" sz="1200" dirty="0"/>
          </a:p>
        </p:txBody>
      </p:sp>
      <p:sp>
        <p:nvSpPr>
          <p:cNvPr id="17" name="Text 15"/>
          <p:cNvSpPr/>
          <p:nvPr/>
        </p:nvSpPr>
        <p:spPr>
          <a:xfrm>
            <a:off x="7708392" y="2788920"/>
            <a:ext cx="256032"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Arial" pitchFamily="34" charset="0"/>
                <a:ea typeface="Arial" pitchFamily="34" charset="-122"/>
                <a:cs typeface="Arial" pitchFamily="34" charset="-120"/>
              </a:rPr>
              <a:t>‹</a:t>
            </a:r>
            <a:endParaRPr lang="en-US" sz="2200" dirty="0"/>
          </a:p>
        </p:txBody>
      </p:sp>
      <p:sp>
        <p:nvSpPr>
          <p:cNvPr id="18" name="Shape 16"/>
          <p:cNvSpPr/>
          <p:nvPr/>
        </p:nvSpPr>
        <p:spPr>
          <a:xfrm>
            <a:off x="7955280" y="2286000"/>
            <a:ext cx="3429000" cy="1554480"/>
          </a:xfrm>
          <a:prstGeom prst="roundRect">
            <a:avLst>
              <a:gd name="adj" fmla="val 5294"/>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9" name="Shape 17"/>
          <p:cNvSpPr/>
          <p:nvPr/>
        </p:nvSpPr>
        <p:spPr>
          <a:xfrm>
            <a:off x="10881360" y="2450592"/>
            <a:ext cx="347472" cy="347472"/>
          </a:xfrm>
          <a:prstGeom prst="roundRect">
            <a:avLst>
              <a:gd name="adj" fmla="val 15789"/>
            </a:avLst>
          </a:prstGeom>
          <a:solidFill>
            <a:srgbClr val="EA580C"/>
          </a:solidFill>
          <a:ln/>
        </p:spPr>
      </p:sp>
      <p:sp>
        <p:nvSpPr>
          <p:cNvPr id="20" name="Text 18"/>
          <p:cNvSpPr/>
          <p:nvPr/>
        </p:nvSpPr>
        <p:spPr>
          <a:xfrm>
            <a:off x="10881360" y="245059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p:nvPr/>
        </p:nvSpPr>
        <p:spPr>
          <a:xfrm>
            <a:off x="8183880" y="2468880"/>
            <a:ext cx="2606040" cy="411480"/>
          </a:xfrm>
          <a:prstGeom prst="rect">
            <a:avLst/>
          </a:prstGeom>
          <a:noFill/>
          <a:ln/>
        </p:spPr>
        <p:txBody>
          <a:bodyPr wrap="square" lIns="0" tIns="0" rIns="0" bIns="0" rtlCol="0" anchor="t"/>
          <a:lstStyle/>
          <a:p>
            <a:pPr rtl="1" algn="r" indent="0" marL="0">
              <a:lnSpc>
                <a:spcPct val="105000"/>
              </a:lnSpc>
              <a:buNone/>
            </a:pPr>
            <a:r>
              <a:rPr lang="en-US" sz="1350" b="1" dirty="0">
                <a:solidFill>
                  <a:srgbClr val="EA580C"/>
                </a:solidFill>
                <a:latin typeface="Arial" pitchFamily="34" charset="0"/>
                <a:ea typeface="Arial" pitchFamily="34" charset="-122"/>
                <a:cs typeface="Arial" pitchFamily="34" charset="-120"/>
              </a:rPr>
              <a:t>قوى تُقفل</a:t>
            </a:r>
            <a:endParaRPr lang="en-US" sz="1350" dirty="0"/>
          </a:p>
        </p:txBody>
      </p:sp>
      <p:sp>
        <p:nvSpPr>
          <p:cNvPr id="22" name="Text 20"/>
          <p:cNvSpPr/>
          <p:nvPr/>
        </p:nvSpPr>
        <p:spPr>
          <a:xfrm>
            <a:off x="8183880" y="2944368"/>
            <a:ext cx="3017520" cy="777240"/>
          </a:xfrm>
          <a:prstGeom prst="rect">
            <a:avLst/>
          </a:prstGeom>
          <a:noFill/>
          <a:ln/>
        </p:spPr>
        <p:txBody>
          <a:bodyPr wrap="square" lIns="0" tIns="0" rIns="0" bIns="0" rtlCol="0" anchor="t"/>
          <a:lstStyle/>
          <a:p>
            <a:pPr rtl="1" algn="r" indent="0" marL="0">
              <a:lnSpc>
                <a:spcPct val="105000"/>
              </a:lnSpc>
              <a:buNone/>
            </a:pPr>
            <a:r>
              <a:rPr lang="en-US" sz="1200" dirty="0">
                <a:solidFill>
                  <a:srgbClr val="334155"/>
                </a:solidFill>
                <a:latin typeface="Arial" pitchFamily="34" charset="0"/>
                <a:ea typeface="Arial" pitchFamily="34" charset="-122"/>
                <a:cs typeface="Arial" pitchFamily="34" charset="-120"/>
              </a:rPr>
              <a:t>تتجمّد رخص العمل الجديدة والتجديدات والتأشيرات.</a:t>
            </a:r>
            <a:endParaRPr lang="en-US" sz="1200" dirty="0"/>
          </a:p>
        </p:txBody>
      </p:sp>
      <p:sp>
        <p:nvSpPr>
          <p:cNvPr id="23" name="Shape 21"/>
          <p:cNvSpPr/>
          <p:nvPr/>
        </p:nvSpPr>
        <p:spPr>
          <a:xfrm>
            <a:off x="548640" y="4069080"/>
            <a:ext cx="3429000" cy="1554480"/>
          </a:xfrm>
          <a:prstGeom prst="roundRect">
            <a:avLst>
              <a:gd name="adj" fmla="val 5294"/>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24" name="Shape 22"/>
          <p:cNvSpPr/>
          <p:nvPr/>
        </p:nvSpPr>
        <p:spPr>
          <a:xfrm>
            <a:off x="3474720" y="4233672"/>
            <a:ext cx="347472" cy="347472"/>
          </a:xfrm>
          <a:prstGeom prst="roundRect">
            <a:avLst>
              <a:gd name="adj" fmla="val 15789"/>
            </a:avLst>
          </a:prstGeom>
          <a:solidFill>
            <a:srgbClr val="E11D48"/>
          </a:solidFill>
          <a:ln/>
        </p:spPr>
      </p:sp>
      <p:sp>
        <p:nvSpPr>
          <p:cNvPr id="25" name="Text 23"/>
          <p:cNvSpPr/>
          <p:nvPr/>
        </p:nvSpPr>
        <p:spPr>
          <a:xfrm>
            <a:off x="3474720" y="423367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777240" y="4251960"/>
            <a:ext cx="2606040" cy="411480"/>
          </a:xfrm>
          <a:prstGeom prst="rect">
            <a:avLst/>
          </a:prstGeom>
          <a:noFill/>
          <a:ln/>
        </p:spPr>
        <p:txBody>
          <a:bodyPr wrap="square" lIns="0" tIns="0" rIns="0" bIns="0" rtlCol="0" anchor="t"/>
          <a:lstStyle/>
          <a:p>
            <a:pPr rtl="1" algn="r" indent="0" marL="0">
              <a:lnSpc>
                <a:spcPct val="105000"/>
              </a:lnSpc>
              <a:buNone/>
            </a:pPr>
            <a:r>
              <a:rPr lang="en-US" sz="1350" b="1" dirty="0">
                <a:solidFill>
                  <a:srgbClr val="E11D48"/>
                </a:solidFill>
                <a:latin typeface="Arial" pitchFamily="34" charset="0"/>
                <a:ea typeface="Arial" pitchFamily="34" charset="-122"/>
                <a:cs typeface="Arial" pitchFamily="34" charset="-120"/>
              </a:rPr>
              <a:t>الخدمات تتعثر</a:t>
            </a:r>
            <a:endParaRPr lang="en-US" sz="1350" dirty="0"/>
          </a:p>
        </p:txBody>
      </p:sp>
      <p:sp>
        <p:nvSpPr>
          <p:cNvPr id="27" name="Text 25"/>
          <p:cNvSpPr/>
          <p:nvPr/>
        </p:nvSpPr>
        <p:spPr>
          <a:xfrm>
            <a:off x="777240" y="4727448"/>
            <a:ext cx="3017520" cy="777240"/>
          </a:xfrm>
          <a:prstGeom prst="rect">
            <a:avLst/>
          </a:prstGeom>
          <a:noFill/>
          <a:ln/>
        </p:spPr>
        <p:txBody>
          <a:bodyPr wrap="square" lIns="0" tIns="0" rIns="0" bIns="0" rtlCol="0" anchor="t"/>
          <a:lstStyle/>
          <a:p>
            <a:pPr rtl="1" algn="r" indent="0" marL="0">
              <a:lnSpc>
                <a:spcPct val="105000"/>
              </a:lnSpc>
              <a:buNone/>
            </a:pPr>
            <a:r>
              <a:rPr lang="en-US" sz="1200" dirty="0">
                <a:solidFill>
                  <a:srgbClr val="334155"/>
                </a:solidFill>
                <a:latin typeface="Arial" pitchFamily="34" charset="0"/>
                <a:ea typeface="Arial" pitchFamily="34" charset="-122"/>
                <a:cs typeface="Arial" pitchFamily="34" charset="-120"/>
              </a:rPr>
              <a:t>يتعثر تجديد السجل والخدمات الحكومية.</a:t>
            </a:r>
            <a:endParaRPr lang="en-US" sz="1200" dirty="0"/>
          </a:p>
        </p:txBody>
      </p:sp>
      <p:sp>
        <p:nvSpPr>
          <p:cNvPr id="28" name="Text 26"/>
          <p:cNvSpPr/>
          <p:nvPr/>
        </p:nvSpPr>
        <p:spPr>
          <a:xfrm>
            <a:off x="4005072" y="4572000"/>
            <a:ext cx="256032"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Arial" pitchFamily="34" charset="0"/>
                <a:ea typeface="Arial" pitchFamily="34" charset="-122"/>
                <a:cs typeface="Arial" pitchFamily="34" charset="-120"/>
              </a:rPr>
              <a:t>‹</a:t>
            </a:r>
            <a:endParaRPr lang="en-US" sz="2200" dirty="0"/>
          </a:p>
        </p:txBody>
      </p:sp>
      <p:sp>
        <p:nvSpPr>
          <p:cNvPr id="29" name="Shape 27"/>
          <p:cNvSpPr/>
          <p:nvPr/>
        </p:nvSpPr>
        <p:spPr>
          <a:xfrm>
            <a:off x="4251960" y="4069080"/>
            <a:ext cx="3429000" cy="1554480"/>
          </a:xfrm>
          <a:prstGeom prst="roundRect">
            <a:avLst>
              <a:gd name="adj" fmla="val 5294"/>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30" name="Shape 28"/>
          <p:cNvSpPr/>
          <p:nvPr/>
        </p:nvSpPr>
        <p:spPr>
          <a:xfrm>
            <a:off x="7178040" y="4233672"/>
            <a:ext cx="347472" cy="347472"/>
          </a:xfrm>
          <a:prstGeom prst="roundRect">
            <a:avLst>
              <a:gd name="adj" fmla="val 15789"/>
            </a:avLst>
          </a:prstGeom>
          <a:solidFill>
            <a:srgbClr val="DC2626"/>
          </a:solidFill>
          <a:ln/>
        </p:spPr>
      </p:sp>
      <p:sp>
        <p:nvSpPr>
          <p:cNvPr id="31" name="Text 29"/>
          <p:cNvSpPr/>
          <p:nvPr/>
        </p:nvSpPr>
        <p:spPr>
          <a:xfrm>
            <a:off x="7178040" y="423367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2" name="Text 30"/>
          <p:cNvSpPr/>
          <p:nvPr/>
        </p:nvSpPr>
        <p:spPr>
          <a:xfrm>
            <a:off x="4480560" y="4251960"/>
            <a:ext cx="2606040" cy="411480"/>
          </a:xfrm>
          <a:prstGeom prst="rect">
            <a:avLst/>
          </a:prstGeom>
          <a:noFill/>
          <a:ln/>
        </p:spPr>
        <p:txBody>
          <a:bodyPr wrap="square" lIns="0" tIns="0" rIns="0" bIns="0" rtlCol="0" anchor="t"/>
          <a:lstStyle/>
          <a:p>
            <a:pPr rtl="1" algn="r" indent="0" marL="0">
              <a:lnSpc>
                <a:spcPct val="105000"/>
              </a:lnSpc>
              <a:buNone/>
            </a:pPr>
            <a:r>
              <a:rPr lang="en-US" sz="1350" b="1" dirty="0">
                <a:solidFill>
                  <a:srgbClr val="DC2626"/>
                </a:solidFill>
                <a:latin typeface="Arial" pitchFamily="34" charset="0"/>
                <a:ea typeface="Arial" pitchFamily="34" charset="-122"/>
                <a:cs typeface="Arial" pitchFamily="34" charset="-120"/>
              </a:rPr>
              <a:t>البنك يجمّد</a:t>
            </a:r>
            <a:endParaRPr lang="en-US" sz="1350" dirty="0"/>
          </a:p>
        </p:txBody>
      </p:sp>
      <p:sp>
        <p:nvSpPr>
          <p:cNvPr id="33" name="Text 31"/>
          <p:cNvSpPr/>
          <p:nvPr/>
        </p:nvSpPr>
        <p:spPr>
          <a:xfrm>
            <a:off x="4480560" y="4727448"/>
            <a:ext cx="3017520" cy="777240"/>
          </a:xfrm>
          <a:prstGeom prst="rect">
            <a:avLst/>
          </a:prstGeom>
          <a:noFill/>
          <a:ln/>
        </p:spPr>
        <p:txBody>
          <a:bodyPr wrap="square" lIns="0" tIns="0" rIns="0" bIns="0" rtlCol="0" anchor="t"/>
          <a:lstStyle/>
          <a:p>
            <a:pPr rtl="1" algn="r" indent="0" marL="0">
              <a:lnSpc>
                <a:spcPct val="105000"/>
              </a:lnSpc>
              <a:buNone/>
            </a:pPr>
            <a:r>
              <a:rPr lang="en-US" sz="1200" dirty="0">
                <a:solidFill>
                  <a:srgbClr val="334155"/>
                </a:solidFill>
                <a:latin typeface="Arial" pitchFamily="34" charset="0"/>
                <a:ea typeface="Arial" pitchFamily="34" charset="-122"/>
                <a:cs typeface="Arial" pitchFamily="34" charset="-120"/>
              </a:rPr>
              <a:t>لا يمكن دفع الرواتب عبر مدد.</a:t>
            </a:r>
            <a:endParaRPr lang="en-US" sz="1200" dirty="0"/>
          </a:p>
        </p:txBody>
      </p:sp>
      <p:sp>
        <p:nvSpPr>
          <p:cNvPr id="34" name="Text 32"/>
          <p:cNvSpPr/>
          <p:nvPr/>
        </p:nvSpPr>
        <p:spPr>
          <a:xfrm>
            <a:off x="7708392" y="4572000"/>
            <a:ext cx="256032"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Arial" pitchFamily="34" charset="0"/>
                <a:ea typeface="Arial" pitchFamily="34" charset="-122"/>
                <a:cs typeface="Arial" pitchFamily="34" charset="-120"/>
              </a:rPr>
              <a:t>‹</a:t>
            </a:r>
            <a:endParaRPr lang="en-US" sz="2200" dirty="0"/>
          </a:p>
        </p:txBody>
      </p:sp>
      <p:sp>
        <p:nvSpPr>
          <p:cNvPr id="35" name="Shape 33"/>
          <p:cNvSpPr/>
          <p:nvPr/>
        </p:nvSpPr>
        <p:spPr>
          <a:xfrm>
            <a:off x="7955280" y="4069080"/>
            <a:ext cx="3429000" cy="1554480"/>
          </a:xfrm>
          <a:prstGeom prst="roundRect">
            <a:avLst>
              <a:gd name="adj" fmla="val 5294"/>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36" name="Shape 34"/>
          <p:cNvSpPr/>
          <p:nvPr/>
        </p:nvSpPr>
        <p:spPr>
          <a:xfrm>
            <a:off x="10881360" y="4233672"/>
            <a:ext cx="347472" cy="347472"/>
          </a:xfrm>
          <a:prstGeom prst="roundRect">
            <a:avLst>
              <a:gd name="adj" fmla="val 15789"/>
            </a:avLst>
          </a:prstGeom>
          <a:solidFill>
            <a:srgbClr val="B91C1C"/>
          </a:solidFill>
          <a:ln/>
        </p:spPr>
      </p:sp>
      <p:sp>
        <p:nvSpPr>
          <p:cNvPr id="37" name="Text 35"/>
          <p:cNvSpPr/>
          <p:nvPr/>
        </p:nvSpPr>
        <p:spPr>
          <a:xfrm>
            <a:off x="10881360" y="423367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38" name="Text 36"/>
          <p:cNvSpPr/>
          <p:nvPr/>
        </p:nvSpPr>
        <p:spPr>
          <a:xfrm>
            <a:off x="8183880" y="4251960"/>
            <a:ext cx="2606040" cy="411480"/>
          </a:xfrm>
          <a:prstGeom prst="rect">
            <a:avLst/>
          </a:prstGeom>
          <a:noFill/>
          <a:ln/>
        </p:spPr>
        <p:txBody>
          <a:bodyPr wrap="square" lIns="0" tIns="0" rIns="0" bIns="0" rtlCol="0" anchor="t"/>
          <a:lstStyle/>
          <a:p>
            <a:pPr rtl="1" algn="r" indent="0" marL="0">
              <a:lnSpc>
                <a:spcPct val="105000"/>
              </a:lnSpc>
              <a:buNone/>
            </a:pPr>
            <a:r>
              <a:rPr lang="en-US" sz="1350" b="1" dirty="0">
                <a:solidFill>
                  <a:srgbClr val="B91C1C"/>
                </a:solidFill>
                <a:latin typeface="Arial" pitchFamily="34" charset="0"/>
                <a:ea typeface="Arial" pitchFamily="34" charset="-122"/>
                <a:cs typeface="Arial" pitchFamily="34" charset="-120"/>
              </a:rPr>
              <a:t>مخالفة تولّد مخالفة</a:t>
            </a:r>
            <a:endParaRPr lang="en-US" sz="1350" dirty="0"/>
          </a:p>
        </p:txBody>
      </p:sp>
      <p:sp>
        <p:nvSpPr>
          <p:cNvPr id="39" name="Text 37"/>
          <p:cNvSpPr/>
          <p:nvPr/>
        </p:nvSpPr>
        <p:spPr>
          <a:xfrm>
            <a:off x="8183880" y="4727448"/>
            <a:ext cx="3017520" cy="777240"/>
          </a:xfrm>
          <a:prstGeom prst="rect">
            <a:avLst/>
          </a:prstGeom>
          <a:noFill/>
          <a:ln/>
        </p:spPr>
        <p:txBody>
          <a:bodyPr wrap="square" lIns="0" tIns="0" rIns="0" bIns="0" rtlCol="0" anchor="t"/>
          <a:lstStyle/>
          <a:p>
            <a:pPr rtl="1" algn="r" indent="0" marL="0">
              <a:lnSpc>
                <a:spcPct val="105000"/>
              </a:lnSpc>
              <a:buNone/>
            </a:pPr>
            <a:r>
              <a:rPr lang="en-US" sz="1200" dirty="0">
                <a:solidFill>
                  <a:srgbClr val="334155"/>
                </a:solidFill>
                <a:latin typeface="Arial" pitchFamily="34" charset="0"/>
                <a:ea typeface="Arial" pitchFamily="34" charset="-122"/>
                <a:cs typeface="Arial" pitchFamily="34" charset="-120"/>
              </a:rPr>
              <a:t>تأخّر الرواتب = مخالفة حماية أجور جديدة فوق الأولى.</a:t>
            </a:r>
            <a:endParaRPr lang="en-US" sz="1200" dirty="0"/>
          </a:p>
        </p:txBody>
      </p:sp>
      <p:sp>
        <p:nvSpPr>
          <p:cNvPr id="40" name="Text 38"/>
          <p:cNvSpPr/>
          <p:nvPr/>
        </p:nvSpPr>
        <p:spPr>
          <a:xfrm>
            <a:off x="548640" y="5897880"/>
            <a:ext cx="11091672" cy="365760"/>
          </a:xfrm>
          <a:prstGeom prst="rect">
            <a:avLst/>
          </a:prstGeom>
          <a:noFill/>
          <a:ln/>
        </p:spPr>
        <p:txBody>
          <a:bodyPr wrap="square" lIns="0" tIns="0" rIns="0" bIns="0" rtlCol="0" anchor="t"/>
          <a:lstStyle/>
          <a:p>
            <a:pPr rtl="1" algn="ctr" indent="0" marL="0">
              <a:lnSpc>
                <a:spcPct val="105000"/>
              </a:lnSpc>
              <a:buNone/>
            </a:pPr>
            <a:r>
              <a:rPr lang="en-US" sz="1300" b="1" dirty="0">
                <a:solidFill>
                  <a:srgbClr val="B91C1C"/>
                </a:solidFill>
                <a:latin typeface="Arial" pitchFamily="34" charset="0"/>
                <a:ea typeface="Arial" pitchFamily="34" charset="-122"/>
                <a:cs typeface="Arial" pitchFamily="34" charset="-120"/>
              </a:rPr>
              <a:t>المنصات لا تتحدث لبعضها — ولا تغفر النسيان.</a:t>
            </a:r>
            <a:endParaRPr lang="en-US" sz="1300" dirty="0"/>
          </a:p>
        </p:txBody>
      </p:sp>
      <p:sp>
        <p:nvSpPr>
          <p:cNvPr id="41" name="Text 39"/>
          <p:cNvSpPr/>
          <p:nvPr/>
        </p:nvSpPr>
        <p:spPr>
          <a:xfrm>
            <a:off x="548640" y="6419088"/>
            <a:ext cx="7315200" cy="274320"/>
          </a:xfrm>
          <a:prstGeom prst="rect">
            <a:avLst/>
          </a:prstGeom>
          <a:noFill/>
          <a:ln/>
        </p:spPr>
        <p:txBody>
          <a:bodyPr wrap="square" lIns="0" tIns="0" rIns="0" bIns="0" rtlCol="0" anchor="ctr"/>
          <a:lstStyle/>
          <a:p>
            <a:pPr algn="l" indent="0" marL="0">
              <a:buNone/>
            </a:pPr>
            <a:r>
              <a:rPr lang="en-US" sz="900" dirty="0">
                <a:solidFill>
                  <a:srgbClr val="64748B"/>
                </a:solidFill>
                <a:latin typeface="Arial" pitchFamily="34" charset="0"/>
                <a:ea typeface="Arial" pitchFamily="34" charset="-122"/>
                <a:cs typeface="Arial" pitchFamily="34" charset="-120"/>
              </a:rPr>
              <a:t>Business Partner · AI Compliance Agents</a:t>
            </a:r>
            <a:endParaRPr lang="en-US" sz="900" dirty="0"/>
          </a:p>
        </p:txBody>
      </p:sp>
      <p:sp>
        <p:nvSpPr>
          <p:cNvPr id="42" name="Text 40"/>
          <p:cNvSpPr/>
          <p:nvPr/>
        </p:nvSpPr>
        <p:spPr>
          <a:xfrm>
            <a:off x="10634472" y="6419088"/>
            <a:ext cx="10058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332720" y="-1280160"/>
            <a:ext cx="3291840" cy="3291840"/>
          </a:xfrm>
          <a:prstGeom prst="ellipse">
            <a:avLst/>
          </a:prstGeom>
          <a:solidFill>
            <a:srgbClr val="F1F5F9"/>
          </a:solidFill>
          <a:ln/>
        </p:spPr>
      </p:sp>
      <p:sp>
        <p:nvSpPr>
          <p:cNvPr id="3" name="Text 1"/>
          <p:cNvSpPr/>
          <p:nvPr/>
        </p:nvSpPr>
        <p:spPr>
          <a:xfrm>
            <a:off x="548640" y="548640"/>
            <a:ext cx="9144000" cy="274320"/>
          </a:xfrm>
          <a:prstGeom prst="rect">
            <a:avLst/>
          </a:prstGeom>
          <a:noFill/>
          <a:ln/>
        </p:spPr>
        <p:txBody>
          <a:bodyPr wrap="square" lIns="0" tIns="0" rIns="0" bIns="0" rtlCol="0" anchor="ctr"/>
          <a:lstStyle/>
          <a:p>
            <a:pPr algn="l" indent="0" marL="0">
              <a:buNone/>
            </a:pPr>
            <a:r>
              <a:rPr lang="en-US" sz="1100" b="1" spc="300" kern="0" dirty="0">
                <a:solidFill>
                  <a:srgbClr val="0066CC"/>
                </a:solidFill>
                <a:latin typeface="Arial" pitchFamily="34" charset="0"/>
                <a:ea typeface="Arial" pitchFamily="34" charset="-122"/>
                <a:cs typeface="Arial" pitchFamily="34" charset="-120"/>
              </a:rPr>
              <a:t>THE STAKES · لماذا لا يمكن تجاهلها</a:t>
            </a:r>
            <a:endParaRPr lang="en-US" sz="1100" dirty="0"/>
          </a:p>
        </p:txBody>
      </p:sp>
      <p:sp>
        <p:nvSpPr>
          <p:cNvPr id="4" name="Text 2"/>
          <p:cNvSpPr/>
          <p:nvPr/>
        </p:nvSpPr>
        <p:spPr>
          <a:xfrm>
            <a:off x="548640" y="1005840"/>
            <a:ext cx="11091672" cy="777240"/>
          </a:xfrm>
          <a:prstGeom prst="rect">
            <a:avLst/>
          </a:prstGeom>
          <a:noFill/>
          <a:ln/>
        </p:spPr>
        <p:txBody>
          <a:bodyPr wrap="square" lIns="0" tIns="0" rIns="0" bIns="0" rtlCol="0" anchor="ctr"/>
          <a:lstStyle/>
          <a:p>
            <a:pPr rtl="1" algn="r" indent="0" marL="0">
              <a:buNone/>
            </a:pPr>
            <a:r>
              <a:rPr lang="en-US" sz="3000" b="1" dirty="0">
                <a:solidFill>
                  <a:srgbClr val="1E293B"/>
                </a:solidFill>
                <a:latin typeface="Arial" pitchFamily="34" charset="0"/>
                <a:ea typeface="Arial" pitchFamily="34" charset="-122"/>
                <a:cs typeface="Arial" pitchFamily="34" charset="-120"/>
              </a:rPr>
              <a:t>كلفة الخطأ باهظة… ودفاعات اليوم أغلى مما تحمي</a:t>
            </a:r>
            <a:endParaRPr lang="en-US" sz="3000" dirty="0"/>
          </a:p>
        </p:txBody>
      </p:sp>
      <p:sp>
        <p:nvSpPr>
          <p:cNvPr id="5" name="Text 3"/>
          <p:cNvSpPr/>
          <p:nvPr/>
        </p:nvSpPr>
        <p:spPr>
          <a:xfrm>
            <a:off x="548640" y="1755648"/>
            <a:ext cx="11091672" cy="365760"/>
          </a:xfrm>
          <a:prstGeom prst="rect">
            <a:avLst/>
          </a:prstGeom>
          <a:noFill/>
          <a:ln/>
        </p:spPr>
        <p:txBody>
          <a:bodyPr wrap="square" lIns="0" tIns="0" rIns="0" bIns="0" rtlCol="0" anchor="ctr"/>
          <a:lstStyle/>
          <a:p>
            <a:pPr algn="l" indent="0" marL="0">
              <a:buNone/>
            </a:pPr>
            <a:r>
              <a:rPr lang="en-US" sz="1400" dirty="0">
                <a:solidFill>
                  <a:srgbClr val="64748B"/>
                </a:solidFill>
                <a:latin typeface="Arial" pitchFamily="34" charset="0"/>
                <a:ea typeface="Arial" pitchFamily="34" charset="-122"/>
                <a:cs typeface="Arial" pitchFamily="34" charset="-120"/>
              </a:rPr>
              <a:t>Getting it wrong is expensive — today's defenses don't scale</a:t>
            </a:r>
            <a:endParaRPr lang="en-US" sz="1400" dirty="0"/>
          </a:p>
        </p:txBody>
      </p:sp>
      <p:sp>
        <p:nvSpPr>
          <p:cNvPr id="6" name="Shape 4"/>
          <p:cNvSpPr/>
          <p:nvPr/>
        </p:nvSpPr>
        <p:spPr>
          <a:xfrm>
            <a:off x="548640" y="2331720"/>
            <a:ext cx="3429000" cy="2103120"/>
          </a:xfrm>
          <a:prstGeom prst="roundRect">
            <a:avLst>
              <a:gd name="adj" fmla="val 3913"/>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7" name="Text 5"/>
          <p:cNvSpPr/>
          <p:nvPr/>
        </p:nvSpPr>
        <p:spPr>
          <a:xfrm>
            <a:off x="804672" y="2560320"/>
            <a:ext cx="2926080" cy="457200"/>
          </a:xfrm>
          <a:prstGeom prst="rect">
            <a:avLst/>
          </a:prstGeom>
          <a:noFill/>
          <a:ln/>
        </p:spPr>
        <p:txBody>
          <a:bodyPr wrap="square" lIns="0" tIns="0" rIns="0" bIns="0" rtlCol="0" anchor="t"/>
          <a:lstStyle/>
          <a:p>
            <a:pPr rtl="1" algn="r" indent="0" marL="0">
              <a:lnSpc>
                <a:spcPct val="105000"/>
              </a:lnSpc>
              <a:buNone/>
            </a:pPr>
            <a:r>
              <a:rPr lang="en-US" sz="1600" b="1" dirty="0">
                <a:solidFill>
                  <a:srgbClr val="B91C1C"/>
                </a:solidFill>
                <a:latin typeface="Arial" pitchFamily="34" charset="0"/>
                <a:ea typeface="Arial" pitchFamily="34" charset="-122"/>
                <a:cs typeface="Arial" pitchFamily="34" charset="-120"/>
              </a:rPr>
              <a:t>كلفة الانزلاق</a:t>
            </a:r>
            <a:endParaRPr lang="en-US" sz="1600" dirty="0"/>
          </a:p>
        </p:txBody>
      </p:sp>
      <p:sp>
        <p:nvSpPr>
          <p:cNvPr id="8" name="Text 6"/>
          <p:cNvSpPr/>
          <p:nvPr/>
        </p:nvSpPr>
        <p:spPr>
          <a:xfrm>
            <a:off x="804672" y="3108960"/>
            <a:ext cx="2971800" cy="1188720"/>
          </a:xfrm>
          <a:prstGeom prst="rect">
            <a:avLst/>
          </a:prstGeom>
          <a:noFill/>
          <a:ln/>
        </p:spPr>
        <p:txBody>
          <a:bodyPr wrap="square" lIns="0" tIns="0" rIns="0" bIns="0" rtlCol="0" anchor="t"/>
          <a:lstStyle/>
          <a:p>
            <a:pPr rtl="1" algn="r" indent="0" marL="0">
              <a:lnSpc>
                <a:spcPct val="115000"/>
              </a:lnSpc>
              <a:buNone/>
            </a:pPr>
            <a:r>
              <a:rPr lang="en-US" sz="1250" dirty="0">
                <a:solidFill>
                  <a:srgbClr val="334155"/>
                </a:solidFill>
                <a:latin typeface="Arial" pitchFamily="34" charset="0"/>
                <a:ea typeface="Arial" pitchFamily="34" charset="-122"/>
                <a:cs typeface="Arial" pitchFamily="34" charset="-120"/>
              </a:rPr>
              <a:t>غرامات · تجميد رخص وحسابات · توقف التوظيف والتأشيرات · أثر قانوني على المنشأة والموظف.</a:t>
            </a:r>
            <a:endParaRPr lang="en-US" sz="1250" dirty="0"/>
          </a:p>
        </p:txBody>
      </p:sp>
      <p:sp>
        <p:nvSpPr>
          <p:cNvPr id="9" name="Shape 7"/>
          <p:cNvSpPr/>
          <p:nvPr/>
        </p:nvSpPr>
        <p:spPr>
          <a:xfrm>
            <a:off x="4251960" y="2331720"/>
            <a:ext cx="3429000" cy="2103120"/>
          </a:xfrm>
          <a:prstGeom prst="roundRect">
            <a:avLst>
              <a:gd name="adj" fmla="val 3913"/>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0" name="Text 8"/>
          <p:cNvSpPr/>
          <p:nvPr/>
        </p:nvSpPr>
        <p:spPr>
          <a:xfrm>
            <a:off x="4507992" y="2560320"/>
            <a:ext cx="2926080" cy="457200"/>
          </a:xfrm>
          <a:prstGeom prst="rect">
            <a:avLst/>
          </a:prstGeom>
          <a:noFill/>
          <a:ln/>
        </p:spPr>
        <p:txBody>
          <a:bodyPr wrap="square" lIns="0" tIns="0" rIns="0" bIns="0" rtlCol="0" anchor="t"/>
          <a:lstStyle/>
          <a:p>
            <a:pPr rtl="1" algn="r" indent="0" marL="0">
              <a:lnSpc>
                <a:spcPct val="105000"/>
              </a:lnSpc>
              <a:buNone/>
            </a:pPr>
            <a:r>
              <a:rPr lang="en-US" sz="1600" b="1" dirty="0">
                <a:solidFill>
                  <a:srgbClr val="D97706"/>
                </a:solidFill>
                <a:latin typeface="Arial" pitchFamily="34" charset="0"/>
                <a:ea typeface="Arial" pitchFamily="34" charset="-122"/>
                <a:cs typeface="Arial" pitchFamily="34" charset="-120"/>
              </a:rPr>
              <a:t>موظف امتثال متفرغ</a:t>
            </a:r>
            <a:endParaRPr lang="en-US" sz="1600" dirty="0"/>
          </a:p>
        </p:txBody>
      </p:sp>
      <p:sp>
        <p:nvSpPr>
          <p:cNvPr id="11" name="Text 9"/>
          <p:cNvSpPr/>
          <p:nvPr/>
        </p:nvSpPr>
        <p:spPr>
          <a:xfrm>
            <a:off x="4507992" y="3108960"/>
            <a:ext cx="2971800" cy="1188720"/>
          </a:xfrm>
          <a:prstGeom prst="rect">
            <a:avLst/>
          </a:prstGeom>
          <a:noFill/>
          <a:ln/>
        </p:spPr>
        <p:txBody>
          <a:bodyPr wrap="square" lIns="0" tIns="0" rIns="0" bIns="0" rtlCol="0" anchor="t"/>
          <a:lstStyle/>
          <a:p>
            <a:pPr rtl="1" algn="r" indent="0" marL="0">
              <a:lnSpc>
                <a:spcPct val="115000"/>
              </a:lnSpc>
              <a:buNone/>
            </a:pPr>
            <a:r>
              <a:rPr lang="en-US" sz="1250" dirty="0">
                <a:solidFill>
                  <a:srgbClr val="334155"/>
                </a:solidFill>
                <a:latin typeface="Arial" pitchFamily="34" charset="0"/>
                <a:ea typeface="Arial" pitchFamily="34" charset="-122"/>
                <a:cs typeface="Arial" pitchFamily="34" charset="-120"/>
              </a:rPr>
              <a:t>~8–15 ألف ﷼/شهر محمّلة (افتراض معلن) · يغطي دوامًا لا ساعة الحدث · معرفته تغادر معه.</a:t>
            </a:r>
            <a:endParaRPr lang="en-US" sz="1250" dirty="0"/>
          </a:p>
        </p:txBody>
      </p:sp>
      <p:sp>
        <p:nvSpPr>
          <p:cNvPr id="12" name="Shape 10"/>
          <p:cNvSpPr/>
          <p:nvPr/>
        </p:nvSpPr>
        <p:spPr>
          <a:xfrm>
            <a:off x="7955280" y="2331720"/>
            <a:ext cx="3429000" cy="2103120"/>
          </a:xfrm>
          <a:prstGeom prst="roundRect">
            <a:avLst>
              <a:gd name="adj" fmla="val 3913"/>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3" name="Text 11"/>
          <p:cNvSpPr/>
          <p:nvPr/>
        </p:nvSpPr>
        <p:spPr>
          <a:xfrm>
            <a:off x="8211312" y="2560320"/>
            <a:ext cx="2926080" cy="457200"/>
          </a:xfrm>
          <a:prstGeom prst="rect">
            <a:avLst/>
          </a:prstGeom>
          <a:noFill/>
          <a:ln/>
        </p:spPr>
        <p:txBody>
          <a:bodyPr wrap="square" lIns="0" tIns="0" rIns="0" bIns="0" rtlCol="0" anchor="t"/>
          <a:lstStyle/>
          <a:p>
            <a:pPr rtl="1" algn="r" indent="0" marL="0">
              <a:lnSpc>
                <a:spcPct val="105000"/>
              </a:lnSpc>
              <a:buNone/>
            </a:pPr>
            <a:r>
              <a:rPr lang="en-US" sz="1600" b="1" dirty="0">
                <a:solidFill>
                  <a:srgbClr val="334155"/>
                </a:solidFill>
                <a:latin typeface="Arial" pitchFamily="34" charset="0"/>
                <a:ea typeface="Arial" pitchFamily="34" charset="-122"/>
                <a:cs typeface="Arial" pitchFamily="34" charset="-120"/>
              </a:rPr>
              <a:t>مستشار / محامٍ</a:t>
            </a:r>
            <a:endParaRPr lang="en-US" sz="1600" dirty="0"/>
          </a:p>
        </p:txBody>
      </p:sp>
      <p:sp>
        <p:nvSpPr>
          <p:cNvPr id="14" name="Text 12"/>
          <p:cNvSpPr/>
          <p:nvPr/>
        </p:nvSpPr>
        <p:spPr>
          <a:xfrm>
            <a:off x="8211312" y="3108960"/>
            <a:ext cx="2971800" cy="1188720"/>
          </a:xfrm>
          <a:prstGeom prst="rect">
            <a:avLst/>
          </a:prstGeom>
          <a:noFill/>
          <a:ln/>
        </p:spPr>
        <p:txBody>
          <a:bodyPr wrap="square" lIns="0" tIns="0" rIns="0" bIns="0" rtlCol="0" anchor="t"/>
          <a:lstStyle/>
          <a:p>
            <a:pPr rtl="1" algn="r" indent="0" marL="0">
              <a:lnSpc>
                <a:spcPct val="115000"/>
              </a:lnSpc>
              <a:buNone/>
            </a:pPr>
            <a:r>
              <a:rPr lang="en-US" sz="1250" dirty="0">
                <a:solidFill>
                  <a:srgbClr val="334155"/>
                </a:solidFill>
                <a:latin typeface="Arial" pitchFamily="34" charset="0"/>
                <a:ea typeface="Arial" pitchFamily="34" charset="-122"/>
                <a:cs typeface="Arial" pitchFamily="34" charset="-120"/>
              </a:rPr>
              <a:t>أتعاب لكل حادثة · يُستدعى بعد وقوع المشكلة · لا متابعة مستمرة.</a:t>
            </a:r>
            <a:endParaRPr lang="en-US" sz="1250" dirty="0"/>
          </a:p>
        </p:txBody>
      </p:sp>
      <p:sp>
        <p:nvSpPr>
          <p:cNvPr id="15" name="Shape 13"/>
          <p:cNvSpPr/>
          <p:nvPr/>
        </p:nvSpPr>
        <p:spPr>
          <a:xfrm>
            <a:off x="548640" y="4709160"/>
            <a:ext cx="11091672" cy="1005840"/>
          </a:xfrm>
          <a:prstGeom prst="roundRect">
            <a:avLst>
              <a:gd name="adj" fmla="val 8182"/>
            </a:avLst>
          </a:prstGeom>
          <a:solidFill>
            <a:srgbClr val="ECFDF5"/>
          </a:solidFill>
          <a:ln w="12700">
            <a:solidFill>
              <a:srgbClr val="A7F3D0"/>
            </a:solidFill>
            <a:prstDash val="solid"/>
          </a:ln>
          <a:effectLst>
            <a:outerShdw sx="100000" sy="100000" kx="0" ky="0" algn="bl" rotWithShape="0" blurRad="76200" dist="25400" dir="5400000">
              <a:srgbClr val="94A3B8">
                <a:alpha val="25000"/>
              </a:srgbClr>
            </a:outerShdw>
          </a:effectLst>
        </p:spPr>
      </p:sp>
      <p:sp>
        <p:nvSpPr>
          <p:cNvPr id="16" name="Text 14"/>
          <p:cNvSpPr/>
          <p:nvPr/>
        </p:nvSpPr>
        <p:spPr>
          <a:xfrm>
            <a:off x="868680" y="4956048"/>
            <a:ext cx="10424160" cy="548640"/>
          </a:xfrm>
          <a:prstGeom prst="rect">
            <a:avLst/>
          </a:prstGeom>
          <a:noFill/>
          <a:ln/>
        </p:spPr>
        <p:txBody>
          <a:bodyPr wrap="square" lIns="0" tIns="0" rIns="0" bIns="0" rtlCol="0" anchor="ctr"/>
          <a:lstStyle/>
          <a:p>
            <a:pPr rtl="1" algn="r" indent="0" marL="0">
              <a:lnSpc>
                <a:spcPct val="105000"/>
              </a:lnSpc>
              <a:buNone/>
            </a:pPr>
            <a:r>
              <a:rPr lang="en-US" sz="1500" b="1" dirty="0">
                <a:solidFill>
                  <a:srgbClr val="065F46"/>
                </a:solidFill>
                <a:latin typeface="Arial" pitchFamily="34" charset="0"/>
                <a:ea typeface="Arial" pitchFamily="34" charset="-122"/>
                <a:cs typeface="Arial" pitchFamily="34" charset="-120"/>
              </a:rPr>
              <a:t>الفجوة: لا يوجد خيار مستمر، استباقي، وبسعرٍ يناسب المنشآت الصغيرة والمتوسطة — حتى الآن.</a:t>
            </a:r>
            <a:endParaRPr lang="en-US" sz="1500" dirty="0"/>
          </a:p>
        </p:txBody>
      </p:sp>
      <p:sp>
        <p:nvSpPr>
          <p:cNvPr id="17" name="Text 15"/>
          <p:cNvSpPr/>
          <p:nvPr/>
        </p:nvSpPr>
        <p:spPr>
          <a:xfrm>
            <a:off x="548640" y="6419088"/>
            <a:ext cx="7315200" cy="274320"/>
          </a:xfrm>
          <a:prstGeom prst="rect">
            <a:avLst/>
          </a:prstGeom>
          <a:noFill/>
          <a:ln/>
        </p:spPr>
        <p:txBody>
          <a:bodyPr wrap="square" lIns="0" tIns="0" rIns="0" bIns="0" rtlCol="0" anchor="ctr"/>
          <a:lstStyle/>
          <a:p>
            <a:pPr algn="l" indent="0" marL="0">
              <a:buNone/>
            </a:pPr>
            <a:r>
              <a:rPr lang="en-US" sz="900" dirty="0">
                <a:solidFill>
                  <a:srgbClr val="64748B"/>
                </a:solidFill>
                <a:latin typeface="Arial" pitchFamily="34" charset="0"/>
                <a:ea typeface="Arial" pitchFamily="34" charset="-122"/>
                <a:cs typeface="Arial" pitchFamily="34" charset="-120"/>
              </a:rPr>
              <a:t>Business Partner · AI Compliance Agents</a:t>
            </a:r>
            <a:endParaRPr lang="en-US" sz="900" dirty="0"/>
          </a:p>
        </p:txBody>
      </p:sp>
      <p:sp>
        <p:nvSpPr>
          <p:cNvPr id="18" name="Text 16"/>
          <p:cNvSpPr/>
          <p:nvPr/>
        </p:nvSpPr>
        <p:spPr>
          <a:xfrm>
            <a:off x="10634472" y="6419088"/>
            <a:ext cx="10058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0241280" y="-1371600"/>
            <a:ext cx="3474720" cy="3474720"/>
          </a:xfrm>
          <a:prstGeom prst="ellipse">
            <a:avLst/>
          </a:prstGeom>
          <a:solidFill>
            <a:srgbClr val="1E293B"/>
          </a:solidFill>
          <a:ln/>
        </p:spPr>
      </p:sp>
      <p:sp>
        <p:nvSpPr>
          <p:cNvPr id="3" name="Text 1"/>
          <p:cNvSpPr/>
          <p:nvPr/>
        </p:nvSpPr>
        <p:spPr>
          <a:xfrm>
            <a:off x="548640" y="548640"/>
            <a:ext cx="9144000" cy="274320"/>
          </a:xfrm>
          <a:prstGeom prst="rect">
            <a:avLst/>
          </a:prstGeom>
          <a:noFill/>
          <a:ln/>
        </p:spPr>
        <p:txBody>
          <a:bodyPr wrap="square" lIns="0" tIns="0" rIns="0" bIns="0" rtlCol="0" anchor="ctr"/>
          <a:lstStyle/>
          <a:p>
            <a:pPr algn="l" indent="0" marL="0">
              <a:buNone/>
            </a:pPr>
            <a:r>
              <a:rPr lang="en-US" sz="1100" b="1" spc="300" kern="0" dirty="0">
                <a:solidFill>
                  <a:srgbClr val="10B981"/>
                </a:solidFill>
                <a:latin typeface="Arial" pitchFamily="34" charset="0"/>
                <a:ea typeface="Arial" pitchFamily="34" charset="-122"/>
                <a:cs typeface="Arial" pitchFamily="34" charset="-120"/>
              </a:rPr>
              <a:t>FOUNDING STORY · الميزة غير العادلة</a:t>
            </a:r>
            <a:endParaRPr lang="en-US" sz="1100" dirty="0"/>
          </a:p>
        </p:txBody>
      </p:sp>
      <p:sp>
        <p:nvSpPr>
          <p:cNvPr id="4" name="Text 2"/>
          <p:cNvSpPr/>
          <p:nvPr/>
        </p:nvSpPr>
        <p:spPr>
          <a:xfrm>
            <a:off x="548640" y="1005840"/>
            <a:ext cx="11091672" cy="777240"/>
          </a:xfrm>
          <a:prstGeom prst="rect">
            <a:avLst/>
          </a:prstGeom>
          <a:noFill/>
          <a:ln/>
        </p:spPr>
        <p:txBody>
          <a:bodyPr wrap="square" lIns="0" tIns="0" rIns="0" bIns="0" rtlCol="0" anchor="ctr"/>
          <a:lstStyle/>
          <a:p>
            <a:pPr rtl="1" algn="r" indent="0" marL="0">
              <a:buNone/>
            </a:pPr>
            <a:r>
              <a:rPr lang="en-US" sz="3000" b="1" dirty="0">
                <a:solidFill>
                  <a:srgbClr val="FFFFFF"/>
                </a:solidFill>
                <a:latin typeface="Arial" pitchFamily="34" charset="0"/>
                <a:ea typeface="Arial" pitchFamily="34" charset="-122"/>
                <a:cs typeface="Arial" pitchFamily="34" charset="-120"/>
              </a:rPr>
              <a:t>عشنا المشكلة قبل أن نبني الحل</a:t>
            </a:r>
            <a:endParaRPr lang="en-US" sz="3000" dirty="0"/>
          </a:p>
        </p:txBody>
      </p:sp>
      <p:sp>
        <p:nvSpPr>
          <p:cNvPr id="5" name="Text 3"/>
          <p:cNvSpPr/>
          <p:nvPr/>
        </p:nvSpPr>
        <p:spPr>
          <a:xfrm>
            <a:off x="548640" y="1755648"/>
            <a:ext cx="11091672" cy="365760"/>
          </a:xfrm>
          <a:prstGeom prst="rect">
            <a:avLst/>
          </a:prstGeom>
          <a:noFill/>
          <a:ln/>
        </p:spPr>
        <p:txBody>
          <a:bodyPr wrap="square" lIns="0" tIns="0" rIns="0" bIns="0" rtlCol="0" anchor="ctr"/>
          <a:lstStyle/>
          <a:p>
            <a:pPr algn="l" indent="0" marL="0">
              <a:buNone/>
            </a:pPr>
            <a:r>
              <a:rPr lang="en-US" sz="1400" dirty="0">
                <a:solidFill>
                  <a:srgbClr val="AEC0D6"/>
                </a:solidFill>
                <a:latin typeface="Arial" pitchFamily="34" charset="0"/>
                <a:ea typeface="Arial" pitchFamily="34" charset="-122"/>
                <a:cs typeface="Arial" pitchFamily="34" charset="-120"/>
              </a:rPr>
              <a:t>We lived this problem before we built the product</a:t>
            </a:r>
            <a:endParaRPr lang="en-US" sz="1400" dirty="0"/>
          </a:p>
        </p:txBody>
      </p:sp>
      <p:sp>
        <p:nvSpPr>
          <p:cNvPr id="6" name="Shape 4"/>
          <p:cNvSpPr/>
          <p:nvPr/>
        </p:nvSpPr>
        <p:spPr>
          <a:xfrm>
            <a:off x="548640" y="2331720"/>
            <a:ext cx="2606040" cy="1737360"/>
          </a:xfrm>
          <a:prstGeom prst="roundRect">
            <a:avLst>
              <a:gd name="adj" fmla="val 4737"/>
            </a:avLst>
          </a:prstGeom>
          <a:solidFill>
            <a:srgbClr val="1E293B"/>
          </a:solidFill>
          <a:ln w="12700">
            <a:solidFill>
              <a:srgbClr val="334155"/>
            </a:solidFill>
            <a:prstDash val="solid"/>
          </a:ln>
          <a:effectLst>
            <a:outerShdw sx="100000" sy="100000" kx="0" ky="0" algn="bl" rotWithShape="0" blurRad="76200" dist="25400" dir="5400000">
              <a:srgbClr val="94A3B8">
                <a:alpha val="25000"/>
              </a:srgbClr>
            </a:outerShdw>
          </a:effectLst>
        </p:spPr>
      </p:sp>
      <p:sp>
        <p:nvSpPr>
          <p:cNvPr id="7" name="Shape 5"/>
          <p:cNvSpPr/>
          <p:nvPr/>
        </p:nvSpPr>
        <p:spPr>
          <a:xfrm>
            <a:off x="2514600" y="2514600"/>
            <a:ext cx="457200" cy="457200"/>
          </a:xfrm>
          <a:prstGeom prst="ellipse">
            <a:avLst/>
          </a:prstGeom>
          <a:solidFill>
            <a:srgbClr val="10B981"/>
          </a:solidFill>
          <a:ln/>
        </p:spPr>
      </p:sp>
      <p:sp>
        <p:nvSpPr>
          <p:cNvPr id="8" name="Text 6"/>
          <p:cNvSpPr/>
          <p:nvPr/>
        </p:nvSpPr>
        <p:spPr>
          <a:xfrm>
            <a:off x="2514600" y="2514600"/>
            <a:ext cx="457200" cy="457200"/>
          </a:xfrm>
          <a:prstGeom prst="rect">
            <a:avLst/>
          </a:prstGeom>
          <a:noFill/>
          <a:ln/>
        </p:spPr>
        <p:txBody>
          <a:bodyPr wrap="square" lIns="0" tIns="0" rIns="0" bIns="0" rtlCol="0" anchor="ctr"/>
          <a:lstStyle/>
          <a:p>
            <a:pPr algn="ctr" indent="0" marL="0">
              <a:buNone/>
            </a:pPr>
            <a:r>
              <a:rPr lang="en-US" sz="1500" b="1" dirty="0">
                <a:solidFill>
                  <a:srgbClr val="06231A"/>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749808" y="2542032"/>
            <a:ext cx="1691640" cy="685800"/>
          </a:xfrm>
          <a:prstGeom prst="rect">
            <a:avLst/>
          </a:prstGeom>
          <a:noFill/>
          <a:ln/>
        </p:spPr>
        <p:txBody>
          <a:bodyPr wrap="square" lIns="0" tIns="0" rIns="0" bIns="0" rtlCol="0" anchor="t"/>
          <a:lstStyle/>
          <a:p>
            <a:pPr rtl="1" algn="r" indent="0" marL="0">
              <a:lnSpc>
                <a:spcPct val="100000"/>
              </a:lnSpc>
              <a:buNone/>
            </a:pPr>
            <a:r>
              <a:rPr lang="en-US" sz="1350" b="1" dirty="0">
                <a:solidFill>
                  <a:srgbClr val="FFFFFF"/>
                </a:solidFill>
                <a:latin typeface="Arial" pitchFamily="34" charset="0"/>
                <a:ea typeface="Arial" pitchFamily="34" charset="-122"/>
                <a:cs typeface="Arial" pitchFamily="34" charset="-120"/>
              </a:rPr>
              <a:t>أعمال العائلة</a:t>
            </a:r>
            <a:endParaRPr lang="en-US" sz="1350" dirty="0"/>
          </a:p>
        </p:txBody>
      </p:sp>
      <p:sp>
        <p:nvSpPr>
          <p:cNvPr id="10" name="Text 8"/>
          <p:cNvSpPr/>
          <p:nvPr/>
        </p:nvSpPr>
        <p:spPr>
          <a:xfrm>
            <a:off x="749808" y="3246120"/>
            <a:ext cx="2194560" cy="777240"/>
          </a:xfrm>
          <a:prstGeom prst="rect">
            <a:avLst/>
          </a:prstGeom>
          <a:noFill/>
          <a:ln/>
        </p:spPr>
        <p:txBody>
          <a:bodyPr wrap="square" lIns="0" tIns="0" rIns="0" bIns="0" rtlCol="0" anchor="t"/>
          <a:lstStyle/>
          <a:p>
            <a:pPr rtl="1" algn="r" indent="0" marL="0">
              <a:lnSpc>
                <a:spcPct val="110000"/>
              </a:lnSpc>
              <a:buNone/>
            </a:pPr>
            <a:r>
              <a:rPr lang="en-US" sz="1150" dirty="0">
                <a:solidFill>
                  <a:srgbClr val="D5DEEA"/>
                </a:solidFill>
                <a:latin typeface="Arial" pitchFamily="34" charset="0"/>
                <a:ea typeface="Arial" pitchFamily="34" charset="-122"/>
                <a:cs typeface="Arial" pitchFamily="34" charset="-120"/>
              </a:rPr>
              <a:t>علاقات حكومية لسنوات — كل منصة، وكل نمط فشل.</a:t>
            </a:r>
            <a:endParaRPr lang="en-US" sz="1150" dirty="0"/>
          </a:p>
        </p:txBody>
      </p:sp>
      <p:sp>
        <p:nvSpPr>
          <p:cNvPr id="11" name="Text 9"/>
          <p:cNvSpPr/>
          <p:nvPr/>
        </p:nvSpPr>
        <p:spPr>
          <a:xfrm>
            <a:off x="3172968" y="2880360"/>
            <a:ext cx="182880" cy="548640"/>
          </a:xfrm>
          <a:prstGeom prst="rect">
            <a:avLst/>
          </a:prstGeom>
          <a:noFill/>
          <a:ln/>
        </p:spPr>
        <p:txBody>
          <a:bodyPr wrap="square" lIns="0" tIns="0" rIns="0" bIns="0" rtlCol="0" anchor="ctr"/>
          <a:lstStyle/>
          <a:p>
            <a:pPr algn="ctr" indent="0" marL="0">
              <a:buNone/>
            </a:pPr>
            <a:r>
              <a:rPr lang="en-US" sz="2000" b="1" dirty="0">
                <a:solidFill>
                  <a:srgbClr val="64748B"/>
                </a:solidFill>
                <a:latin typeface="Arial" pitchFamily="34" charset="0"/>
                <a:ea typeface="Arial" pitchFamily="34" charset="-122"/>
                <a:cs typeface="Arial" pitchFamily="34" charset="-120"/>
              </a:rPr>
              <a:t>‹</a:t>
            </a:r>
            <a:endParaRPr lang="en-US" sz="2000" dirty="0"/>
          </a:p>
        </p:txBody>
      </p:sp>
      <p:sp>
        <p:nvSpPr>
          <p:cNvPr id="12" name="Shape 10"/>
          <p:cNvSpPr/>
          <p:nvPr/>
        </p:nvSpPr>
        <p:spPr>
          <a:xfrm>
            <a:off x="3337560" y="2331720"/>
            <a:ext cx="2606040" cy="1737360"/>
          </a:xfrm>
          <a:prstGeom prst="roundRect">
            <a:avLst>
              <a:gd name="adj" fmla="val 4737"/>
            </a:avLst>
          </a:prstGeom>
          <a:solidFill>
            <a:srgbClr val="1E293B"/>
          </a:solidFill>
          <a:ln w="12700">
            <a:solidFill>
              <a:srgbClr val="334155"/>
            </a:solidFill>
            <a:prstDash val="solid"/>
          </a:ln>
          <a:effectLst>
            <a:outerShdw sx="100000" sy="100000" kx="0" ky="0" algn="bl" rotWithShape="0" blurRad="76200" dist="25400" dir="5400000">
              <a:srgbClr val="94A3B8">
                <a:alpha val="25000"/>
              </a:srgbClr>
            </a:outerShdw>
          </a:effectLst>
        </p:spPr>
      </p:sp>
      <p:sp>
        <p:nvSpPr>
          <p:cNvPr id="13" name="Shape 11"/>
          <p:cNvSpPr/>
          <p:nvPr/>
        </p:nvSpPr>
        <p:spPr>
          <a:xfrm>
            <a:off x="5303520" y="2514600"/>
            <a:ext cx="457200" cy="457200"/>
          </a:xfrm>
          <a:prstGeom prst="ellipse">
            <a:avLst/>
          </a:prstGeom>
          <a:solidFill>
            <a:srgbClr val="10B981"/>
          </a:solidFill>
          <a:ln/>
        </p:spPr>
      </p:sp>
      <p:sp>
        <p:nvSpPr>
          <p:cNvPr id="14" name="Text 12"/>
          <p:cNvSpPr/>
          <p:nvPr/>
        </p:nvSpPr>
        <p:spPr>
          <a:xfrm>
            <a:off x="5303520" y="2514600"/>
            <a:ext cx="457200" cy="457200"/>
          </a:xfrm>
          <a:prstGeom prst="rect">
            <a:avLst/>
          </a:prstGeom>
          <a:noFill/>
          <a:ln/>
        </p:spPr>
        <p:txBody>
          <a:bodyPr wrap="square" lIns="0" tIns="0" rIns="0" bIns="0" rtlCol="0" anchor="ctr"/>
          <a:lstStyle/>
          <a:p>
            <a:pPr algn="ctr" indent="0" marL="0">
              <a:buNone/>
            </a:pPr>
            <a:r>
              <a:rPr lang="en-US" sz="1500" b="1" dirty="0">
                <a:solidFill>
                  <a:srgbClr val="06231A"/>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3538728" y="2542032"/>
            <a:ext cx="1691640" cy="685800"/>
          </a:xfrm>
          <a:prstGeom prst="rect">
            <a:avLst/>
          </a:prstGeom>
          <a:noFill/>
          <a:ln/>
        </p:spPr>
        <p:txBody>
          <a:bodyPr wrap="square" lIns="0" tIns="0" rIns="0" bIns="0" rtlCol="0" anchor="t"/>
          <a:lstStyle/>
          <a:p>
            <a:pPr rtl="1" algn="r" indent="0" marL="0">
              <a:lnSpc>
                <a:spcPct val="100000"/>
              </a:lnSpc>
              <a:buNone/>
            </a:pPr>
            <a:r>
              <a:rPr lang="en-US" sz="1350" b="1" dirty="0">
                <a:solidFill>
                  <a:srgbClr val="FFFFFF"/>
                </a:solidFill>
                <a:latin typeface="Arial" pitchFamily="34" charset="0"/>
                <a:ea typeface="Arial" pitchFamily="34" charset="-122"/>
                <a:cs typeface="Arial" pitchFamily="34" charset="-120"/>
              </a:rPr>
              <a:t>مشاريعه الخاصة</a:t>
            </a:r>
            <a:endParaRPr lang="en-US" sz="1350" dirty="0"/>
          </a:p>
        </p:txBody>
      </p:sp>
      <p:sp>
        <p:nvSpPr>
          <p:cNvPr id="16" name="Text 14"/>
          <p:cNvSpPr/>
          <p:nvPr/>
        </p:nvSpPr>
        <p:spPr>
          <a:xfrm>
            <a:off x="3538728" y="3246120"/>
            <a:ext cx="2194560" cy="777240"/>
          </a:xfrm>
          <a:prstGeom prst="rect">
            <a:avLst/>
          </a:prstGeom>
          <a:noFill/>
          <a:ln/>
        </p:spPr>
        <p:txBody>
          <a:bodyPr wrap="square" lIns="0" tIns="0" rIns="0" bIns="0" rtlCol="0" anchor="t"/>
          <a:lstStyle/>
          <a:p>
            <a:pPr rtl="1" algn="r" indent="0" marL="0">
              <a:lnSpc>
                <a:spcPct val="110000"/>
              </a:lnSpc>
              <a:buNone/>
            </a:pPr>
            <a:r>
              <a:rPr lang="en-US" sz="1150" dirty="0">
                <a:solidFill>
                  <a:srgbClr val="D5DEEA"/>
                </a:solidFill>
                <a:latin typeface="Arial" pitchFamily="34" charset="0"/>
                <a:ea typeface="Arial" pitchFamily="34" charset="-122"/>
                <a:cs typeface="Arial" pitchFamily="34" charset="-120"/>
              </a:rPr>
              <a:t>شاهد شركات تسقط في الأحمر وتتجمّد على متطلبٍ واحد.</a:t>
            </a:r>
            <a:endParaRPr lang="en-US" sz="1150" dirty="0"/>
          </a:p>
        </p:txBody>
      </p:sp>
      <p:sp>
        <p:nvSpPr>
          <p:cNvPr id="17" name="Text 15"/>
          <p:cNvSpPr/>
          <p:nvPr/>
        </p:nvSpPr>
        <p:spPr>
          <a:xfrm>
            <a:off x="5961888" y="2880360"/>
            <a:ext cx="182880" cy="548640"/>
          </a:xfrm>
          <a:prstGeom prst="rect">
            <a:avLst/>
          </a:prstGeom>
          <a:noFill/>
          <a:ln/>
        </p:spPr>
        <p:txBody>
          <a:bodyPr wrap="square" lIns="0" tIns="0" rIns="0" bIns="0" rtlCol="0" anchor="ctr"/>
          <a:lstStyle/>
          <a:p>
            <a:pPr algn="ctr" indent="0" marL="0">
              <a:buNone/>
            </a:pPr>
            <a:r>
              <a:rPr lang="en-US" sz="2000" b="1" dirty="0">
                <a:solidFill>
                  <a:srgbClr val="64748B"/>
                </a:solidFill>
                <a:latin typeface="Arial" pitchFamily="34" charset="0"/>
                <a:ea typeface="Arial" pitchFamily="34" charset="-122"/>
                <a:cs typeface="Arial" pitchFamily="34" charset="-120"/>
              </a:rPr>
              <a:t>‹</a:t>
            </a:r>
            <a:endParaRPr lang="en-US" sz="2000" dirty="0"/>
          </a:p>
        </p:txBody>
      </p:sp>
      <p:sp>
        <p:nvSpPr>
          <p:cNvPr id="18" name="Shape 16"/>
          <p:cNvSpPr/>
          <p:nvPr/>
        </p:nvSpPr>
        <p:spPr>
          <a:xfrm>
            <a:off x="6126480" y="2331720"/>
            <a:ext cx="2606040" cy="1737360"/>
          </a:xfrm>
          <a:prstGeom prst="roundRect">
            <a:avLst>
              <a:gd name="adj" fmla="val 4737"/>
            </a:avLst>
          </a:prstGeom>
          <a:solidFill>
            <a:srgbClr val="1E293B"/>
          </a:solidFill>
          <a:ln w="12700">
            <a:solidFill>
              <a:srgbClr val="334155"/>
            </a:solidFill>
            <a:prstDash val="solid"/>
          </a:ln>
          <a:effectLst>
            <a:outerShdw sx="100000" sy="100000" kx="0" ky="0" algn="bl" rotWithShape="0" blurRad="76200" dist="25400" dir="5400000">
              <a:srgbClr val="94A3B8">
                <a:alpha val="25000"/>
              </a:srgbClr>
            </a:outerShdw>
          </a:effectLst>
        </p:spPr>
      </p:sp>
      <p:sp>
        <p:nvSpPr>
          <p:cNvPr id="19" name="Shape 17"/>
          <p:cNvSpPr/>
          <p:nvPr/>
        </p:nvSpPr>
        <p:spPr>
          <a:xfrm>
            <a:off x="8092440" y="2514600"/>
            <a:ext cx="457200" cy="457200"/>
          </a:xfrm>
          <a:prstGeom prst="ellipse">
            <a:avLst/>
          </a:prstGeom>
          <a:solidFill>
            <a:srgbClr val="10B981"/>
          </a:solidFill>
          <a:ln/>
        </p:spPr>
      </p:sp>
      <p:sp>
        <p:nvSpPr>
          <p:cNvPr id="20" name="Text 18"/>
          <p:cNvSpPr/>
          <p:nvPr/>
        </p:nvSpPr>
        <p:spPr>
          <a:xfrm>
            <a:off x="8092440" y="2514600"/>
            <a:ext cx="457200" cy="457200"/>
          </a:xfrm>
          <a:prstGeom prst="rect">
            <a:avLst/>
          </a:prstGeom>
          <a:noFill/>
          <a:ln/>
        </p:spPr>
        <p:txBody>
          <a:bodyPr wrap="square" lIns="0" tIns="0" rIns="0" bIns="0" rtlCol="0" anchor="ctr"/>
          <a:lstStyle/>
          <a:p>
            <a:pPr algn="ctr" indent="0" marL="0">
              <a:buNone/>
            </a:pPr>
            <a:r>
              <a:rPr lang="en-US" sz="1500" b="1" dirty="0">
                <a:solidFill>
                  <a:srgbClr val="06231A"/>
                </a:solidFill>
                <a:latin typeface="Arial" pitchFamily="34" charset="0"/>
                <a:ea typeface="Arial" pitchFamily="34" charset="-122"/>
                <a:cs typeface="Arial" pitchFamily="34" charset="-120"/>
              </a:rPr>
              <a:t>3</a:t>
            </a:r>
            <a:endParaRPr lang="en-US" sz="1500" dirty="0"/>
          </a:p>
        </p:txBody>
      </p:sp>
      <p:sp>
        <p:nvSpPr>
          <p:cNvPr id="21" name="Text 19"/>
          <p:cNvSpPr/>
          <p:nvPr/>
        </p:nvSpPr>
        <p:spPr>
          <a:xfrm>
            <a:off x="6327648" y="2542032"/>
            <a:ext cx="1691640" cy="685800"/>
          </a:xfrm>
          <a:prstGeom prst="rect">
            <a:avLst/>
          </a:prstGeom>
          <a:noFill/>
          <a:ln/>
        </p:spPr>
        <p:txBody>
          <a:bodyPr wrap="square" lIns="0" tIns="0" rIns="0" bIns="0" rtlCol="0" anchor="t"/>
          <a:lstStyle/>
          <a:p>
            <a:pPr rtl="1" algn="r" indent="0" marL="0">
              <a:lnSpc>
                <a:spcPct val="100000"/>
              </a:lnSpc>
              <a:buNone/>
            </a:pPr>
            <a:r>
              <a:rPr lang="en-US" sz="1350" b="1" dirty="0">
                <a:solidFill>
                  <a:srgbClr val="FFFFFF"/>
                </a:solidFill>
                <a:latin typeface="Arial" pitchFamily="34" charset="0"/>
                <a:ea typeface="Arial" pitchFamily="34" charset="-122"/>
                <a:cs typeface="Arial" pitchFamily="34" charset="-120"/>
              </a:rPr>
              <a:t>«الرقم الذي يتصلون به»</a:t>
            </a:r>
            <a:endParaRPr lang="en-US" sz="1350" dirty="0"/>
          </a:p>
        </p:txBody>
      </p:sp>
      <p:sp>
        <p:nvSpPr>
          <p:cNvPr id="22" name="Text 20"/>
          <p:cNvSpPr/>
          <p:nvPr/>
        </p:nvSpPr>
        <p:spPr>
          <a:xfrm>
            <a:off x="6327648" y="3246120"/>
            <a:ext cx="2194560" cy="777240"/>
          </a:xfrm>
          <a:prstGeom prst="rect">
            <a:avLst/>
          </a:prstGeom>
          <a:noFill/>
          <a:ln/>
        </p:spPr>
        <p:txBody>
          <a:bodyPr wrap="square" lIns="0" tIns="0" rIns="0" bIns="0" rtlCol="0" anchor="t"/>
          <a:lstStyle/>
          <a:p>
            <a:pPr rtl="1" algn="r" indent="0" marL="0">
              <a:lnSpc>
                <a:spcPct val="110000"/>
              </a:lnSpc>
              <a:buNone/>
            </a:pPr>
            <a:r>
              <a:rPr lang="en-US" sz="1150" dirty="0">
                <a:solidFill>
                  <a:srgbClr val="D5DEEA"/>
                </a:solidFill>
                <a:latin typeface="Arial" pitchFamily="34" charset="0"/>
                <a:ea typeface="Arial" pitchFamily="34" charset="-122"/>
                <a:cs typeface="Arial" pitchFamily="34" charset="-120"/>
              </a:rPr>
              <a:t>رواد أعمال يستدعونه لإصلاح طوارئ الامتثال.</a:t>
            </a:r>
            <a:endParaRPr lang="en-US" sz="1150" dirty="0"/>
          </a:p>
        </p:txBody>
      </p:sp>
      <p:sp>
        <p:nvSpPr>
          <p:cNvPr id="23" name="Text 21"/>
          <p:cNvSpPr/>
          <p:nvPr/>
        </p:nvSpPr>
        <p:spPr>
          <a:xfrm>
            <a:off x="8750808" y="2880360"/>
            <a:ext cx="182880" cy="548640"/>
          </a:xfrm>
          <a:prstGeom prst="rect">
            <a:avLst/>
          </a:prstGeom>
          <a:noFill/>
          <a:ln/>
        </p:spPr>
        <p:txBody>
          <a:bodyPr wrap="square" lIns="0" tIns="0" rIns="0" bIns="0" rtlCol="0" anchor="ctr"/>
          <a:lstStyle/>
          <a:p>
            <a:pPr algn="ctr" indent="0" marL="0">
              <a:buNone/>
            </a:pPr>
            <a:r>
              <a:rPr lang="en-US" sz="2000" b="1" dirty="0">
                <a:solidFill>
                  <a:srgbClr val="64748B"/>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8915400" y="2331720"/>
            <a:ext cx="2606040" cy="1737360"/>
          </a:xfrm>
          <a:prstGeom prst="roundRect">
            <a:avLst>
              <a:gd name="adj" fmla="val 4737"/>
            </a:avLst>
          </a:prstGeom>
          <a:solidFill>
            <a:srgbClr val="1E293B"/>
          </a:solidFill>
          <a:ln w="12700">
            <a:solidFill>
              <a:srgbClr val="334155"/>
            </a:solidFill>
            <a:prstDash val="solid"/>
          </a:ln>
          <a:effectLst>
            <a:outerShdw sx="100000" sy="100000" kx="0" ky="0" algn="bl" rotWithShape="0" blurRad="76200" dist="25400" dir="5400000">
              <a:srgbClr val="94A3B8">
                <a:alpha val="25000"/>
              </a:srgbClr>
            </a:outerShdw>
          </a:effectLst>
        </p:spPr>
      </p:sp>
      <p:sp>
        <p:nvSpPr>
          <p:cNvPr id="25" name="Shape 23"/>
          <p:cNvSpPr/>
          <p:nvPr/>
        </p:nvSpPr>
        <p:spPr>
          <a:xfrm>
            <a:off x="10881360" y="2514600"/>
            <a:ext cx="457200" cy="457200"/>
          </a:xfrm>
          <a:prstGeom prst="ellipse">
            <a:avLst/>
          </a:prstGeom>
          <a:solidFill>
            <a:srgbClr val="10B981"/>
          </a:solidFill>
          <a:ln/>
        </p:spPr>
      </p:sp>
      <p:sp>
        <p:nvSpPr>
          <p:cNvPr id="26" name="Text 24"/>
          <p:cNvSpPr/>
          <p:nvPr/>
        </p:nvSpPr>
        <p:spPr>
          <a:xfrm>
            <a:off x="10881360" y="2514600"/>
            <a:ext cx="457200" cy="457200"/>
          </a:xfrm>
          <a:prstGeom prst="rect">
            <a:avLst/>
          </a:prstGeom>
          <a:noFill/>
          <a:ln/>
        </p:spPr>
        <p:txBody>
          <a:bodyPr wrap="square" lIns="0" tIns="0" rIns="0" bIns="0" rtlCol="0" anchor="ctr"/>
          <a:lstStyle/>
          <a:p>
            <a:pPr algn="ctr" indent="0" marL="0">
              <a:buNone/>
            </a:pPr>
            <a:r>
              <a:rPr lang="en-US" sz="1500" b="1" dirty="0">
                <a:solidFill>
                  <a:srgbClr val="06231A"/>
                </a:solidFill>
                <a:latin typeface="Arial" pitchFamily="34" charset="0"/>
                <a:ea typeface="Arial" pitchFamily="34" charset="-122"/>
                <a:cs typeface="Arial" pitchFamily="34" charset="-120"/>
              </a:rPr>
              <a:t>4</a:t>
            </a:r>
            <a:endParaRPr lang="en-US" sz="1500" dirty="0"/>
          </a:p>
        </p:txBody>
      </p:sp>
      <p:sp>
        <p:nvSpPr>
          <p:cNvPr id="27" name="Text 25"/>
          <p:cNvSpPr/>
          <p:nvPr/>
        </p:nvSpPr>
        <p:spPr>
          <a:xfrm>
            <a:off x="9116568" y="2542032"/>
            <a:ext cx="1691640" cy="685800"/>
          </a:xfrm>
          <a:prstGeom prst="rect">
            <a:avLst/>
          </a:prstGeom>
          <a:noFill/>
          <a:ln/>
        </p:spPr>
        <p:txBody>
          <a:bodyPr wrap="square" lIns="0" tIns="0" rIns="0" bIns="0" rtlCol="0" anchor="t"/>
          <a:lstStyle/>
          <a:p>
            <a:pPr rtl="1" algn="r" indent="0" marL="0">
              <a:lnSpc>
                <a:spcPct val="100000"/>
              </a:lnSpc>
              <a:buNone/>
            </a:pPr>
            <a:r>
              <a:rPr lang="en-US" sz="1350" b="1" dirty="0">
                <a:solidFill>
                  <a:srgbClr val="FFFFFF"/>
                </a:solidFill>
                <a:latin typeface="Arial" pitchFamily="34" charset="0"/>
                <a:ea typeface="Arial" pitchFamily="34" charset="-122"/>
                <a:cs typeface="Arial" pitchFamily="34" charset="-120"/>
              </a:rPr>
              <a:t>Business Partner</a:t>
            </a:r>
            <a:endParaRPr lang="en-US" sz="1350" dirty="0"/>
          </a:p>
        </p:txBody>
      </p:sp>
      <p:sp>
        <p:nvSpPr>
          <p:cNvPr id="28" name="Text 26"/>
          <p:cNvSpPr/>
          <p:nvPr/>
        </p:nvSpPr>
        <p:spPr>
          <a:xfrm>
            <a:off x="9116568" y="3246120"/>
            <a:ext cx="2194560" cy="777240"/>
          </a:xfrm>
          <a:prstGeom prst="rect">
            <a:avLst/>
          </a:prstGeom>
          <a:noFill/>
          <a:ln/>
        </p:spPr>
        <p:txBody>
          <a:bodyPr wrap="square" lIns="0" tIns="0" rIns="0" bIns="0" rtlCol="0" anchor="t"/>
          <a:lstStyle/>
          <a:p>
            <a:pPr rtl="1" algn="r" indent="0" marL="0">
              <a:lnSpc>
                <a:spcPct val="110000"/>
              </a:lnSpc>
              <a:buNone/>
            </a:pPr>
            <a:r>
              <a:rPr lang="en-US" sz="1150" dirty="0">
                <a:solidFill>
                  <a:srgbClr val="D5DEEA"/>
                </a:solidFill>
                <a:latin typeface="Arial" pitchFamily="34" charset="0"/>
                <a:ea typeface="Arial" pitchFamily="34" charset="-122"/>
                <a:cs typeface="Arial" pitchFamily="34" charset="-120"/>
              </a:rPr>
              <a:t>شركة خدمات قائمة — 92 خدمة حية تدرّ دخلًا ومعرفة.</a:t>
            </a:r>
            <a:endParaRPr lang="en-US" sz="1150" dirty="0"/>
          </a:p>
        </p:txBody>
      </p:sp>
      <p:sp>
        <p:nvSpPr>
          <p:cNvPr id="29" name="Shape 27"/>
          <p:cNvSpPr/>
          <p:nvPr/>
        </p:nvSpPr>
        <p:spPr>
          <a:xfrm>
            <a:off x="548640" y="4343400"/>
            <a:ext cx="11091672" cy="1371600"/>
          </a:xfrm>
          <a:prstGeom prst="roundRect">
            <a:avLst>
              <a:gd name="adj" fmla="val 6000"/>
            </a:avLst>
          </a:prstGeom>
          <a:solidFill>
            <a:srgbClr val="3B1A1F"/>
          </a:solidFill>
          <a:ln w="12700">
            <a:solidFill>
              <a:srgbClr val="7F1D1D"/>
            </a:solidFill>
            <a:prstDash val="solid"/>
          </a:ln>
          <a:effectLst>
            <a:outerShdw sx="100000" sy="100000" kx="0" ky="0" algn="bl" rotWithShape="0" blurRad="76200" dist="25400" dir="5400000">
              <a:srgbClr val="94A3B8">
                <a:alpha val="25000"/>
              </a:srgbClr>
            </a:outerShdw>
          </a:effectLst>
        </p:spPr>
      </p:sp>
      <p:sp>
        <p:nvSpPr>
          <p:cNvPr id="30" name="Text 28"/>
          <p:cNvSpPr/>
          <p:nvPr/>
        </p:nvSpPr>
        <p:spPr>
          <a:xfrm>
            <a:off x="868680" y="4526280"/>
            <a:ext cx="10424160" cy="457200"/>
          </a:xfrm>
          <a:prstGeom prst="rect">
            <a:avLst/>
          </a:prstGeom>
          <a:noFill/>
          <a:ln/>
        </p:spPr>
        <p:txBody>
          <a:bodyPr wrap="square" lIns="0" tIns="0" rIns="0" bIns="0" rtlCol="0" anchor="t"/>
          <a:lstStyle/>
          <a:p>
            <a:pPr rtl="1" algn="r" indent="0" marL="0">
              <a:lnSpc>
                <a:spcPct val="105000"/>
              </a:lnSpc>
              <a:buNone/>
            </a:pPr>
            <a:r>
              <a:rPr lang="en-US" sz="1400" b="1" dirty="0">
                <a:solidFill>
                  <a:srgbClr val="FECACA"/>
                </a:solidFill>
                <a:latin typeface="Arial" pitchFamily="34" charset="0"/>
                <a:ea typeface="Arial" pitchFamily="34" charset="-122"/>
                <a:cs typeface="Arial" pitchFamily="34" charset="-120"/>
              </a:rPr>
              <a:t>ثم اصطدمنا بسقف شركات الخدمات: كل عميل جديد = موظف جديد يعرف المسارات. الإيراد مربوط بعدد الموظفين.</a:t>
            </a:r>
            <a:endParaRPr lang="en-US" sz="1400" dirty="0"/>
          </a:p>
        </p:txBody>
      </p:sp>
      <p:sp>
        <p:nvSpPr>
          <p:cNvPr id="31" name="Text 29"/>
          <p:cNvSpPr/>
          <p:nvPr/>
        </p:nvSpPr>
        <p:spPr>
          <a:xfrm>
            <a:off x="868680" y="5074920"/>
            <a:ext cx="10424160" cy="457200"/>
          </a:xfrm>
          <a:prstGeom prst="rect">
            <a:avLst/>
          </a:prstGeom>
          <a:noFill/>
          <a:ln/>
        </p:spPr>
        <p:txBody>
          <a:bodyPr wrap="square" lIns="0" tIns="0" rIns="0" bIns="0" rtlCol="0" anchor="t"/>
          <a:lstStyle/>
          <a:p>
            <a:pPr rtl="1" algn="r" indent="0" marL="0">
              <a:lnSpc>
                <a:spcPct val="105000"/>
              </a:lnSpc>
              <a:buNone/>
            </a:pPr>
            <a:r>
              <a:rPr lang="en-US" sz="1400" b="1" dirty="0">
                <a:solidFill>
                  <a:srgbClr val="10B981"/>
                </a:solidFill>
                <a:latin typeface="Arial" pitchFamily="34" charset="0"/>
                <a:ea typeface="Arial" pitchFamily="34" charset="-122"/>
                <a:cs typeface="Arial" pitchFamily="34" charset="-120"/>
              </a:rPr>
              <a:t>الفكرة: نرمّز هذه الخبرة في وكلاء ذكاء اصطناعي — فيتوسع الدخل بلا سقف التوظيف.</a:t>
            </a:r>
            <a:endParaRPr lang="en-US" sz="1400" dirty="0"/>
          </a:p>
        </p:txBody>
      </p:sp>
      <p:sp>
        <p:nvSpPr>
          <p:cNvPr id="32" name="Text 30"/>
          <p:cNvSpPr/>
          <p:nvPr/>
        </p:nvSpPr>
        <p:spPr>
          <a:xfrm>
            <a:off x="548640" y="6419088"/>
            <a:ext cx="7315200" cy="274320"/>
          </a:xfrm>
          <a:prstGeom prst="rect">
            <a:avLst/>
          </a:prstGeom>
          <a:noFill/>
          <a:ln/>
        </p:spPr>
        <p:txBody>
          <a:bodyPr wrap="square" lIns="0" tIns="0" rIns="0" bIns="0" rtlCol="0" anchor="ctr"/>
          <a:lstStyle/>
          <a:p>
            <a:pPr algn="l" indent="0" marL="0">
              <a:buNone/>
            </a:pPr>
            <a:r>
              <a:rPr lang="en-US" sz="900" dirty="0">
                <a:solidFill>
                  <a:srgbClr val="8CA0B8"/>
                </a:solidFill>
                <a:latin typeface="Arial" pitchFamily="34" charset="0"/>
                <a:ea typeface="Arial" pitchFamily="34" charset="-122"/>
                <a:cs typeface="Arial" pitchFamily="34" charset="-120"/>
              </a:rPr>
              <a:t>Business Partner · AI Compliance Agents</a:t>
            </a:r>
            <a:endParaRPr lang="en-US" sz="900" dirty="0"/>
          </a:p>
        </p:txBody>
      </p:sp>
      <p:sp>
        <p:nvSpPr>
          <p:cNvPr id="33" name="Text 31"/>
          <p:cNvSpPr/>
          <p:nvPr/>
        </p:nvSpPr>
        <p:spPr>
          <a:xfrm>
            <a:off x="10634472" y="6419088"/>
            <a:ext cx="1005840" cy="274320"/>
          </a:xfrm>
          <a:prstGeom prst="rect">
            <a:avLst/>
          </a:prstGeom>
          <a:noFill/>
          <a:ln/>
        </p:spPr>
        <p:txBody>
          <a:bodyPr wrap="square" lIns="0" tIns="0" rIns="0" bIns="0" rtlCol="0" anchor="ctr"/>
          <a:lstStyle/>
          <a:p>
            <a:pPr algn="r" indent="0" marL="0">
              <a:buNone/>
            </a:pPr>
            <a:r>
              <a:rPr lang="en-US" sz="900" dirty="0">
                <a:solidFill>
                  <a:srgbClr val="8CA0B8"/>
                </a:solidFill>
                <a:latin typeface="Arial" pitchFamily="34" charset="0"/>
                <a:ea typeface="Arial" pitchFamily="34" charset="-122"/>
                <a:cs typeface="Arial"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332720" y="-1280160"/>
            <a:ext cx="3291840" cy="3291840"/>
          </a:xfrm>
          <a:prstGeom prst="ellipse">
            <a:avLst/>
          </a:prstGeom>
          <a:solidFill>
            <a:srgbClr val="F1F5F9"/>
          </a:solidFill>
          <a:ln/>
        </p:spPr>
      </p:sp>
      <p:sp>
        <p:nvSpPr>
          <p:cNvPr id="3" name="Text 1"/>
          <p:cNvSpPr/>
          <p:nvPr/>
        </p:nvSpPr>
        <p:spPr>
          <a:xfrm>
            <a:off x="548640" y="548640"/>
            <a:ext cx="9144000" cy="274320"/>
          </a:xfrm>
          <a:prstGeom prst="rect">
            <a:avLst/>
          </a:prstGeom>
          <a:noFill/>
          <a:ln/>
        </p:spPr>
        <p:txBody>
          <a:bodyPr wrap="square" lIns="0" tIns="0" rIns="0" bIns="0" rtlCol="0" anchor="ctr"/>
          <a:lstStyle/>
          <a:p>
            <a:pPr algn="l" indent="0" marL="0">
              <a:buNone/>
            </a:pPr>
            <a:r>
              <a:rPr lang="en-US" sz="1100" b="1" spc="300" kern="0" dirty="0">
                <a:solidFill>
                  <a:srgbClr val="0066CC"/>
                </a:solidFill>
                <a:latin typeface="Arial" pitchFamily="34" charset="0"/>
                <a:ea typeface="Arial" pitchFamily="34" charset="-122"/>
                <a:cs typeface="Arial" pitchFamily="34" charset="-120"/>
              </a:rPr>
              <a:t>THE SOLUTION · الحل</a:t>
            </a:r>
            <a:endParaRPr lang="en-US" sz="1100" dirty="0"/>
          </a:p>
        </p:txBody>
      </p:sp>
      <p:sp>
        <p:nvSpPr>
          <p:cNvPr id="4" name="Text 2"/>
          <p:cNvSpPr/>
          <p:nvPr/>
        </p:nvSpPr>
        <p:spPr>
          <a:xfrm>
            <a:off x="548640" y="1005840"/>
            <a:ext cx="11091672" cy="777240"/>
          </a:xfrm>
          <a:prstGeom prst="rect">
            <a:avLst/>
          </a:prstGeom>
          <a:noFill/>
          <a:ln/>
        </p:spPr>
        <p:txBody>
          <a:bodyPr wrap="square" lIns="0" tIns="0" rIns="0" bIns="0" rtlCol="0" anchor="ctr"/>
          <a:lstStyle/>
          <a:p>
            <a:pPr rtl="1" algn="r" indent="0" marL="0">
              <a:buNone/>
            </a:pPr>
            <a:r>
              <a:rPr lang="en-US" sz="3000" b="1" dirty="0">
                <a:solidFill>
                  <a:srgbClr val="1E293B"/>
                </a:solidFill>
                <a:latin typeface="Arial" pitchFamily="34" charset="0"/>
                <a:ea typeface="Arial" pitchFamily="34" charset="-122"/>
                <a:cs typeface="Arial" pitchFamily="34" charset="-120"/>
              </a:rPr>
              <a:t>يراقب · ينبّه · يجهّز · تعتمد · ينفّذ</a:t>
            </a:r>
            <a:endParaRPr lang="en-US" sz="3000" dirty="0"/>
          </a:p>
        </p:txBody>
      </p:sp>
      <p:sp>
        <p:nvSpPr>
          <p:cNvPr id="5" name="Text 3"/>
          <p:cNvSpPr/>
          <p:nvPr/>
        </p:nvSpPr>
        <p:spPr>
          <a:xfrm>
            <a:off x="548640" y="1755648"/>
            <a:ext cx="11091672" cy="365760"/>
          </a:xfrm>
          <a:prstGeom prst="rect">
            <a:avLst/>
          </a:prstGeom>
          <a:noFill/>
          <a:ln/>
        </p:spPr>
        <p:txBody>
          <a:bodyPr wrap="square" lIns="0" tIns="0" rIns="0" bIns="0" rtlCol="0" anchor="ctr"/>
          <a:lstStyle/>
          <a:p>
            <a:pPr algn="l" indent="0" marL="0">
              <a:buNone/>
            </a:pPr>
            <a:r>
              <a:rPr lang="en-US" sz="1400" dirty="0">
                <a:solidFill>
                  <a:srgbClr val="64748B"/>
                </a:solidFill>
                <a:latin typeface="Arial" pitchFamily="34" charset="0"/>
                <a:ea typeface="Arial" pitchFamily="34" charset="-122"/>
                <a:cs typeface="Arial" pitchFamily="34" charset="-120"/>
              </a:rPr>
              <a:t>Monitor · Alert · Prepare · You approve · Execute</a:t>
            </a:r>
            <a:endParaRPr lang="en-US" sz="1400" dirty="0"/>
          </a:p>
        </p:txBody>
      </p:sp>
      <p:sp>
        <p:nvSpPr>
          <p:cNvPr id="6" name="Shape 4"/>
          <p:cNvSpPr/>
          <p:nvPr/>
        </p:nvSpPr>
        <p:spPr>
          <a:xfrm>
            <a:off x="548640" y="2331720"/>
            <a:ext cx="1965960" cy="2286000"/>
          </a:xfrm>
          <a:prstGeom prst="roundRect">
            <a:avLst>
              <a:gd name="adj" fmla="val 4186"/>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7" name="Shape 5"/>
          <p:cNvSpPr/>
          <p:nvPr/>
        </p:nvSpPr>
        <p:spPr>
          <a:xfrm>
            <a:off x="1275588" y="2514600"/>
            <a:ext cx="512064" cy="512064"/>
          </a:xfrm>
          <a:prstGeom prst="ellipse">
            <a:avLst/>
          </a:prstGeom>
          <a:solidFill>
            <a:srgbClr val="0066CC"/>
          </a:solidFill>
          <a:ln/>
        </p:spPr>
      </p:sp>
      <p:sp>
        <p:nvSpPr>
          <p:cNvPr id="8" name="Text 6"/>
          <p:cNvSpPr/>
          <p:nvPr/>
        </p:nvSpPr>
        <p:spPr>
          <a:xfrm>
            <a:off x="1275588" y="251460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658368" y="3200400"/>
            <a:ext cx="1746504" cy="685800"/>
          </a:xfrm>
          <a:prstGeom prst="rect">
            <a:avLst/>
          </a:prstGeom>
          <a:noFill/>
          <a:ln/>
        </p:spPr>
        <p:txBody>
          <a:bodyPr wrap="square" lIns="0" tIns="0" rIns="0" bIns="0" rtlCol="0" anchor="t"/>
          <a:lstStyle/>
          <a:p>
            <a:pPr rtl="1" algn="ctr" indent="0" marL="0">
              <a:lnSpc>
                <a:spcPct val="105000"/>
              </a:lnSpc>
              <a:buNone/>
            </a:pPr>
            <a:r>
              <a:rPr lang="en-US" sz="1400" b="1" dirty="0">
                <a:solidFill>
                  <a:srgbClr val="1E293B"/>
                </a:solidFill>
                <a:latin typeface="Arial" pitchFamily="34" charset="0"/>
                <a:ea typeface="Arial" pitchFamily="34" charset="-122"/>
                <a:cs typeface="Arial" pitchFamily="34" charset="-120"/>
              </a:rPr>
              <a:t>يراقب</a:t>
            </a:r>
            <a:endParaRPr lang="en-US" sz="1400" dirty="0"/>
          </a:p>
        </p:txBody>
      </p:sp>
      <p:sp>
        <p:nvSpPr>
          <p:cNvPr id="10" name="Text 8"/>
          <p:cNvSpPr/>
          <p:nvPr/>
        </p:nvSpPr>
        <p:spPr>
          <a:xfrm>
            <a:off x="676656" y="3886200"/>
            <a:ext cx="1709928" cy="685800"/>
          </a:xfrm>
          <a:prstGeom prst="rect">
            <a:avLst/>
          </a:prstGeom>
          <a:noFill/>
          <a:ln/>
        </p:spPr>
        <p:txBody>
          <a:bodyPr wrap="square" lIns="0" tIns="0" rIns="0" bIns="0" rtlCol="0" anchor="ctr"/>
          <a:lstStyle/>
          <a:p>
            <a:pPr rtl="1" algn="ctr" indent="0" marL="0">
              <a:lnSpc>
                <a:spcPct val="108000"/>
              </a:lnSpc>
              <a:buNone/>
            </a:pPr>
            <a:r>
              <a:rPr lang="en-US" sz="1100" dirty="0">
                <a:solidFill>
                  <a:srgbClr val="334155"/>
                </a:solidFill>
                <a:latin typeface="Arial" pitchFamily="34" charset="0"/>
                <a:ea typeface="Arial" pitchFamily="34" charset="-122"/>
                <a:cs typeface="Arial" pitchFamily="34" charset="-120"/>
              </a:rPr>
              <a:t>حالة منشأتك على المنصات يوميًا.</a:t>
            </a:r>
            <a:endParaRPr lang="en-US" sz="1100" dirty="0"/>
          </a:p>
        </p:txBody>
      </p:sp>
      <p:sp>
        <p:nvSpPr>
          <p:cNvPr id="11" name="Text 9"/>
          <p:cNvSpPr/>
          <p:nvPr/>
        </p:nvSpPr>
        <p:spPr>
          <a:xfrm>
            <a:off x="2532888" y="3108960"/>
            <a:ext cx="292608" cy="640080"/>
          </a:xfrm>
          <a:prstGeom prst="rect">
            <a:avLst/>
          </a:prstGeom>
          <a:noFill/>
          <a:ln/>
        </p:spPr>
        <p:txBody>
          <a:bodyPr wrap="square" lIns="0" tIns="0" rIns="0" bIns="0" rtlCol="0" anchor="ctr"/>
          <a:lstStyle/>
          <a:p>
            <a:pPr algn="ctr" indent="0" marL="0">
              <a:buNone/>
            </a:pPr>
            <a:r>
              <a:rPr lang="en-US" sz="2400" b="1" dirty="0">
                <a:solidFill>
                  <a:srgbClr val="64748B"/>
                </a:solidFill>
                <a:latin typeface="Arial" pitchFamily="34" charset="0"/>
                <a:ea typeface="Arial" pitchFamily="34" charset="-122"/>
                <a:cs typeface="Arial" pitchFamily="34" charset="-120"/>
              </a:rPr>
              <a:t>‹</a:t>
            </a:r>
            <a:endParaRPr lang="en-US" sz="2400" dirty="0"/>
          </a:p>
        </p:txBody>
      </p:sp>
      <p:sp>
        <p:nvSpPr>
          <p:cNvPr id="12" name="Shape 10"/>
          <p:cNvSpPr/>
          <p:nvPr/>
        </p:nvSpPr>
        <p:spPr>
          <a:xfrm>
            <a:off x="2807208" y="2331720"/>
            <a:ext cx="1965960" cy="2286000"/>
          </a:xfrm>
          <a:prstGeom prst="roundRect">
            <a:avLst>
              <a:gd name="adj" fmla="val 4186"/>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3" name="Shape 11"/>
          <p:cNvSpPr/>
          <p:nvPr/>
        </p:nvSpPr>
        <p:spPr>
          <a:xfrm>
            <a:off x="3534156" y="2514600"/>
            <a:ext cx="512064" cy="512064"/>
          </a:xfrm>
          <a:prstGeom prst="ellipse">
            <a:avLst/>
          </a:prstGeom>
          <a:solidFill>
            <a:srgbClr val="0066CC"/>
          </a:solidFill>
          <a:ln/>
        </p:spPr>
      </p:sp>
      <p:sp>
        <p:nvSpPr>
          <p:cNvPr id="14" name="Text 12"/>
          <p:cNvSpPr/>
          <p:nvPr/>
        </p:nvSpPr>
        <p:spPr>
          <a:xfrm>
            <a:off x="3534156" y="251460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2916936" y="3200400"/>
            <a:ext cx="1746504" cy="685800"/>
          </a:xfrm>
          <a:prstGeom prst="rect">
            <a:avLst/>
          </a:prstGeom>
          <a:noFill/>
          <a:ln/>
        </p:spPr>
        <p:txBody>
          <a:bodyPr wrap="square" lIns="0" tIns="0" rIns="0" bIns="0" rtlCol="0" anchor="t"/>
          <a:lstStyle/>
          <a:p>
            <a:pPr rtl="1" algn="ctr" indent="0" marL="0">
              <a:lnSpc>
                <a:spcPct val="105000"/>
              </a:lnSpc>
              <a:buNone/>
            </a:pPr>
            <a:r>
              <a:rPr lang="en-US" sz="1400" b="1" dirty="0">
                <a:solidFill>
                  <a:srgbClr val="1E293B"/>
                </a:solidFill>
                <a:latin typeface="Arial" pitchFamily="34" charset="0"/>
                <a:ea typeface="Arial" pitchFamily="34" charset="-122"/>
                <a:cs typeface="Arial" pitchFamily="34" charset="-120"/>
              </a:rPr>
              <a:t>ينبّه قبل المخالفة</a:t>
            </a:r>
            <a:endParaRPr lang="en-US" sz="1400" dirty="0"/>
          </a:p>
        </p:txBody>
      </p:sp>
      <p:sp>
        <p:nvSpPr>
          <p:cNvPr id="16" name="Text 14"/>
          <p:cNvSpPr/>
          <p:nvPr/>
        </p:nvSpPr>
        <p:spPr>
          <a:xfrm>
            <a:off x="2935224" y="3886200"/>
            <a:ext cx="1709928" cy="685800"/>
          </a:xfrm>
          <a:prstGeom prst="rect">
            <a:avLst/>
          </a:prstGeom>
          <a:noFill/>
          <a:ln/>
        </p:spPr>
        <p:txBody>
          <a:bodyPr wrap="square" lIns="0" tIns="0" rIns="0" bIns="0" rtlCol="0" anchor="ctr"/>
          <a:lstStyle/>
          <a:p>
            <a:pPr rtl="1" algn="ctr" indent="0" marL="0">
              <a:lnSpc>
                <a:spcPct val="108000"/>
              </a:lnSpc>
              <a:buNone/>
            </a:pPr>
            <a:r>
              <a:rPr lang="en-US" sz="1100" dirty="0">
                <a:solidFill>
                  <a:srgbClr val="334155"/>
                </a:solidFill>
                <a:latin typeface="Arial" pitchFamily="34" charset="0"/>
                <a:ea typeface="Arial" pitchFamily="34" charset="-122"/>
                <a:cs typeface="Arial" pitchFamily="34" charset="-120"/>
              </a:rPr>
              <a:t>بالأثر والمهلة — لا مجرد إشعار.</a:t>
            </a:r>
            <a:endParaRPr lang="en-US" sz="1100" dirty="0"/>
          </a:p>
        </p:txBody>
      </p:sp>
      <p:sp>
        <p:nvSpPr>
          <p:cNvPr id="17" name="Text 15"/>
          <p:cNvSpPr/>
          <p:nvPr/>
        </p:nvSpPr>
        <p:spPr>
          <a:xfrm>
            <a:off x="4791456" y="3108960"/>
            <a:ext cx="292608" cy="640080"/>
          </a:xfrm>
          <a:prstGeom prst="rect">
            <a:avLst/>
          </a:prstGeom>
          <a:noFill/>
          <a:ln/>
        </p:spPr>
        <p:txBody>
          <a:bodyPr wrap="square" lIns="0" tIns="0" rIns="0" bIns="0" rtlCol="0" anchor="ctr"/>
          <a:lstStyle/>
          <a:p>
            <a:pPr algn="ctr" indent="0" marL="0">
              <a:buNone/>
            </a:pPr>
            <a:r>
              <a:rPr lang="en-US" sz="2400" b="1" dirty="0">
                <a:solidFill>
                  <a:srgbClr val="64748B"/>
                </a:solidFill>
                <a:latin typeface="Arial" pitchFamily="34" charset="0"/>
                <a:ea typeface="Arial" pitchFamily="34" charset="-122"/>
                <a:cs typeface="Arial" pitchFamily="34" charset="-120"/>
              </a:rPr>
              <a:t>‹</a:t>
            </a:r>
            <a:endParaRPr lang="en-US" sz="2400" dirty="0"/>
          </a:p>
        </p:txBody>
      </p:sp>
      <p:sp>
        <p:nvSpPr>
          <p:cNvPr id="18" name="Shape 16"/>
          <p:cNvSpPr/>
          <p:nvPr/>
        </p:nvSpPr>
        <p:spPr>
          <a:xfrm>
            <a:off x="5065776" y="2331720"/>
            <a:ext cx="1965960" cy="2286000"/>
          </a:xfrm>
          <a:prstGeom prst="roundRect">
            <a:avLst>
              <a:gd name="adj" fmla="val 4186"/>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9" name="Shape 17"/>
          <p:cNvSpPr/>
          <p:nvPr/>
        </p:nvSpPr>
        <p:spPr>
          <a:xfrm>
            <a:off x="5792724" y="2514600"/>
            <a:ext cx="512064" cy="512064"/>
          </a:xfrm>
          <a:prstGeom prst="ellipse">
            <a:avLst/>
          </a:prstGeom>
          <a:solidFill>
            <a:srgbClr val="0066CC"/>
          </a:solidFill>
          <a:ln/>
        </p:spPr>
      </p:sp>
      <p:sp>
        <p:nvSpPr>
          <p:cNvPr id="20" name="Text 18"/>
          <p:cNvSpPr/>
          <p:nvPr/>
        </p:nvSpPr>
        <p:spPr>
          <a:xfrm>
            <a:off x="5792724" y="251460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p:nvPr/>
        </p:nvSpPr>
        <p:spPr>
          <a:xfrm>
            <a:off x="5175504" y="3200400"/>
            <a:ext cx="1746504" cy="685800"/>
          </a:xfrm>
          <a:prstGeom prst="rect">
            <a:avLst/>
          </a:prstGeom>
          <a:noFill/>
          <a:ln/>
        </p:spPr>
        <p:txBody>
          <a:bodyPr wrap="square" lIns="0" tIns="0" rIns="0" bIns="0" rtlCol="0" anchor="t"/>
          <a:lstStyle/>
          <a:p>
            <a:pPr rtl="1" algn="ctr" indent="0" marL="0">
              <a:lnSpc>
                <a:spcPct val="105000"/>
              </a:lnSpc>
              <a:buNone/>
            </a:pPr>
            <a:r>
              <a:rPr lang="en-US" sz="1400" b="1" dirty="0">
                <a:solidFill>
                  <a:srgbClr val="1E293B"/>
                </a:solidFill>
                <a:latin typeface="Arial" pitchFamily="34" charset="0"/>
                <a:ea typeface="Arial" pitchFamily="34" charset="-122"/>
                <a:cs typeface="Arial" pitchFamily="34" charset="-120"/>
              </a:rPr>
              <a:t>يجهّز الإجراء كاملًا</a:t>
            </a:r>
            <a:endParaRPr lang="en-US" sz="1400" dirty="0"/>
          </a:p>
        </p:txBody>
      </p:sp>
      <p:sp>
        <p:nvSpPr>
          <p:cNvPr id="22" name="Text 20"/>
          <p:cNvSpPr/>
          <p:nvPr/>
        </p:nvSpPr>
        <p:spPr>
          <a:xfrm>
            <a:off x="5193792" y="3886200"/>
            <a:ext cx="1709928" cy="685800"/>
          </a:xfrm>
          <a:prstGeom prst="rect">
            <a:avLst/>
          </a:prstGeom>
          <a:noFill/>
          <a:ln/>
        </p:spPr>
        <p:txBody>
          <a:bodyPr wrap="square" lIns="0" tIns="0" rIns="0" bIns="0" rtlCol="0" anchor="ctr"/>
          <a:lstStyle/>
          <a:p>
            <a:pPr rtl="1" algn="ctr" indent="0" marL="0">
              <a:lnSpc>
                <a:spcPct val="108000"/>
              </a:lnSpc>
              <a:buNone/>
            </a:pPr>
            <a:r>
              <a:rPr lang="en-US" sz="1100" dirty="0">
                <a:solidFill>
                  <a:srgbClr val="334155"/>
                </a:solidFill>
                <a:latin typeface="Arial" pitchFamily="34" charset="0"/>
                <a:ea typeface="Arial" pitchFamily="34" charset="-122"/>
                <a:cs typeface="Arial" pitchFamily="34" charset="-120"/>
              </a:rPr>
              <a:t>مَن، ماذا، الرسوم، النموذج، الخطوات.</a:t>
            </a:r>
            <a:endParaRPr lang="en-US" sz="1100" dirty="0"/>
          </a:p>
        </p:txBody>
      </p:sp>
      <p:sp>
        <p:nvSpPr>
          <p:cNvPr id="23" name="Text 21"/>
          <p:cNvSpPr/>
          <p:nvPr/>
        </p:nvSpPr>
        <p:spPr>
          <a:xfrm>
            <a:off x="7050024" y="3108960"/>
            <a:ext cx="292608" cy="640080"/>
          </a:xfrm>
          <a:prstGeom prst="rect">
            <a:avLst/>
          </a:prstGeom>
          <a:noFill/>
          <a:ln/>
        </p:spPr>
        <p:txBody>
          <a:bodyPr wrap="square" lIns="0" tIns="0" rIns="0" bIns="0" rtlCol="0" anchor="ctr"/>
          <a:lstStyle/>
          <a:p>
            <a:pPr algn="ctr" indent="0" marL="0">
              <a:buNone/>
            </a:pPr>
            <a:r>
              <a:rPr lang="en-US" sz="2400" b="1" dirty="0">
                <a:solidFill>
                  <a:srgbClr val="64748B"/>
                </a:solidFill>
                <a:latin typeface="Arial" pitchFamily="34" charset="0"/>
                <a:ea typeface="Arial" pitchFamily="34" charset="-122"/>
                <a:cs typeface="Arial" pitchFamily="34" charset="-120"/>
              </a:rPr>
              <a:t>‹</a:t>
            </a:r>
            <a:endParaRPr lang="en-US" sz="2400" dirty="0"/>
          </a:p>
        </p:txBody>
      </p:sp>
      <p:sp>
        <p:nvSpPr>
          <p:cNvPr id="24" name="Shape 22"/>
          <p:cNvSpPr/>
          <p:nvPr/>
        </p:nvSpPr>
        <p:spPr>
          <a:xfrm>
            <a:off x="7324344" y="2331720"/>
            <a:ext cx="1965960" cy="2286000"/>
          </a:xfrm>
          <a:prstGeom prst="roundRect">
            <a:avLst>
              <a:gd name="adj" fmla="val 4186"/>
            </a:avLst>
          </a:prstGeom>
          <a:solidFill>
            <a:srgbClr val="0F172A"/>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25" name="Shape 23"/>
          <p:cNvSpPr/>
          <p:nvPr/>
        </p:nvSpPr>
        <p:spPr>
          <a:xfrm>
            <a:off x="8051292" y="2514600"/>
            <a:ext cx="512064" cy="512064"/>
          </a:xfrm>
          <a:prstGeom prst="ellipse">
            <a:avLst/>
          </a:prstGeom>
          <a:solidFill>
            <a:srgbClr val="10B981"/>
          </a:solidFill>
          <a:ln/>
        </p:spPr>
      </p:sp>
      <p:sp>
        <p:nvSpPr>
          <p:cNvPr id="26" name="Text 24"/>
          <p:cNvSpPr/>
          <p:nvPr/>
        </p:nvSpPr>
        <p:spPr>
          <a:xfrm>
            <a:off x="8051292" y="251460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7" name="Text 25"/>
          <p:cNvSpPr/>
          <p:nvPr/>
        </p:nvSpPr>
        <p:spPr>
          <a:xfrm>
            <a:off x="7434072" y="3200400"/>
            <a:ext cx="1746504" cy="685800"/>
          </a:xfrm>
          <a:prstGeom prst="rect">
            <a:avLst/>
          </a:prstGeom>
          <a:noFill/>
          <a:ln/>
        </p:spPr>
        <p:txBody>
          <a:bodyPr wrap="square" lIns="0" tIns="0" rIns="0" bIns="0" rtlCol="0" anchor="t"/>
          <a:lstStyle/>
          <a:p>
            <a:pPr rtl="1" algn="ctr" indent="0" marL="0">
              <a:lnSpc>
                <a:spcPct val="105000"/>
              </a:lnSpc>
              <a:buNone/>
            </a:pPr>
            <a:r>
              <a:rPr lang="en-US" sz="1400" b="1" dirty="0">
                <a:solidFill>
                  <a:srgbClr val="FFFFFF"/>
                </a:solidFill>
                <a:latin typeface="Arial" pitchFamily="34" charset="0"/>
                <a:ea typeface="Arial" pitchFamily="34" charset="-122"/>
                <a:cs typeface="Arial" pitchFamily="34" charset="-120"/>
              </a:rPr>
              <a:t>المالك يعتمد</a:t>
            </a:r>
            <a:endParaRPr lang="en-US" sz="1400" dirty="0"/>
          </a:p>
        </p:txBody>
      </p:sp>
      <p:sp>
        <p:nvSpPr>
          <p:cNvPr id="28" name="Text 26"/>
          <p:cNvSpPr/>
          <p:nvPr/>
        </p:nvSpPr>
        <p:spPr>
          <a:xfrm>
            <a:off x="7452360" y="3886200"/>
            <a:ext cx="1709928" cy="685800"/>
          </a:xfrm>
          <a:prstGeom prst="rect">
            <a:avLst/>
          </a:prstGeom>
          <a:noFill/>
          <a:ln/>
        </p:spPr>
        <p:txBody>
          <a:bodyPr wrap="square" lIns="0" tIns="0" rIns="0" bIns="0" rtlCol="0" anchor="ctr"/>
          <a:lstStyle/>
          <a:p>
            <a:pPr rtl="1" algn="ctr" indent="0" marL="0">
              <a:lnSpc>
                <a:spcPct val="108000"/>
              </a:lnSpc>
              <a:buNone/>
            </a:pPr>
            <a:r>
              <a:rPr lang="en-US" sz="1100" dirty="0">
                <a:solidFill>
                  <a:srgbClr val="A7F3D0"/>
                </a:solidFill>
                <a:latin typeface="Arial" pitchFamily="34" charset="0"/>
                <a:ea typeface="Arial" pitchFamily="34" charset="-122"/>
                <a:cs typeface="Arial" pitchFamily="34" charset="-120"/>
              </a:rPr>
              <a:t>بضغطة واحدة — القرار دائمًا بيدك.</a:t>
            </a:r>
            <a:endParaRPr lang="en-US" sz="1100" dirty="0"/>
          </a:p>
        </p:txBody>
      </p:sp>
      <p:sp>
        <p:nvSpPr>
          <p:cNvPr id="29" name="Text 27"/>
          <p:cNvSpPr/>
          <p:nvPr/>
        </p:nvSpPr>
        <p:spPr>
          <a:xfrm>
            <a:off x="9308592" y="3108960"/>
            <a:ext cx="292608" cy="640080"/>
          </a:xfrm>
          <a:prstGeom prst="rect">
            <a:avLst/>
          </a:prstGeom>
          <a:noFill/>
          <a:ln/>
        </p:spPr>
        <p:txBody>
          <a:bodyPr wrap="square" lIns="0" tIns="0" rIns="0" bIns="0" rtlCol="0" anchor="ctr"/>
          <a:lstStyle/>
          <a:p>
            <a:pPr algn="ctr" indent="0" marL="0">
              <a:buNone/>
            </a:pPr>
            <a:r>
              <a:rPr lang="en-US" sz="2400" b="1" dirty="0">
                <a:solidFill>
                  <a:srgbClr val="64748B"/>
                </a:solidFill>
                <a:latin typeface="Arial" pitchFamily="34" charset="0"/>
                <a:ea typeface="Arial" pitchFamily="34" charset="-122"/>
                <a:cs typeface="Arial" pitchFamily="34" charset="-120"/>
              </a:rPr>
              <a:t>‹</a:t>
            </a:r>
            <a:endParaRPr lang="en-US" sz="2400" dirty="0"/>
          </a:p>
        </p:txBody>
      </p:sp>
      <p:sp>
        <p:nvSpPr>
          <p:cNvPr id="30" name="Shape 28"/>
          <p:cNvSpPr/>
          <p:nvPr/>
        </p:nvSpPr>
        <p:spPr>
          <a:xfrm>
            <a:off x="9582912" y="2331720"/>
            <a:ext cx="1965960" cy="2286000"/>
          </a:xfrm>
          <a:prstGeom prst="roundRect">
            <a:avLst>
              <a:gd name="adj" fmla="val 4186"/>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31" name="Shape 29"/>
          <p:cNvSpPr/>
          <p:nvPr/>
        </p:nvSpPr>
        <p:spPr>
          <a:xfrm>
            <a:off x="10309860" y="2514600"/>
            <a:ext cx="512064" cy="512064"/>
          </a:xfrm>
          <a:prstGeom prst="ellipse">
            <a:avLst/>
          </a:prstGeom>
          <a:solidFill>
            <a:srgbClr val="0066CC"/>
          </a:solidFill>
          <a:ln/>
        </p:spPr>
      </p:sp>
      <p:sp>
        <p:nvSpPr>
          <p:cNvPr id="32" name="Text 30"/>
          <p:cNvSpPr/>
          <p:nvPr/>
        </p:nvSpPr>
        <p:spPr>
          <a:xfrm>
            <a:off x="10309860" y="251460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33" name="Text 31"/>
          <p:cNvSpPr/>
          <p:nvPr/>
        </p:nvSpPr>
        <p:spPr>
          <a:xfrm>
            <a:off x="9692640" y="3200400"/>
            <a:ext cx="1746504" cy="685800"/>
          </a:xfrm>
          <a:prstGeom prst="rect">
            <a:avLst/>
          </a:prstGeom>
          <a:noFill/>
          <a:ln/>
        </p:spPr>
        <p:txBody>
          <a:bodyPr wrap="square" lIns="0" tIns="0" rIns="0" bIns="0" rtlCol="0" anchor="t"/>
          <a:lstStyle/>
          <a:p>
            <a:pPr rtl="1" algn="ctr" indent="0" marL="0">
              <a:lnSpc>
                <a:spcPct val="105000"/>
              </a:lnSpc>
              <a:buNone/>
            </a:pPr>
            <a:r>
              <a:rPr lang="en-US" sz="1400" b="1" dirty="0">
                <a:solidFill>
                  <a:srgbClr val="1E293B"/>
                </a:solidFill>
                <a:latin typeface="Arial" pitchFamily="34" charset="0"/>
                <a:ea typeface="Arial" pitchFamily="34" charset="-122"/>
                <a:cs typeface="Arial" pitchFamily="34" charset="-120"/>
              </a:rPr>
              <a:t>ينفّذ ويسجّل</a:t>
            </a:r>
            <a:endParaRPr lang="en-US" sz="1400" dirty="0"/>
          </a:p>
        </p:txBody>
      </p:sp>
      <p:sp>
        <p:nvSpPr>
          <p:cNvPr id="34" name="Text 32"/>
          <p:cNvSpPr/>
          <p:nvPr/>
        </p:nvSpPr>
        <p:spPr>
          <a:xfrm>
            <a:off x="9710928" y="3886200"/>
            <a:ext cx="1709928" cy="685800"/>
          </a:xfrm>
          <a:prstGeom prst="rect">
            <a:avLst/>
          </a:prstGeom>
          <a:noFill/>
          <a:ln/>
        </p:spPr>
        <p:txBody>
          <a:bodyPr wrap="square" lIns="0" tIns="0" rIns="0" bIns="0" rtlCol="0" anchor="ctr"/>
          <a:lstStyle/>
          <a:p>
            <a:pPr rtl="1" algn="ctr" indent="0" marL="0">
              <a:lnSpc>
                <a:spcPct val="108000"/>
              </a:lnSpc>
              <a:buNone/>
            </a:pPr>
            <a:r>
              <a:rPr lang="en-US" sz="1100" dirty="0">
                <a:solidFill>
                  <a:srgbClr val="334155"/>
                </a:solidFill>
                <a:latin typeface="Arial" pitchFamily="34" charset="0"/>
                <a:ea typeface="Arial" pitchFamily="34" charset="-122"/>
                <a:cs typeface="Arial" pitchFamily="34" charset="-120"/>
              </a:rPr>
              <a:t>كل خطوة في سجل تدقيق: من؟ متى؟ ماذا؟</a:t>
            </a:r>
            <a:endParaRPr lang="en-US" sz="1100" dirty="0"/>
          </a:p>
        </p:txBody>
      </p:sp>
      <p:sp>
        <p:nvSpPr>
          <p:cNvPr id="35" name="Shape 33"/>
          <p:cNvSpPr/>
          <p:nvPr/>
        </p:nvSpPr>
        <p:spPr>
          <a:xfrm>
            <a:off x="548640" y="4983480"/>
            <a:ext cx="11091672" cy="868680"/>
          </a:xfrm>
          <a:prstGeom prst="roundRect">
            <a:avLst>
              <a:gd name="adj" fmla="val 9474"/>
            </a:avLst>
          </a:prstGeom>
          <a:solidFill>
            <a:srgbClr val="0F172A"/>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36" name="Text 34"/>
          <p:cNvSpPr/>
          <p:nvPr/>
        </p:nvSpPr>
        <p:spPr>
          <a:xfrm>
            <a:off x="868680" y="5184648"/>
            <a:ext cx="10424160" cy="502920"/>
          </a:xfrm>
          <a:prstGeom prst="rect">
            <a:avLst/>
          </a:prstGeom>
          <a:noFill/>
          <a:ln/>
        </p:spPr>
        <p:txBody>
          <a:bodyPr wrap="square" lIns="0" tIns="0" rIns="0" bIns="0" rtlCol="0" anchor="ctr"/>
          <a:lstStyle/>
          <a:p>
            <a:pPr rtl="1" algn="r" indent="0" marL="0">
              <a:lnSpc>
                <a:spcPct val="105000"/>
              </a:lnSpc>
              <a:buNone/>
            </a:pPr>
            <a:r>
              <a:rPr lang="en-US" sz="1400" b="1" dirty="0">
                <a:solidFill>
                  <a:srgbClr val="10B981"/>
                </a:solidFill>
                <a:latin typeface="Arial" pitchFamily="34" charset="0"/>
                <a:ea typeface="Arial" pitchFamily="34" charset="-122"/>
                <a:cs typeface="Arial" pitchFamily="34" charset="-120"/>
              </a:rPr>
              <a:t>الحوكمة: لا كلمات مرور ولا رموز تحقق (OTP) مخزّنة — التفويض بيد المالك دائمًا.</a:t>
            </a:r>
            <a:endParaRPr lang="en-US" sz="1400" dirty="0"/>
          </a:p>
        </p:txBody>
      </p:sp>
      <p:sp>
        <p:nvSpPr>
          <p:cNvPr id="37" name="Text 35"/>
          <p:cNvSpPr/>
          <p:nvPr/>
        </p:nvSpPr>
        <p:spPr>
          <a:xfrm>
            <a:off x="548640" y="6419088"/>
            <a:ext cx="7315200" cy="274320"/>
          </a:xfrm>
          <a:prstGeom prst="rect">
            <a:avLst/>
          </a:prstGeom>
          <a:noFill/>
          <a:ln/>
        </p:spPr>
        <p:txBody>
          <a:bodyPr wrap="square" lIns="0" tIns="0" rIns="0" bIns="0" rtlCol="0" anchor="ctr"/>
          <a:lstStyle/>
          <a:p>
            <a:pPr algn="l" indent="0" marL="0">
              <a:buNone/>
            </a:pPr>
            <a:r>
              <a:rPr lang="en-US" sz="900" dirty="0">
                <a:solidFill>
                  <a:srgbClr val="64748B"/>
                </a:solidFill>
                <a:latin typeface="Arial" pitchFamily="34" charset="0"/>
                <a:ea typeface="Arial" pitchFamily="34" charset="-122"/>
                <a:cs typeface="Arial" pitchFamily="34" charset="-120"/>
              </a:rPr>
              <a:t>Business Partner · AI Compliance Agents</a:t>
            </a:r>
            <a:endParaRPr lang="en-US" sz="900" dirty="0"/>
          </a:p>
        </p:txBody>
      </p:sp>
      <p:sp>
        <p:nvSpPr>
          <p:cNvPr id="38" name="Text 36"/>
          <p:cNvSpPr/>
          <p:nvPr/>
        </p:nvSpPr>
        <p:spPr>
          <a:xfrm>
            <a:off x="10634472" y="6419088"/>
            <a:ext cx="10058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332720" y="-1280160"/>
            <a:ext cx="3291840" cy="3291840"/>
          </a:xfrm>
          <a:prstGeom prst="ellipse">
            <a:avLst/>
          </a:prstGeom>
          <a:solidFill>
            <a:srgbClr val="F1F5F9"/>
          </a:solidFill>
          <a:ln/>
        </p:spPr>
      </p:sp>
      <p:sp>
        <p:nvSpPr>
          <p:cNvPr id="3" name="Text 1"/>
          <p:cNvSpPr/>
          <p:nvPr/>
        </p:nvSpPr>
        <p:spPr>
          <a:xfrm>
            <a:off x="548640" y="548640"/>
            <a:ext cx="9144000" cy="274320"/>
          </a:xfrm>
          <a:prstGeom prst="rect">
            <a:avLst/>
          </a:prstGeom>
          <a:noFill/>
          <a:ln/>
        </p:spPr>
        <p:txBody>
          <a:bodyPr wrap="square" lIns="0" tIns="0" rIns="0" bIns="0" rtlCol="0" anchor="ctr"/>
          <a:lstStyle/>
          <a:p>
            <a:pPr algn="l" indent="0" marL="0">
              <a:buNone/>
            </a:pPr>
            <a:r>
              <a:rPr lang="en-US" sz="1100" b="1" spc="300" kern="0" dirty="0">
                <a:solidFill>
                  <a:srgbClr val="0066CC"/>
                </a:solidFill>
                <a:latin typeface="Arial" pitchFamily="34" charset="0"/>
                <a:ea typeface="Arial" pitchFamily="34" charset="-122"/>
                <a:cs typeface="Arial" pitchFamily="34" charset="-120"/>
              </a:rPr>
              <a:t>LIVE WALKTHROUGH · الديمو</a:t>
            </a:r>
            <a:endParaRPr lang="en-US" sz="1100" dirty="0"/>
          </a:p>
        </p:txBody>
      </p:sp>
      <p:sp>
        <p:nvSpPr>
          <p:cNvPr id="4" name="Text 2"/>
          <p:cNvSpPr/>
          <p:nvPr/>
        </p:nvSpPr>
        <p:spPr>
          <a:xfrm>
            <a:off x="548640" y="1005840"/>
            <a:ext cx="11091672" cy="777240"/>
          </a:xfrm>
          <a:prstGeom prst="rect">
            <a:avLst/>
          </a:prstGeom>
          <a:noFill/>
          <a:ln/>
        </p:spPr>
        <p:txBody>
          <a:bodyPr wrap="square" lIns="0" tIns="0" rIns="0" bIns="0" rtlCol="0" anchor="ctr"/>
          <a:lstStyle/>
          <a:p>
            <a:pPr rtl="1" algn="r" indent="0" marL="0">
              <a:buNone/>
            </a:pPr>
            <a:r>
              <a:rPr lang="en-US" sz="3000" b="1" dirty="0">
                <a:solidFill>
                  <a:srgbClr val="1E293B"/>
                </a:solidFill>
                <a:latin typeface="Arial" pitchFamily="34" charset="0"/>
                <a:ea typeface="Arial" pitchFamily="34" charset="-122"/>
                <a:cs typeface="Arial" pitchFamily="34" charset="-120"/>
              </a:rPr>
              <a:t>قصة تنبيه واحد: نطاقات + حماية الأجور</a:t>
            </a:r>
            <a:endParaRPr lang="en-US" sz="3000" dirty="0"/>
          </a:p>
        </p:txBody>
      </p:sp>
      <p:sp>
        <p:nvSpPr>
          <p:cNvPr id="5" name="Text 3"/>
          <p:cNvSpPr/>
          <p:nvPr/>
        </p:nvSpPr>
        <p:spPr>
          <a:xfrm>
            <a:off x="548640" y="1755648"/>
            <a:ext cx="11091672" cy="365760"/>
          </a:xfrm>
          <a:prstGeom prst="rect">
            <a:avLst/>
          </a:prstGeom>
          <a:noFill/>
          <a:ln/>
        </p:spPr>
        <p:txBody>
          <a:bodyPr wrap="square" lIns="0" tIns="0" rIns="0" bIns="0" rtlCol="0" anchor="ctr"/>
          <a:lstStyle/>
          <a:p>
            <a:pPr algn="l" indent="0" marL="0">
              <a:buNone/>
            </a:pPr>
            <a:r>
              <a:rPr lang="en-US" sz="1400" dirty="0">
                <a:solidFill>
                  <a:srgbClr val="64748B"/>
                </a:solidFill>
                <a:latin typeface="Arial" pitchFamily="34" charset="0"/>
                <a:ea typeface="Arial" pitchFamily="34" charset="-122"/>
                <a:cs typeface="Arial" pitchFamily="34" charset="-120"/>
              </a:rPr>
              <a:t>One alert, end-to-end: Nitaqat + WPS</a:t>
            </a:r>
            <a:endParaRPr lang="en-US" sz="1400" dirty="0"/>
          </a:p>
        </p:txBody>
      </p:sp>
      <p:sp>
        <p:nvSpPr>
          <p:cNvPr id="6" name="Shape 4"/>
          <p:cNvSpPr/>
          <p:nvPr/>
        </p:nvSpPr>
        <p:spPr>
          <a:xfrm>
            <a:off x="4937760" y="2240280"/>
            <a:ext cx="6720840" cy="3977640"/>
          </a:xfrm>
          <a:prstGeom prst="roundRect">
            <a:avLst>
              <a:gd name="adj" fmla="val 2759"/>
            </a:avLst>
          </a:prstGeom>
          <a:solidFill>
            <a:srgbClr val="E7EBE4"/>
          </a:solidFill>
          <a:ln w="12700">
            <a:solidFill>
              <a:srgbClr val="C8D0C2"/>
            </a:solidFill>
            <a:prstDash val="solid"/>
          </a:ln>
        </p:spPr>
      </p:sp>
      <p:sp>
        <p:nvSpPr>
          <p:cNvPr id="7" name="Shape 5"/>
          <p:cNvSpPr/>
          <p:nvPr/>
        </p:nvSpPr>
        <p:spPr>
          <a:xfrm>
            <a:off x="4937760" y="2240280"/>
            <a:ext cx="6720840" cy="457200"/>
          </a:xfrm>
          <a:prstGeom prst="roundRect">
            <a:avLst>
              <a:gd name="adj" fmla="val 24000"/>
            </a:avLst>
          </a:prstGeom>
          <a:solidFill>
            <a:srgbClr val="075E54"/>
          </a:solidFill>
          <a:ln/>
        </p:spPr>
      </p:sp>
      <p:sp>
        <p:nvSpPr>
          <p:cNvPr id="8" name="Text 6"/>
          <p:cNvSpPr/>
          <p:nvPr/>
        </p:nvSpPr>
        <p:spPr>
          <a:xfrm>
            <a:off x="5120640" y="2240280"/>
            <a:ext cx="6355080" cy="457200"/>
          </a:xfrm>
          <a:prstGeom prst="rect">
            <a:avLst/>
          </a:prstGeom>
          <a:noFill/>
          <a:ln/>
        </p:spPr>
        <p:txBody>
          <a:bodyPr wrap="square" lIns="0" tIns="0" rIns="0" bIns="0" rtlCol="0" anchor="ctr"/>
          <a:lstStyle/>
          <a:p>
            <a:pPr rtl="1" algn="r" indent="0" marL="0">
              <a:buNone/>
            </a:pPr>
            <a:r>
              <a:rPr lang="en-US" sz="1200" b="1" dirty="0">
                <a:solidFill>
                  <a:srgbClr val="FFFFFF"/>
                </a:solidFill>
                <a:latin typeface="Arial" pitchFamily="34" charset="0"/>
                <a:ea typeface="Arial" pitchFamily="34" charset="-122"/>
                <a:cs typeface="Arial" pitchFamily="34" charset="-120"/>
              </a:rPr>
              <a:t>وكيل الامتثال — Business Partner  ✆</a:t>
            </a:r>
            <a:endParaRPr lang="en-US" sz="1200" dirty="0"/>
          </a:p>
        </p:txBody>
      </p:sp>
      <p:sp>
        <p:nvSpPr>
          <p:cNvPr id="9" name="Shape 7"/>
          <p:cNvSpPr/>
          <p:nvPr/>
        </p:nvSpPr>
        <p:spPr>
          <a:xfrm>
            <a:off x="6309360" y="2834640"/>
            <a:ext cx="5120640" cy="749808"/>
          </a:xfrm>
          <a:prstGeom prst="roundRect">
            <a:avLst>
              <a:gd name="adj" fmla="val 9756"/>
            </a:avLst>
          </a:prstGeom>
          <a:solidFill>
            <a:srgbClr val="FFFFFF"/>
          </a:solidFill>
          <a:ln w="12700">
            <a:solidFill>
              <a:srgbClr val="D8DDD3"/>
            </a:solidFill>
            <a:prstDash val="solid"/>
          </a:ln>
        </p:spPr>
      </p:sp>
      <p:sp>
        <p:nvSpPr>
          <p:cNvPr id="10" name="Text 8"/>
          <p:cNvSpPr/>
          <p:nvPr/>
        </p:nvSpPr>
        <p:spPr>
          <a:xfrm>
            <a:off x="6446520" y="2880360"/>
            <a:ext cx="4846320" cy="658368"/>
          </a:xfrm>
          <a:prstGeom prst="rect">
            <a:avLst/>
          </a:prstGeom>
          <a:noFill/>
          <a:ln/>
        </p:spPr>
        <p:txBody>
          <a:bodyPr wrap="square" lIns="0" tIns="0" rIns="0" bIns="0" rtlCol="0" anchor="ctr"/>
          <a:lstStyle/>
          <a:p>
            <a:pPr rtl="1" algn="r" indent="0" marL="0">
              <a:lnSpc>
                <a:spcPct val="102000"/>
              </a:lnSpc>
              <a:buNone/>
            </a:pPr>
            <a:r>
              <a:rPr lang="en-US" sz="1050" dirty="0">
                <a:solidFill>
                  <a:srgbClr val="1E293B"/>
                </a:solidFill>
                <a:latin typeface="Arial" pitchFamily="34" charset="0"/>
                <a:ea typeface="Arial" pitchFamily="34" charset="-122"/>
                <a:cs typeface="Arial" pitchFamily="34" charset="-120"/>
              </a:rPr>
              <a:t>⚠️ باستقالة أحمد (سعودي) وخروج راجيش النهائي المجدول، ستنزل نسبتك خلال 3 أسابيع إلى أخضر منخفض — سيتوقف إصدار التأشيرات.</a:t>
            </a:r>
            <a:endParaRPr lang="en-US" sz="1050" dirty="0"/>
          </a:p>
        </p:txBody>
      </p:sp>
      <p:sp>
        <p:nvSpPr>
          <p:cNvPr id="11" name="Shape 9"/>
          <p:cNvSpPr/>
          <p:nvPr/>
        </p:nvSpPr>
        <p:spPr>
          <a:xfrm>
            <a:off x="6309360" y="3712464"/>
            <a:ext cx="5120640" cy="749808"/>
          </a:xfrm>
          <a:prstGeom prst="roundRect">
            <a:avLst>
              <a:gd name="adj" fmla="val 9756"/>
            </a:avLst>
          </a:prstGeom>
          <a:solidFill>
            <a:srgbClr val="FFFFFF"/>
          </a:solidFill>
          <a:ln w="12700">
            <a:solidFill>
              <a:srgbClr val="D8DDD3"/>
            </a:solidFill>
            <a:prstDash val="solid"/>
          </a:ln>
        </p:spPr>
      </p:sp>
      <p:sp>
        <p:nvSpPr>
          <p:cNvPr id="12" name="Text 10"/>
          <p:cNvSpPr/>
          <p:nvPr/>
        </p:nvSpPr>
        <p:spPr>
          <a:xfrm>
            <a:off x="6446520" y="3758184"/>
            <a:ext cx="4846320" cy="658368"/>
          </a:xfrm>
          <a:prstGeom prst="rect">
            <a:avLst/>
          </a:prstGeom>
          <a:noFill/>
          <a:ln/>
        </p:spPr>
        <p:txBody>
          <a:bodyPr wrap="square" lIns="0" tIns="0" rIns="0" bIns="0" rtlCol="0" anchor="ctr"/>
          <a:lstStyle/>
          <a:p>
            <a:pPr rtl="1" algn="r" indent="0" marL="0">
              <a:lnSpc>
                <a:spcPct val="102000"/>
              </a:lnSpc>
              <a:buNone/>
            </a:pPr>
            <a:r>
              <a:rPr lang="en-US" sz="1050" dirty="0">
                <a:solidFill>
                  <a:srgbClr val="1E293B"/>
                </a:solidFill>
                <a:latin typeface="Arial" pitchFamily="34" charset="0"/>
                <a:ea typeface="Arial" pitchFamily="34" charset="-122"/>
                <a:cs typeface="Arial" pitchFamily="34" charset="-120"/>
              </a:rPr>
              <a:t>خياراتك: (أ) توظيف سعودي — جهّزت 3 مرشحين وخيار أجير · (ب) تأجيل الخروج شهرًا. أيهما تعتمد؟</a:t>
            </a:r>
            <a:endParaRPr lang="en-US" sz="1050" dirty="0"/>
          </a:p>
        </p:txBody>
      </p:sp>
      <p:sp>
        <p:nvSpPr>
          <p:cNvPr id="13" name="Shape 11"/>
          <p:cNvSpPr/>
          <p:nvPr/>
        </p:nvSpPr>
        <p:spPr>
          <a:xfrm>
            <a:off x="5166360" y="4590288"/>
            <a:ext cx="2286000" cy="457200"/>
          </a:xfrm>
          <a:prstGeom prst="roundRect">
            <a:avLst>
              <a:gd name="adj" fmla="val 16000"/>
            </a:avLst>
          </a:prstGeom>
          <a:solidFill>
            <a:srgbClr val="DCF8C6"/>
          </a:solidFill>
          <a:ln w="12700">
            <a:solidFill>
              <a:srgbClr val="C5E8A9"/>
            </a:solidFill>
            <a:prstDash val="solid"/>
          </a:ln>
        </p:spPr>
      </p:sp>
      <p:sp>
        <p:nvSpPr>
          <p:cNvPr id="14" name="Text 12"/>
          <p:cNvSpPr/>
          <p:nvPr/>
        </p:nvSpPr>
        <p:spPr>
          <a:xfrm>
            <a:off x="5303520" y="4636008"/>
            <a:ext cx="2011680" cy="365760"/>
          </a:xfrm>
          <a:prstGeom prst="rect">
            <a:avLst/>
          </a:prstGeom>
          <a:noFill/>
          <a:ln/>
        </p:spPr>
        <p:txBody>
          <a:bodyPr wrap="square" lIns="0" tIns="0" rIns="0" bIns="0" rtlCol="0" anchor="ctr"/>
          <a:lstStyle/>
          <a:p>
            <a:pPr rtl="1" algn="r" indent="0" marL="0">
              <a:lnSpc>
                <a:spcPct val="102000"/>
              </a:lnSpc>
              <a:buNone/>
            </a:pPr>
            <a:r>
              <a:rPr lang="en-US" sz="1050" dirty="0">
                <a:solidFill>
                  <a:srgbClr val="1E293B"/>
                </a:solidFill>
                <a:latin typeface="Arial" pitchFamily="34" charset="0"/>
                <a:ea typeface="Arial" pitchFamily="34" charset="-122"/>
                <a:cs typeface="Arial" pitchFamily="34" charset="-120"/>
              </a:rPr>
              <a:t>الخيار (أ) ✓</a:t>
            </a:r>
            <a:endParaRPr lang="en-US" sz="1050" dirty="0"/>
          </a:p>
        </p:txBody>
      </p:sp>
      <p:sp>
        <p:nvSpPr>
          <p:cNvPr id="15" name="Shape 13"/>
          <p:cNvSpPr/>
          <p:nvPr/>
        </p:nvSpPr>
        <p:spPr>
          <a:xfrm>
            <a:off x="6309360" y="5175504"/>
            <a:ext cx="5120640" cy="749808"/>
          </a:xfrm>
          <a:prstGeom prst="roundRect">
            <a:avLst>
              <a:gd name="adj" fmla="val 9756"/>
            </a:avLst>
          </a:prstGeom>
          <a:solidFill>
            <a:srgbClr val="FFFFFF"/>
          </a:solidFill>
          <a:ln w="12700">
            <a:solidFill>
              <a:srgbClr val="D8DDD3"/>
            </a:solidFill>
            <a:prstDash val="solid"/>
          </a:ln>
        </p:spPr>
      </p:sp>
      <p:sp>
        <p:nvSpPr>
          <p:cNvPr id="16" name="Text 14"/>
          <p:cNvSpPr/>
          <p:nvPr/>
        </p:nvSpPr>
        <p:spPr>
          <a:xfrm>
            <a:off x="6446520" y="5221224"/>
            <a:ext cx="4846320" cy="658368"/>
          </a:xfrm>
          <a:prstGeom prst="rect">
            <a:avLst/>
          </a:prstGeom>
          <a:noFill/>
          <a:ln/>
        </p:spPr>
        <p:txBody>
          <a:bodyPr wrap="square" lIns="0" tIns="0" rIns="0" bIns="0" rtlCol="0" anchor="ctr"/>
          <a:lstStyle/>
          <a:p>
            <a:pPr rtl="1" algn="r" indent="0" marL="0">
              <a:lnSpc>
                <a:spcPct val="102000"/>
              </a:lnSpc>
              <a:buNone/>
            </a:pPr>
            <a:r>
              <a:rPr lang="en-US" sz="1050" dirty="0">
                <a:solidFill>
                  <a:srgbClr val="1E293B"/>
                </a:solidFill>
                <a:latin typeface="Arial" pitchFamily="34" charset="0"/>
                <a:ea typeface="Arial" pitchFamily="34" charset="-122"/>
                <a:cs typeface="Arial" pitchFamily="34" charset="-120"/>
              </a:rPr>
              <a:t>تم. جهّزت العرض والعقد للتوثيق في قوى وأرسلته لاعتمادك. أتابع النسبة يوميًا — وسُجّل كل شيء في سجل التدقيق.</a:t>
            </a:r>
            <a:endParaRPr lang="en-US" sz="1050" dirty="0"/>
          </a:p>
        </p:txBody>
      </p:sp>
      <p:sp>
        <p:nvSpPr>
          <p:cNvPr id="17" name="Shape 15"/>
          <p:cNvSpPr/>
          <p:nvPr/>
        </p:nvSpPr>
        <p:spPr>
          <a:xfrm>
            <a:off x="548640" y="2240280"/>
            <a:ext cx="4069080" cy="3977640"/>
          </a:xfrm>
          <a:prstGeom prst="roundRect">
            <a:avLst>
              <a:gd name="adj" fmla="val 2069"/>
            </a:avLst>
          </a:prstGeom>
          <a:solidFill>
            <a:srgbClr val="F8FAFC"/>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8" name="Text 16"/>
          <p:cNvSpPr/>
          <p:nvPr/>
        </p:nvSpPr>
        <p:spPr>
          <a:xfrm>
            <a:off x="822960" y="2468880"/>
            <a:ext cx="3566160" cy="411480"/>
          </a:xfrm>
          <a:prstGeom prst="rect">
            <a:avLst/>
          </a:prstGeom>
          <a:noFill/>
          <a:ln/>
        </p:spPr>
        <p:txBody>
          <a:bodyPr wrap="square" lIns="0" tIns="0" rIns="0" bIns="0" rtlCol="0" anchor="t"/>
          <a:lstStyle/>
          <a:p>
            <a:pPr rtl="1" algn="r" indent="0" marL="0">
              <a:lnSpc>
                <a:spcPct val="105000"/>
              </a:lnSpc>
              <a:buNone/>
            </a:pPr>
            <a:r>
              <a:rPr lang="en-US" sz="1500" b="1" dirty="0">
                <a:solidFill>
                  <a:srgbClr val="1E293B"/>
                </a:solidFill>
                <a:latin typeface="Arial" pitchFamily="34" charset="0"/>
                <a:ea typeface="Arial" pitchFamily="34" charset="-122"/>
                <a:cs typeface="Arial" pitchFamily="34" charset="-120"/>
              </a:rPr>
              <a:t>حالة النطاق — قبل وبعد</a:t>
            </a:r>
            <a:endParaRPr lang="en-US" sz="1500" dirty="0"/>
          </a:p>
        </p:txBody>
      </p:sp>
      <p:sp>
        <p:nvSpPr>
          <p:cNvPr id="19" name="Shape 17"/>
          <p:cNvSpPr/>
          <p:nvPr/>
        </p:nvSpPr>
        <p:spPr>
          <a:xfrm>
            <a:off x="822960" y="3063240"/>
            <a:ext cx="3520440" cy="685800"/>
          </a:xfrm>
          <a:prstGeom prst="roundRect">
            <a:avLst>
              <a:gd name="adj" fmla="val 10667"/>
            </a:avLst>
          </a:prstGeom>
          <a:solidFill>
            <a:srgbClr val="FEE2E2"/>
          </a:solidFill>
          <a:ln w="12700">
            <a:solidFill>
              <a:srgbClr val="E2E8F0"/>
            </a:solidFill>
            <a:prstDash val="solid"/>
          </a:ln>
        </p:spPr>
      </p:sp>
      <p:sp>
        <p:nvSpPr>
          <p:cNvPr id="20" name="Text 18"/>
          <p:cNvSpPr/>
          <p:nvPr/>
        </p:nvSpPr>
        <p:spPr>
          <a:xfrm>
            <a:off x="1005840" y="3172968"/>
            <a:ext cx="3200400" cy="502920"/>
          </a:xfrm>
          <a:prstGeom prst="rect">
            <a:avLst/>
          </a:prstGeom>
          <a:noFill/>
          <a:ln/>
        </p:spPr>
        <p:txBody>
          <a:bodyPr wrap="square" lIns="0" tIns="0" rIns="0" bIns="0" rtlCol="0" anchor="ctr"/>
          <a:lstStyle/>
          <a:p>
            <a:pPr rtl="1" algn="r" indent="0" marL="0">
              <a:lnSpc>
                <a:spcPct val="105000"/>
              </a:lnSpc>
              <a:buNone/>
            </a:pPr>
            <a:r>
              <a:rPr lang="en-US" sz="1250" b="1" dirty="0">
                <a:solidFill>
                  <a:srgbClr val="DC2626"/>
                </a:solidFill>
                <a:latin typeface="Arial" pitchFamily="34" charset="0"/>
                <a:ea typeface="Arial" pitchFamily="34" charset="-122"/>
                <a:cs typeface="Arial" pitchFamily="34" charset="-120"/>
              </a:rPr>
              <a:t>بدون تدخل: أخضر منخفض ← أحمر</a:t>
            </a:r>
            <a:endParaRPr lang="en-US" sz="1250" dirty="0"/>
          </a:p>
        </p:txBody>
      </p:sp>
      <p:sp>
        <p:nvSpPr>
          <p:cNvPr id="21" name="Shape 19"/>
          <p:cNvSpPr/>
          <p:nvPr/>
        </p:nvSpPr>
        <p:spPr>
          <a:xfrm>
            <a:off x="822960" y="3977640"/>
            <a:ext cx="3520440" cy="685800"/>
          </a:xfrm>
          <a:prstGeom prst="roundRect">
            <a:avLst>
              <a:gd name="adj" fmla="val 10667"/>
            </a:avLst>
          </a:prstGeom>
          <a:solidFill>
            <a:srgbClr val="ECFDF5"/>
          </a:solidFill>
          <a:ln w="12700">
            <a:solidFill>
              <a:srgbClr val="E2E8F0"/>
            </a:solidFill>
            <a:prstDash val="solid"/>
          </a:ln>
        </p:spPr>
      </p:sp>
      <p:sp>
        <p:nvSpPr>
          <p:cNvPr id="22" name="Text 20"/>
          <p:cNvSpPr/>
          <p:nvPr/>
        </p:nvSpPr>
        <p:spPr>
          <a:xfrm>
            <a:off x="1005840" y="4087368"/>
            <a:ext cx="3200400" cy="502920"/>
          </a:xfrm>
          <a:prstGeom prst="rect">
            <a:avLst/>
          </a:prstGeom>
          <a:noFill/>
          <a:ln/>
        </p:spPr>
        <p:txBody>
          <a:bodyPr wrap="square" lIns="0" tIns="0" rIns="0" bIns="0" rtlCol="0" anchor="ctr"/>
          <a:lstStyle/>
          <a:p>
            <a:pPr rtl="1" algn="r" indent="0" marL="0">
              <a:lnSpc>
                <a:spcPct val="105000"/>
              </a:lnSpc>
              <a:buNone/>
            </a:pPr>
            <a:r>
              <a:rPr lang="en-US" sz="1250" b="1" dirty="0">
                <a:solidFill>
                  <a:srgbClr val="10B981"/>
                </a:solidFill>
                <a:latin typeface="Arial" pitchFamily="34" charset="0"/>
                <a:ea typeface="Arial" pitchFamily="34" charset="-122"/>
                <a:cs typeface="Arial" pitchFamily="34" charset="-120"/>
              </a:rPr>
              <a:t>بعد الإجراء: أخضر متوسط ✓</a:t>
            </a:r>
            <a:endParaRPr lang="en-US" sz="1250" dirty="0"/>
          </a:p>
        </p:txBody>
      </p:sp>
      <p:sp>
        <p:nvSpPr>
          <p:cNvPr id="23" name="Text 21"/>
          <p:cNvSpPr/>
          <p:nvPr/>
        </p:nvSpPr>
        <p:spPr>
          <a:xfrm>
            <a:off x="822960" y="5120640"/>
            <a:ext cx="3566160" cy="822960"/>
          </a:xfrm>
          <a:prstGeom prst="rect">
            <a:avLst/>
          </a:prstGeom>
          <a:noFill/>
          <a:ln/>
        </p:spPr>
        <p:txBody>
          <a:bodyPr wrap="square" lIns="0" tIns="0" rIns="0" bIns="0" rtlCol="0" anchor="t"/>
          <a:lstStyle/>
          <a:p>
            <a:pPr rtl="1" algn="r" indent="0" marL="0">
              <a:lnSpc>
                <a:spcPct val="115000"/>
              </a:lnSpc>
              <a:buNone/>
            </a:pPr>
            <a:r>
              <a:rPr lang="en-US" sz="1300" b="1" dirty="0">
                <a:solidFill>
                  <a:srgbClr val="0066CC"/>
                </a:solidFill>
                <a:latin typeface="Arial" pitchFamily="34" charset="0"/>
                <a:ea typeface="Arial" pitchFamily="34" charset="-122"/>
                <a:cs typeface="Arial" pitchFamily="34" charset="-120"/>
              </a:rPr>
              <a:t>من ثلاثة أيام بعد المشكلة… إلى ثلاثة أسابيع قبلها.</a:t>
            </a:r>
            <a:endParaRPr lang="en-US" sz="1300" dirty="0"/>
          </a:p>
        </p:txBody>
      </p:sp>
      <p:sp>
        <p:nvSpPr>
          <p:cNvPr id="24" name="Text 22"/>
          <p:cNvSpPr/>
          <p:nvPr/>
        </p:nvSpPr>
        <p:spPr>
          <a:xfrm>
            <a:off x="548640" y="6419088"/>
            <a:ext cx="7315200" cy="274320"/>
          </a:xfrm>
          <a:prstGeom prst="rect">
            <a:avLst/>
          </a:prstGeom>
          <a:noFill/>
          <a:ln/>
        </p:spPr>
        <p:txBody>
          <a:bodyPr wrap="square" lIns="0" tIns="0" rIns="0" bIns="0" rtlCol="0" anchor="ctr"/>
          <a:lstStyle/>
          <a:p>
            <a:pPr algn="l" indent="0" marL="0">
              <a:buNone/>
            </a:pPr>
            <a:r>
              <a:rPr lang="en-US" sz="900" dirty="0">
                <a:solidFill>
                  <a:srgbClr val="64748B"/>
                </a:solidFill>
                <a:latin typeface="Arial" pitchFamily="34" charset="0"/>
                <a:ea typeface="Arial" pitchFamily="34" charset="-122"/>
                <a:cs typeface="Arial" pitchFamily="34" charset="-120"/>
              </a:rPr>
              <a:t>Business Partner · AI Compliance Agents</a:t>
            </a:r>
            <a:endParaRPr lang="en-US" sz="900" dirty="0"/>
          </a:p>
        </p:txBody>
      </p:sp>
      <p:sp>
        <p:nvSpPr>
          <p:cNvPr id="25" name="Text 23"/>
          <p:cNvSpPr/>
          <p:nvPr/>
        </p:nvSpPr>
        <p:spPr>
          <a:xfrm>
            <a:off x="10634472" y="6419088"/>
            <a:ext cx="10058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332720" y="-1280160"/>
            <a:ext cx="3291840" cy="3291840"/>
          </a:xfrm>
          <a:prstGeom prst="ellipse">
            <a:avLst/>
          </a:prstGeom>
          <a:solidFill>
            <a:srgbClr val="F1F5F9"/>
          </a:solidFill>
          <a:ln/>
        </p:spPr>
      </p:sp>
      <p:sp>
        <p:nvSpPr>
          <p:cNvPr id="3" name="Text 1"/>
          <p:cNvSpPr/>
          <p:nvPr/>
        </p:nvSpPr>
        <p:spPr>
          <a:xfrm>
            <a:off x="548640" y="548640"/>
            <a:ext cx="9144000" cy="274320"/>
          </a:xfrm>
          <a:prstGeom prst="rect">
            <a:avLst/>
          </a:prstGeom>
          <a:noFill/>
          <a:ln/>
        </p:spPr>
        <p:txBody>
          <a:bodyPr wrap="square" lIns="0" tIns="0" rIns="0" bIns="0" rtlCol="0" anchor="ctr"/>
          <a:lstStyle/>
          <a:p>
            <a:pPr algn="l" indent="0" marL="0">
              <a:buNone/>
            </a:pPr>
            <a:r>
              <a:rPr lang="en-US" sz="1100" b="1" spc="300" kern="0" dirty="0">
                <a:solidFill>
                  <a:srgbClr val="0066CC"/>
                </a:solidFill>
                <a:latin typeface="Arial" pitchFamily="34" charset="0"/>
                <a:ea typeface="Arial" pitchFamily="34" charset="-122"/>
                <a:cs typeface="Arial" pitchFamily="34" charset="-120"/>
              </a:rPr>
              <a:t>WHY NOW · لماذا الآن</a:t>
            </a:r>
            <a:endParaRPr lang="en-US" sz="1100" dirty="0"/>
          </a:p>
        </p:txBody>
      </p:sp>
      <p:sp>
        <p:nvSpPr>
          <p:cNvPr id="4" name="Text 2"/>
          <p:cNvSpPr/>
          <p:nvPr/>
        </p:nvSpPr>
        <p:spPr>
          <a:xfrm>
            <a:off x="548640" y="1005840"/>
            <a:ext cx="11091672" cy="777240"/>
          </a:xfrm>
          <a:prstGeom prst="rect">
            <a:avLst/>
          </a:prstGeom>
          <a:noFill/>
          <a:ln/>
        </p:spPr>
        <p:txBody>
          <a:bodyPr wrap="square" lIns="0" tIns="0" rIns="0" bIns="0" rtlCol="0" anchor="ctr"/>
          <a:lstStyle/>
          <a:p>
            <a:pPr rtl="1" algn="r" indent="0" marL="0">
              <a:buNone/>
            </a:pPr>
            <a:r>
              <a:rPr lang="en-US" sz="3000" b="1" dirty="0">
                <a:solidFill>
                  <a:srgbClr val="1E293B"/>
                </a:solidFill>
                <a:latin typeface="Arial" pitchFamily="34" charset="0"/>
                <a:ea typeface="Arial" pitchFamily="34" charset="-122"/>
                <a:cs typeface="Arial" pitchFamily="34" charset="-120"/>
              </a:rPr>
              <a:t>ثلاثة أسباب تجعل التوقيت مثاليًا</a:t>
            </a:r>
            <a:endParaRPr lang="en-US" sz="3000" dirty="0"/>
          </a:p>
        </p:txBody>
      </p:sp>
      <p:sp>
        <p:nvSpPr>
          <p:cNvPr id="5" name="Text 3"/>
          <p:cNvSpPr/>
          <p:nvPr/>
        </p:nvSpPr>
        <p:spPr>
          <a:xfrm>
            <a:off x="548640" y="1755648"/>
            <a:ext cx="11091672" cy="365760"/>
          </a:xfrm>
          <a:prstGeom prst="rect">
            <a:avLst/>
          </a:prstGeom>
          <a:noFill/>
          <a:ln/>
        </p:spPr>
        <p:txBody>
          <a:bodyPr wrap="square" lIns="0" tIns="0" rIns="0" bIns="0" rtlCol="0" anchor="ctr"/>
          <a:lstStyle/>
          <a:p>
            <a:pPr algn="l" indent="0" marL="0">
              <a:buNone/>
            </a:pPr>
            <a:r>
              <a:rPr lang="en-US" sz="1400" dirty="0">
                <a:solidFill>
                  <a:srgbClr val="64748B"/>
                </a:solidFill>
                <a:latin typeface="Arial" pitchFamily="34" charset="0"/>
                <a:ea typeface="Arial" pitchFamily="34" charset="-122"/>
                <a:cs typeface="Arial" pitchFamily="34" charset="-120"/>
              </a:rPr>
              <a:t>Three reasons this is the moment</a:t>
            </a:r>
            <a:endParaRPr lang="en-US" sz="1400" dirty="0"/>
          </a:p>
        </p:txBody>
      </p:sp>
      <p:sp>
        <p:nvSpPr>
          <p:cNvPr id="6" name="Shape 4"/>
          <p:cNvSpPr/>
          <p:nvPr/>
        </p:nvSpPr>
        <p:spPr>
          <a:xfrm>
            <a:off x="548640" y="2331720"/>
            <a:ext cx="3429000" cy="2286000"/>
          </a:xfrm>
          <a:prstGeom prst="roundRect">
            <a:avLst>
              <a:gd name="adj" fmla="val 3600"/>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7" name="Shape 5"/>
          <p:cNvSpPr/>
          <p:nvPr/>
        </p:nvSpPr>
        <p:spPr>
          <a:xfrm>
            <a:off x="3291840" y="2514600"/>
            <a:ext cx="457200" cy="457200"/>
          </a:xfrm>
          <a:prstGeom prst="ellipse">
            <a:avLst/>
          </a:prstGeom>
          <a:solidFill>
            <a:srgbClr val="0066CC"/>
          </a:solidFill>
          <a:ln/>
        </p:spPr>
      </p:sp>
      <p:sp>
        <p:nvSpPr>
          <p:cNvPr id="8" name="Text 6"/>
          <p:cNvSpPr/>
          <p:nvPr/>
        </p:nvSpPr>
        <p:spPr>
          <a:xfrm>
            <a:off x="3291840" y="2514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804672" y="2578608"/>
            <a:ext cx="2377440" cy="777240"/>
          </a:xfrm>
          <a:prstGeom prst="rect">
            <a:avLst/>
          </a:prstGeom>
          <a:noFill/>
          <a:ln/>
        </p:spPr>
        <p:txBody>
          <a:bodyPr wrap="square" lIns="0" tIns="0" rIns="0" bIns="0" rtlCol="0" anchor="t"/>
          <a:lstStyle/>
          <a:p>
            <a:pPr rtl="1" algn="r" indent="0" marL="0">
              <a:lnSpc>
                <a:spcPct val="105000"/>
              </a:lnSpc>
              <a:buNone/>
            </a:pPr>
            <a:r>
              <a:rPr lang="en-US" sz="1550" b="1" dirty="0">
                <a:solidFill>
                  <a:srgbClr val="0066CC"/>
                </a:solidFill>
                <a:latin typeface="Arial" pitchFamily="34" charset="0"/>
                <a:ea typeface="Arial" pitchFamily="34" charset="-122"/>
                <a:cs typeface="Arial" pitchFamily="34" charset="-120"/>
              </a:rPr>
              <a:t>التشديد التنظيمي يتصاعد</a:t>
            </a:r>
            <a:endParaRPr lang="en-US" sz="1550" dirty="0"/>
          </a:p>
        </p:txBody>
      </p:sp>
      <p:sp>
        <p:nvSpPr>
          <p:cNvPr id="10" name="Text 8"/>
          <p:cNvSpPr/>
          <p:nvPr/>
        </p:nvSpPr>
        <p:spPr>
          <a:xfrm>
            <a:off x="804672" y="3383280"/>
            <a:ext cx="2971800" cy="1143000"/>
          </a:xfrm>
          <a:prstGeom prst="rect">
            <a:avLst/>
          </a:prstGeom>
          <a:noFill/>
          <a:ln/>
        </p:spPr>
        <p:txBody>
          <a:bodyPr wrap="square" lIns="0" tIns="0" rIns="0" bIns="0" rtlCol="0" anchor="t"/>
          <a:lstStyle/>
          <a:p>
            <a:pPr rtl="1" algn="r" indent="0" marL="0">
              <a:lnSpc>
                <a:spcPct val="112000"/>
              </a:lnSpc>
              <a:buNone/>
            </a:pPr>
            <a:r>
              <a:rPr lang="en-US" sz="1200" dirty="0">
                <a:solidFill>
                  <a:srgbClr val="334155"/>
                </a:solidFill>
                <a:latin typeface="Arial" pitchFamily="34" charset="0"/>
                <a:ea typeface="Arial" pitchFamily="34" charset="-122"/>
                <a:cs typeface="Arial" pitchFamily="34" charset="-120"/>
              </a:rPr>
              <a:t>توثيق العقود يرتفع من 85% إلى 90% خلال 2026، وتوسّع مستمر في السعودة وحماية الأجور — كل تشديد يعني منشآت أكثر تحتاجنا.</a:t>
            </a:r>
            <a:endParaRPr lang="en-US" sz="1200" dirty="0"/>
          </a:p>
        </p:txBody>
      </p:sp>
      <p:sp>
        <p:nvSpPr>
          <p:cNvPr id="11" name="Shape 9"/>
          <p:cNvSpPr/>
          <p:nvPr/>
        </p:nvSpPr>
        <p:spPr>
          <a:xfrm>
            <a:off x="4251960" y="2331720"/>
            <a:ext cx="3429000" cy="2286000"/>
          </a:xfrm>
          <a:prstGeom prst="roundRect">
            <a:avLst>
              <a:gd name="adj" fmla="val 3600"/>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2" name="Shape 10"/>
          <p:cNvSpPr/>
          <p:nvPr/>
        </p:nvSpPr>
        <p:spPr>
          <a:xfrm>
            <a:off x="6995160" y="2514600"/>
            <a:ext cx="457200" cy="457200"/>
          </a:xfrm>
          <a:prstGeom prst="ellipse">
            <a:avLst/>
          </a:prstGeom>
          <a:solidFill>
            <a:srgbClr val="0066CC"/>
          </a:solidFill>
          <a:ln/>
        </p:spPr>
      </p:sp>
      <p:sp>
        <p:nvSpPr>
          <p:cNvPr id="13" name="Text 11"/>
          <p:cNvSpPr/>
          <p:nvPr/>
        </p:nvSpPr>
        <p:spPr>
          <a:xfrm>
            <a:off x="6995160" y="2514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p:nvPr/>
        </p:nvSpPr>
        <p:spPr>
          <a:xfrm>
            <a:off x="4507992" y="2578608"/>
            <a:ext cx="2377440" cy="777240"/>
          </a:xfrm>
          <a:prstGeom prst="rect">
            <a:avLst/>
          </a:prstGeom>
          <a:noFill/>
          <a:ln/>
        </p:spPr>
        <p:txBody>
          <a:bodyPr wrap="square" lIns="0" tIns="0" rIns="0" bIns="0" rtlCol="0" anchor="t"/>
          <a:lstStyle/>
          <a:p>
            <a:pPr rtl="1" algn="r" indent="0" marL="0">
              <a:lnSpc>
                <a:spcPct val="105000"/>
              </a:lnSpc>
              <a:buNone/>
            </a:pPr>
            <a:r>
              <a:rPr lang="en-US" sz="1550" b="1" dirty="0">
                <a:solidFill>
                  <a:srgbClr val="0066CC"/>
                </a:solidFill>
                <a:latin typeface="Arial" pitchFamily="34" charset="0"/>
                <a:ea typeface="Arial" pitchFamily="34" charset="-122"/>
                <a:cs typeface="Arial" pitchFamily="34" charset="-120"/>
              </a:rPr>
              <a:t>المنصات نفسها رقمية</a:t>
            </a:r>
            <a:endParaRPr lang="en-US" sz="1550" dirty="0"/>
          </a:p>
        </p:txBody>
      </p:sp>
      <p:sp>
        <p:nvSpPr>
          <p:cNvPr id="15" name="Text 13"/>
          <p:cNvSpPr/>
          <p:nvPr/>
        </p:nvSpPr>
        <p:spPr>
          <a:xfrm>
            <a:off x="4507992" y="3383280"/>
            <a:ext cx="2971800" cy="1143000"/>
          </a:xfrm>
          <a:prstGeom prst="rect">
            <a:avLst/>
          </a:prstGeom>
          <a:noFill/>
          <a:ln/>
        </p:spPr>
        <p:txBody>
          <a:bodyPr wrap="square" lIns="0" tIns="0" rIns="0" bIns="0" rtlCol="0" anchor="t"/>
          <a:lstStyle/>
          <a:p>
            <a:pPr rtl="1" algn="r" indent="0" marL="0">
              <a:lnSpc>
                <a:spcPct val="112000"/>
              </a:lnSpc>
              <a:buNone/>
            </a:pPr>
            <a:r>
              <a:rPr lang="en-US" sz="1200" dirty="0">
                <a:solidFill>
                  <a:srgbClr val="334155"/>
                </a:solidFill>
                <a:latin typeface="Arial" pitchFamily="34" charset="0"/>
                <a:ea typeface="Arial" pitchFamily="34" charset="-122"/>
                <a:cs typeface="Arial" pitchFamily="34" charset="-120"/>
              </a:rPr>
              <a:t>قوى ومقيم والتأمينات ومدد بنية رقمية/API — وهذا بالضبط ما يجعلها قابلة للأتمتة بالوكلاء.</a:t>
            </a:r>
            <a:endParaRPr lang="en-US" sz="1200" dirty="0"/>
          </a:p>
        </p:txBody>
      </p:sp>
      <p:sp>
        <p:nvSpPr>
          <p:cNvPr id="16" name="Shape 14"/>
          <p:cNvSpPr/>
          <p:nvPr/>
        </p:nvSpPr>
        <p:spPr>
          <a:xfrm>
            <a:off x="7955280" y="2331720"/>
            <a:ext cx="3429000" cy="2286000"/>
          </a:xfrm>
          <a:prstGeom prst="roundRect">
            <a:avLst>
              <a:gd name="adj" fmla="val 3600"/>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7" name="Shape 15"/>
          <p:cNvSpPr/>
          <p:nvPr/>
        </p:nvSpPr>
        <p:spPr>
          <a:xfrm>
            <a:off x="10698480" y="2514600"/>
            <a:ext cx="457200" cy="457200"/>
          </a:xfrm>
          <a:prstGeom prst="ellipse">
            <a:avLst/>
          </a:prstGeom>
          <a:solidFill>
            <a:srgbClr val="0066CC"/>
          </a:solidFill>
          <a:ln/>
        </p:spPr>
      </p:sp>
      <p:sp>
        <p:nvSpPr>
          <p:cNvPr id="18" name="Text 16"/>
          <p:cNvSpPr/>
          <p:nvPr/>
        </p:nvSpPr>
        <p:spPr>
          <a:xfrm>
            <a:off x="10698480" y="2514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9" name="Text 17"/>
          <p:cNvSpPr/>
          <p:nvPr/>
        </p:nvSpPr>
        <p:spPr>
          <a:xfrm>
            <a:off x="8211312" y="2578608"/>
            <a:ext cx="2377440" cy="777240"/>
          </a:xfrm>
          <a:prstGeom prst="rect">
            <a:avLst/>
          </a:prstGeom>
          <a:noFill/>
          <a:ln/>
        </p:spPr>
        <p:txBody>
          <a:bodyPr wrap="square" lIns="0" tIns="0" rIns="0" bIns="0" rtlCol="0" anchor="t"/>
          <a:lstStyle/>
          <a:p>
            <a:pPr rtl="1" algn="r" indent="0" marL="0">
              <a:lnSpc>
                <a:spcPct val="105000"/>
              </a:lnSpc>
              <a:buNone/>
            </a:pPr>
            <a:r>
              <a:rPr lang="en-US" sz="1550" b="1" dirty="0">
                <a:solidFill>
                  <a:srgbClr val="0066CC"/>
                </a:solidFill>
                <a:latin typeface="Arial" pitchFamily="34" charset="0"/>
                <a:ea typeface="Arial" pitchFamily="34" charset="-122"/>
                <a:cs typeface="Arial" pitchFamily="34" charset="-120"/>
              </a:rPr>
              <a:t>لا يوجد لاعب Agent-native</a:t>
            </a:r>
            <a:endParaRPr lang="en-US" sz="1550" dirty="0"/>
          </a:p>
        </p:txBody>
      </p:sp>
      <p:sp>
        <p:nvSpPr>
          <p:cNvPr id="20" name="Text 18"/>
          <p:cNvSpPr/>
          <p:nvPr/>
        </p:nvSpPr>
        <p:spPr>
          <a:xfrm>
            <a:off x="8211312" y="3383280"/>
            <a:ext cx="2971800" cy="1143000"/>
          </a:xfrm>
          <a:prstGeom prst="rect">
            <a:avLst/>
          </a:prstGeom>
          <a:noFill/>
          <a:ln/>
        </p:spPr>
        <p:txBody>
          <a:bodyPr wrap="square" lIns="0" tIns="0" rIns="0" bIns="0" rtlCol="0" anchor="t"/>
          <a:lstStyle/>
          <a:p>
            <a:pPr rtl="1" algn="r" indent="0" marL="0">
              <a:lnSpc>
                <a:spcPct val="112000"/>
              </a:lnSpc>
              <a:buNone/>
            </a:pPr>
            <a:r>
              <a:rPr lang="en-US" sz="1200" dirty="0">
                <a:solidFill>
                  <a:srgbClr val="334155"/>
                </a:solidFill>
                <a:latin typeface="Arial" pitchFamily="34" charset="0"/>
                <a:ea typeface="Arial" pitchFamily="34" charset="-122"/>
                <a:cs typeface="Arial" pitchFamily="34" charset="-120"/>
              </a:rPr>
              <a:t>الموجود مكاتب استشارات يدوية أو أدوات نقطية (رواتب/HRMS). المقعد فارغ.</a:t>
            </a:r>
            <a:endParaRPr lang="en-US" sz="1200" dirty="0"/>
          </a:p>
        </p:txBody>
      </p:sp>
      <p:sp>
        <p:nvSpPr>
          <p:cNvPr id="21" name="Shape 19"/>
          <p:cNvSpPr/>
          <p:nvPr/>
        </p:nvSpPr>
        <p:spPr>
          <a:xfrm>
            <a:off x="548640" y="4892040"/>
            <a:ext cx="11091672" cy="960120"/>
          </a:xfrm>
          <a:prstGeom prst="roundRect">
            <a:avLst>
              <a:gd name="adj" fmla="val 8571"/>
            </a:avLst>
          </a:prstGeom>
          <a:solidFill>
            <a:srgbClr val="0F172A"/>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22" name="Text 20"/>
          <p:cNvSpPr/>
          <p:nvPr/>
        </p:nvSpPr>
        <p:spPr>
          <a:xfrm>
            <a:off x="914400" y="5029200"/>
            <a:ext cx="1554480" cy="502920"/>
          </a:xfrm>
          <a:prstGeom prst="rect">
            <a:avLst/>
          </a:prstGeom>
          <a:noFill/>
          <a:ln/>
        </p:spPr>
        <p:txBody>
          <a:bodyPr wrap="square" lIns="0" tIns="0" rIns="0" bIns="0" rtlCol="0" anchor="ctr"/>
          <a:lstStyle/>
          <a:p>
            <a:pPr algn="l" indent="0" marL="0">
              <a:buNone/>
            </a:pPr>
            <a:r>
              <a:rPr lang="en-US" sz="2600" b="1" dirty="0">
                <a:solidFill>
                  <a:srgbClr val="10B981"/>
                </a:solidFill>
                <a:latin typeface="Arial" pitchFamily="34" charset="0"/>
                <a:ea typeface="Arial" pitchFamily="34" charset="-122"/>
                <a:cs typeface="Arial" pitchFamily="34" charset="-120"/>
              </a:rPr>
              <a:t>90%</a:t>
            </a:r>
            <a:endParaRPr lang="en-US" sz="2600" dirty="0"/>
          </a:p>
        </p:txBody>
      </p:sp>
      <p:sp>
        <p:nvSpPr>
          <p:cNvPr id="23" name="Text 21"/>
          <p:cNvSpPr/>
          <p:nvPr/>
        </p:nvSpPr>
        <p:spPr>
          <a:xfrm>
            <a:off x="2286000" y="5074920"/>
            <a:ext cx="2103120" cy="502920"/>
          </a:xfrm>
          <a:prstGeom prst="rect">
            <a:avLst/>
          </a:prstGeom>
          <a:noFill/>
          <a:ln/>
        </p:spPr>
        <p:txBody>
          <a:bodyPr wrap="square" lIns="0" tIns="0" rIns="0" bIns="0" rtlCol="0" anchor="ctr"/>
          <a:lstStyle/>
          <a:p>
            <a:pPr rtl="1" algn="r" indent="0" marL="0">
              <a:lnSpc>
                <a:spcPct val="105000"/>
              </a:lnSpc>
              <a:buNone/>
            </a:pPr>
            <a:r>
              <a:rPr lang="en-US" sz="1150" dirty="0">
                <a:solidFill>
                  <a:srgbClr val="D5DEEA"/>
                </a:solidFill>
                <a:latin typeface="Arial" pitchFamily="34" charset="0"/>
                <a:ea typeface="Arial" pitchFamily="34" charset="-122"/>
                <a:cs typeface="Arial" pitchFamily="34" charset="-120"/>
              </a:rPr>
              <a:t>توثيق العقود بنهاية 2026</a:t>
            </a:r>
            <a:endParaRPr lang="en-US" sz="1150" dirty="0"/>
          </a:p>
        </p:txBody>
      </p:sp>
      <p:sp>
        <p:nvSpPr>
          <p:cNvPr id="24" name="Text 22"/>
          <p:cNvSpPr/>
          <p:nvPr/>
        </p:nvSpPr>
        <p:spPr>
          <a:xfrm>
            <a:off x="4526280" y="5029200"/>
            <a:ext cx="1554480" cy="502920"/>
          </a:xfrm>
          <a:prstGeom prst="rect">
            <a:avLst/>
          </a:prstGeom>
          <a:noFill/>
          <a:ln/>
        </p:spPr>
        <p:txBody>
          <a:bodyPr wrap="square" lIns="0" tIns="0" rIns="0" bIns="0" rtlCol="0" anchor="ctr"/>
          <a:lstStyle/>
          <a:p>
            <a:pPr algn="l" indent="0" marL="0">
              <a:buNone/>
            </a:pPr>
            <a:r>
              <a:rPr lang="en-US" sz="2600" b="1" dirty="0">
                <a:solidFill>
                  <a:srgbClr val="10B981"/>
                </a:solidFill>
                <a:latin typeface="Arial" pitchFamily="34" charset="0"/>
                <a:ea typeface="Arial" pitchFamily="34" charset="-122"/>
                <a:cs typeface="Arial" pitchFamily="34" charset="-120"/>
              </a:rPr>
              <a:t>2M+</a:t>
            </a:r>
            <a:endParaRPr lang="en-US" sz="2600" dirty="0"/>
          </a:p>
        </p:txBody>
      </p:sp>
      <p:sp>
        <p:nvSpPr>
          <p:cNvPr id="25" name="Text 23"/>
          <p:cNvSpPr/>
          <p:nvPr/>
        </p:nvSpPr>
        <p:spPr>
          <a:xfrm>
            <a:off x="5897880" y="5074920"/>
            <a:ext cx="2103120" cy="502920"/>
          </a:xfrm>
          <a:prstGeom prst="rect">
            <a:avLst/>
          </a:prstGeom>
          <a:noFill/>
          <a:ln/>
        </p:spPr>
        <p:txBody>
          <a:bodyPr wrap="square" lIns="0" tIns="0" rIns="0" bIns="0" rtlCol="0" anchor="ctr"/>
          <a:lstStyle/>
          <a:p>
            <a:pPr rtl="1" algn="r" indent="0" marL="0">
              <a:lnSpc>
                <a:spcPct val="105000"/>
              </a:lnSpc>
              <a:buNone/>
            </a:pPr>
            <a:r>
              <a:rPr lang="en-US" sz="1150" dirty="0">
                <a:solidFill>
                  <a:srgbClr val="D5DEEA"/>
                </a:solidFill>
                <a:latin typeface="Arial" pitchFamily="34" charset="0"/>
                <a:ea typeface="Arial" pitchFamily="34" charset="-122"/>
                <a:cs typeface="Arial" pitchFamily="34" charset="-120"/>
              </a:rPr>
              <a:t>منشأة على قوى</a:t>
            </a:r>
            <a:endParaRPr lang="en-US" sz="1150" dirty="0"/>
          </a:p>
        </p:txBody>
      </p:sp>
      <p:sp>
        <p:nvSpPr>
          <p:cNvPr id="26" name="Text 24"/>
          <p:cNvSpPr/>
          <p:nvPr/>
        </p:nvSpPr>
        <p:spPr>
          <a:xfrm>
            <a:off x="8138160" y="5029200"/>
            <a:ext cx="1554480" cy="502920"/>
          </a:xfrm>
          <a:prstGeom prst="rect">
            <a:avLst/>
          </a:prstGeom>
          <a:noFill/>
          <a:ln/>
        </p:spPr>
        <p:txBody>
          <a:bodyPr wrap="square" lIns="0" tIns="0" rIns="0" bIns="0" rtlCol="0" anchor="ctr"/>
          <a:lstStyle/>
          <a:p>
            <a:pPr algn="l" indent="0" marL="0">
              <a:buNone/>
            </a:pPr>
            <a:r>
              <a:rPr lang="en-US" sz="2600" b="1" dirty="0">
                <a:solidFill>
                  <a:srgbClr val="10B981"/>
                </a:solidFill>
                <a:latin typeface="Arial" pitchFamily="34" charset="0"/>
                <a:ea typeface="Arial" pitchFamily="34" charset="-122"/>
                <a:cs typeface="Arial" pitchFamily="34" charset="-120"/>
              </a:rPr>
              <a:t>0</a:t>
            </a:r>
            <a:endParaRPr lang="en-US" sz="2600" dirty="0"/>
          </a:p>
        </p:txBody>
      </p:sp>
      <p:sp>
        <p:nvSpPr>
          <p:cNvPr id="27" name="Text 25"/>
          <p:cNvSpPr/>
          <p:nvPr/>
        </p:nvSpPr>
        <p:spPr>
          <a:xfrm>
            <a:off x="9509760" y="5074920"/>
            <a:ext cx="2103120" cy="502920"/>
          </a:xfrm>
          <a:prstGeom prst="rect">
            <a:avLst/>
          </a:prstGeom>
          <a:noFill/>
          <a:ln/>
        </p:spPr>
        <p:txBody>
          <a:bodyPr wrap="square" lIns="0" tIns="0" rIns="0" bIns="0" rtlCol="0" anchor="ctr"/>
          <a:lstStyle/>
          <a:p>
            <a:pPr rtl="1" algn="r" indent="0" marL="0">
              <a:lnSpc>
                <a:spcPct val="105000"/>
              </a:lnSpc>
              <a:buNone/>
            </a:pPr>
            <a:r>
              <a:rPr lang="en-US" sz="1150" dirty="0">
                <a:solidFill>
                  <a:srgbClr val="D5DEEA"/>
                </a:solidFill>
                <a:latin typeface="Arial" pitchFamily="34" charset="0"/>
                <a:ea typeface="Arial" pitchFamily="34" charset="-122"/>
                <a:cs typeface="Arial" pitchFamily="34" charset="-120"/>
              </a:rPr>
              <a:t>منافس Agent-native</a:t>
            </a:r>
            <a:endParaRPr lang="en-US" sz="1150" dirty="0"/>
          </a:p>
        </p:txBody>
      </p:sp>
      <p:sp>
        <p:nvSpPr>
          <p:cNvPr id="28" name="Text 26"/>
          <p:cNvSpPr/>
          <p:nvPr/>
        </p:nvSpPr>
        <p:spPr>
          <a:xfrm>
            <a:off x="548640" y="6419088"/>
            <a:ext cx="7315200" cy="274320"/>
          </a:xfrm>
          <a:prstGeom prst="rect">
            <a:avLst/>
          </a:prstGeom>
          <a:noFill/>
          <a:ln/>
        </p:spPr>
        <p:txBody>
          <a:bodyPr wrap="square" lIns="0" tIns="0" rIns="0" bIns="0" rtlCol="0" anchor="ctr"/>
          <a:lstStyle/>
          <a:p>
            <a:pPr algn="l" indent="0" marL="0">
              <a:buNone/>
            </a:pPr>
            <a:r>
              <a:rPr lang="en-US" sz="900" dirty="0">
                <a:solidFill>
                  <a:srgbClr val="64748B"/>
                </a:solidFill>
                <a:latin typeface="Arial" pitchFamily="34" charset="0"/>
                <a:ea typeface="Arial" pitchFamily="34" charset="-122"/>
                <a:cs typeface="Arial" pitchFamily="34" charset="-120"/>
              </a:rPr>
              <a:t>Business Partner · AI Compliance Agents</a:t>
            </a:r>
            <a:endParaRPr lang="en-US" sz="900" dirty="0"/>
          </a:p>
        </p:txBody>
      </p:sp>
      <p:sp>
        <p:nvSpPr>
          <p:cNvPr id="29" name="Text 27"/>
          <p:cNvSpPr/>
          <p:nvPr/>
        </p:nvSpPr>
        <p:spPr>
          <a:xfrm>
            <a:off x="10634472" y="6419088"/>
            <a:ext cx="10058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332720" y="-1280160"/>
            <a:ext cx="3291840" cy="3291840"/>
          </a:xfrm>
          <a:prstGeom prst="ellipse">
            <a:avLst/>
          </a:prstGeom>
          <a:solidFill>
            <a:srgbClr val="F1F5F9"/>
          </a:solidFill>
          <a:ln/>
        </p:spPr>
      </p:sp>
      <p:sp>
        <p:nvSpPr>
          <p:cNvPr id="3" name="Text 1"/>
          <p:cNvSpPr/>
          <p:nvPr/>
        </p:nvSpPr>
        <p:spPr>
          <a:xfrm>
            <a:off x="548640" y="548640"/>
            <a:ext cx="9144000" cy="274320"/>
          </a:xfrm>
          <a:prstGeom prst="rect">
            <a:avLst/>
          </a:prstGeom>
          <a:noFill/>
          <a:ln/>
        </p:spPr>
        <p:txBody>
          <a:bodyPr wrap="square" lIns="0" tIns="0" rIns="0" bIns="0" rtlCol="0" anchor="ctr"/>
          <a:lstStyle/>
          <a:p>
            <a:pPr algn="l" indent="0" marL="0">
              <a:buNone/>
            </a:pPr>
            <a:r>
              <a:rPr lang="en-US" sz="1100" b="1" spc="300" kern="0" dirty="0">
                <a:solidFill>
                  <a:srgbClr val="0066CC"/>
                </a:solidFill>
                <a:latin typeface="Arial" pitchFamily="34" charset="0"/>
                <a:ea typeface="Arial" pitchFamily="34" charset="-122"/>
                <a:cs typeface="Arial" pitchFamily="34" charset="-120"/>
              </a:rPr>
              <a:t>MARKET · السوق والشريحة المستهدفة</a:t>
            </a:r>
            <a:endParaRPr lang="en-US" sz="1100" dirty="0"/>
          </a:p>
        </p:txBody>
      </p:sp>
      <p:sp>
        <p:nvSpPr>
          <p:cNvPr id="4" name="Text 2"/>
          <p:cNvSpPr/>
          <p:nvPr/>
        </p:nvSpPr>
        <p:spPr>
          <a:xfrm>
            <a:off x="548640" y="1005840"/>
            <a:ext cx="11091672" cy="777240"/>
          </a:xfrm>
          <a:prstGeom prst="rect">
            <a:avLst/>
          </a:prstGeom>
          <a:noFill/>
          <a:ln/>
        </p:spPr>
        <p:txBody>
          <a:bodyPr wrap="square" lIns="0" tIns="0" rIns="0" bIns="0" rtlCol="0" anchor="ctr"/>
          <a:lstStyle/>
          <a:p>
            <a:pPr rtl="1" algn="r" indent="0" marL="0">
              <a:buNone/>
            </a:pPr>
            <a:r>
              <a:rPr lang="en-US" sz="3000" b="1" dirty="0">
                <a:solidFill>
                  <a:srgbClr val="1E293B"/>
                </a:solidFill>
                <a:latin typeface="Arial" pitchFamily="34" charset="0"/>
                <a:ea typeface="Arial" pitchFamily="34" charset="-122"/>
                <a:cs typeface="Arial" pitchFamily="34" charset="-120"/>
              </a:rPr>
              <a:t>كل صاحب عمل عميل محتمل — ونبدأ من الأكثر ألمًا</a:t>
            </a:r>
            <a:endParaRPr lang="en-US" sz="3000" dirty="0"/>
          </a:p>
        </p:txBody>
      </p:sp>
      <p:sp>
        <p:nvSpPr>
          <p:cNvPr id="5" name="Text 3"/>
          <p:cNvSpPr/>
          <p:nvPr/>
        </p:nvSpPr>
        <p:spPr>
          <a:xfrm>
            <a:off x="548640" y="1755648"/>
            <a:ext cx="11091672" cy="365760"/>
          </a:xfrm>
          <a:prstGeom prst="rect">
            <a:avLst/>
          </a:prstGeom>
          <a:noFill/>
          <a:ln/>
        </p:spPr>
        <p:txBody>
          <a:bodyPr wrap="square" lIns="0" tIns="0" rIns="0" bIns="0" rtlCol="0" anchor="ctr"/>
          <a:lstStyle/>
          <a:p>
            <a:pPr algn="l" indent="0" marL="0">
              <a:buNone/>
            </a:pPr>
            <a:r>
              <a:rPr lang="en-US" sz="1400" dirty="0">
                <a:solidFill>
                  <a:srgbClr val="64748B"/>
                </a:solidFill>
                <a:latin typeface="Arial" pitchFamily="34" charset="0"/>
                <a:ea typeface="Arial" pitchFamily="34" charset="-122"/>
                <a:cs typeface="Arial" pitchFamily="34" charset="-120"/>
              </a:rPr>
              <a:t>Every employer is a customer — we start where it hurts most</a:t>
            </a:r>
            <a:endParaRPr lang="en-US" sz="1400" dirty="0"/>
          </a:p>
        </p:txBody>
      </p:sp>
      <p:sp>
        <p:nvSpPr>
          <p:cNvPr id="6" name="Shape 4"/>
          <p:cNvSpPr/>
          <p:nvPr/>
        </p:nvSpPr>
        <p:spPr>
          <a:xfrm>
            <a:off x="548640" y="2377440"/>
            <a:ext cx="11091672" cy="868680"/>
          </a:xfrm>
          <a:prstGeom prst="roundRect">
            <a:avLst>
              <a:gd name="adj" fmla="val 9474"/>
            </a:avLst>
          </a:prstGeom>
          <a:solidFill>
            <a:srgbClr val="2563EB"/>
          </a:solidFill>
          <a:ln/>
        </p:spPr>
      </p:sp>
      <p:sp>
        <p:nvSpPr>
          <p:cNvPr id="7" name="Text 5"/>
          <p:cNvSpPr/>
          <p:nvPr/>
        </p:nvSpPr>
        <p:spPr>
          <a:xfrm>
            <a:off x="822960" y="2487168"/>
            <a:ext cx="2011680" cy="640080"/>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2M+</a:t>
            </a:r>
            <a:endParaRPr lang="en-US" sz="2200" dirty="0"/>
          </a:p>
        </p:txBody>
      </p:sp>
      <p:sp>
        <p:nvSpPr>
          <p:cNvPr id="8" name="Text 6"/>
          <p:cNvSpPr/>
          <p:nvPr/>
        </p:nvSpPr>
        <p:spPr>
          <a:xfrm>
            <a:off x="2651760" y="2487168"/>
            <a:ext cx="8622792" cy="640080"/>
          </a:xfrm>
          <a:prstGeom prst="rect">
            <a:avLst/>
          </a:prstGeom>
          <a:noFill/>
          <a:ln/>
        </p:spPr>
        <p:txBody>
          <a:bodyPr wrap="square" lIns="0" tIns="0" rIns="0" bIns="0" rtlCol="0" anchor="ctr"/>
          <a:lstStyle/>
          <a:p>
            <a:pPr rtl="1" algn="r" indent="0" marL="0">
              <a:lnSpc>
                <a:spcPct val="105000"/>
              </a:lnSpc>
              <a:buNone/>
            </a:pPr>
            <a:r>
              <a:rPr lang="en-US" sz="1250" dirty="0">
                <a:solidFill>
                  <a:srgbClr val="FFFFFF"/>
                </a:solidFill>
                <a:latin typeface="Arial" pitchFamily="34" charset="0"/>
                <a:ea typeface="Arial" pitchFamily="34" charset="-122"/>
                <a:cs typeface="Arial" pitchFamily="34" charset="-120"/>
              </a:rPr>
              <a:t>منشأة مسجلة على قوى — السوق الكلي</a:t>
            </a:r>
            <a:endParaRPr lang="en-US" sz="1250" dirty="0"/>
          </a:p>
        </p:txBody>
      </p:sp>
      <p:sp>
        <p:nvSpPr>
          <p:cNvPr id="9" name="Shape 7"/>
          <p:cNvSpPr/>
          <p:nvPr/>
        </p:nvSpPr>
        <p:spPr>
          <a:xfrm>
            <a:off x="548640" y="3429000"/>
            <a:ext cx="8412480" cy="868680"/>
          </a:xfrm>
          <a:prstGeom prst="roundRect">
            <a:avLst>
              <a:gd name="adj" fmla="val 9474"/>
            </a:avLst>
          </a:prstGeom>
          <a:solidFill>
            <a:srgbClr val="0066CC"/>
          </a:solidFill>
          <a:ln/>
        </p:spPr>
      </p:sp>
      <p:sp>
        <p:nvSpPr>
          <p:cNvPr id="10" name="Text 8"/>
          <p:cNvSpPr/>
          <p:nvPr/>
        </p:nvSpPr>
        <p:spPr>
          <a:xfrm>
            <a:off x="822960" y="3538728"/>
            <a:ext cx="2011680" cy="640080"/>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1.68M</a:t>
            </a:r>
            <a:endParaRPr lang="en-US" sz="2200" dirty="0"/>
          </a:p>
        </p:txBody>
      </p:sp>
      <p:sp>
        <p:nvSpPr>
          <p:cNvPr id="11" name="Text 9"/>
          <p:cNvSpPr/>
          <p:nvPr/>
        </p:nvSpPr>
        <p:spPr>
          <a:xfrm>
            <a:off x="2651760" y="3538728"/>
            <a:ext cx="5943600" cy="640080"/>
          </a:xfrm>
          <a:prstGeom prst="rect">
            <a:avLst/>
          </a:prstGeom>
          <a:noFill/>
          <a:ln/>
        </p:spPr>
        <p:txBody>
          <a:bodyPr wrap="square" lIns="0" tIns="0" rIns="0" bIns="0" rtlCol="0" anchor="ctr"/>
          <a:lstStyle/>
          <a:p>
            <a:pPr rtl="1" algn="r" indent="0" marL="0">
              <a:lnSpc>
                <a:spcPct val="105000"/>
              </a:lnSpc>
              <a:buNone/>
            </a:pPr>
            <a:r>
              <a:rPr lang="en-US" sz="1250" dirty="0">
                <a:solidFill>
                  <a:srgbClr val="FFFFFF"/>
                </a:solidFill>
                <a:latin typeface="Arial" pitchFamily="34" charset="0"/>
                <a:ea typeface="Arial" pitchFamily="34" charset="-122"/>
                <a:cs typeface="Arial" pitchFamily="34" charset="-120"/>
              </a:rPr>
              <a:t>سجل منشأة صغيرة ومتوسطة (Q1 2025) · الرياض 39% (~655 ألفًا)</a:t>
            </a:r>
            <a:endParaRPr lang="en-US" sz="1250" dirty="0"/>
          </a:p>
        </p:txBody>
      </p:sp>
      <p:sp>
        <p:nvSpPr>
          <p:cNvPr id="12" name="Shape 10"/>
          <p:cNvSpPr/>
          <p:nvPr/>
        </p:nvSpPr>
        <p:spPr>
          <a:xfrm>
            <a:off x="548640" y="4480560"/>
            <a:ext cx="5669280" cy="868680"/>
          </a:xfrm>
          <a:prstGeom prst="roundRect">
            <a:avLst>
              <a:gd name="adj" fmla="val 9474"/>
            </a:avLst>
          </a:prstGeom>
          <a:solidFill>
            <a:srgbClr val="10B981"/>
          </a:solidFill>
          <a:ln/>
        </p:spPr>
      </p:sp>
      <p:sp>
        <p:nvSpPr>
          <p:cNvPr id="13" name="Text 11"/>
          <p:cNvSpPr/>
          <p:nvPr/>
        </p:nvSpPr>
        <p:spPr>
          <a:xfrm>
            <a:off x="822960" y="4590288"/>
            <a:ext cx="2011680" cy="640080"/>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الإسفين</a:t>
            </a:r>
            <a:endParaRPr lang="en-US" sz="2200" dirty="0"/>
          </a:p>
        </p:txBody>
      </p:sp>
      <p:sp>
        <p:nvSpPr>
          <p:cNvPr id="14" name="Text 12"/>
          <p:cNvSpPr/>
          <p:nvPr/>
        </p:nvSpPr>
        <p:spPr>
          <a:xfrm>
            <a:off x="2651760" y="4590288"/>
            <a:ext cx="3200400" cy="640080"/>
          </a:xfrm>
          <a:prstGeom prst="rect">
            <a:avLst/>
          </a:prstGeom>
          <a:noFill/>
          <a:ln/>
        </p:spPr>
        <p:txBody>
          <a:bodyPr wrap="square" lIns="0" tIns="0" rIns="0" bIns="0" rtlCol="0" anchor="ctr"/>
          <a:lstStyle/>
          <a:p>
            <a:pPr rtl="1" algn="r" indent="0" marL="0">
              <a:lnSpc>
                <a:spcPct val="105000"/>
              </a:lnSpc>
              <a:buNone/>
            </a:pPr>
            <a:r>
              <a:rPr lang="en-US" sz="1250" b="1" dirty="0">
                <a:solidFill>
                  <a:srgbClr val="FFFFFF"/>
                </a:solidFill>
                <a:latin typeface="Arial" pitchFamily="34" charset="0"/>
                <a:ea typeface="Arial" pitchFamily="34" charset="-122"/>
                <a:cs typeface="Arial" pitchFamily="34" charset="-120"/>
              </a:rPr>
              <a:t>منشآت 10–250 موظفًا بمزيج سعودي/وافد — خطر نطاقات/أجور حقيقي بلا موظف امتثال</a:t>
            </a:r>
            <a:endParaRPr lang="en-US" sz="1250" dirty="0"/>
          </a:p>
        </p:txBody>
      </p:sp>
      <p:sp>
        <p:nvSpPr>
          <p:cNvPr id="15" name="Shape 13"/>
          <p:cNvSpPr/>
          <p:nvPr/>
        </p:nvSpPr>
        <p:spPr>
          <a:xfrm>
            <a:off x="548640" y="5623560"/>
            <a:ext cx="11091672" cy="685800"/>
          </a:xfrm>
          <a:prstGeom prst="roundRect">
            <a:avLst>
              <a:gd name="adj" fmla="val 12000"/>
            </a:avLst>
          </a:prstGeom>
          <a:solidFill>
            <a:srgbClr val="F8FAFC"/>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6" name="Text 14"/>
          <p:cNvSpPr/>
          <p:nvPr/>
        </p:nvSpPr>
        <p:spPr>
          <a:xfrm>
            <a:off x="822960" y="5742432"/>
            <a:ext cx="10515600" cy="457200"/>
          </a:xfrm>
          <a:prstGeom prst="rect">
            <a:avLst/>
          </a:prstGeom>
          <a:noFill/>
          <a:ln/>
        </p:spPr>
        <p:txBody>
          <a:bodyPr wrap="square" lIns="0" tIns="0" rIns="0" bIns="0" rtlCol="0" anchor="ctr"/>
          <a:lstStyle/>
          <a:p>
            <a:pPr rtl="1" algn="r" indent="0" marL="0">
              <a:lnSpc>
                <a:spcPct val="105000"/>
              </a:lnSpc>
              <a:buNone/>
            </a:pPr>
            <a:r>
              <a:rPr lang="en-US" sz="1200" dirty="0">
                <a:solidFill>
                  <a:srgbClr val="334155"/>
                </a:solidFill>
                <a:latin typeface="Arial" pitchFamily="34" charset="0"/>
                <a:ea typeface="Arial" pitchFamily="34" charset="-122"/>
                <a:cs typeface="Arial" pitchFamily="34" charset="-120"/>
              </a:rPr>
              <a:t>قطاعات البداية: لوجستيات وتوصيل · مطاعم وضيافة · تجزئة · مقاولات — المصادر: قوى · منشآت · الهيئة العامة للإحصاء.</a:t>
            </a:r>
            <a:endParaRPr lang="en-US" sz="1200" dirty="0"/>
          </a:p>
        </p:txBody>
      </p:sp>
      <p:sp>
        <p:nvSpPr>
          <p:cNvPr id="17" name="Text 15"/>
          <p:cNvSpPr/>
          <p:nvPr/>
        </p:nvSpPr>
        <p:spPr>
          <a:xfrm>
            <a:off x="548640" y="6419088"/>
            <a:ext cx="7315200" cy="274320"/>
          </a:xfrm>
          <a:prstGeom prst="rect">
            <a:avLst/>
          </a:prstGeom>
          <a:noFill/>
          <a:ln/>
        </p:spPr>
        <p:txBody>
          <a:bodyPr wrap="square" lIns="0" tIns="0" rIns="0" bIns="0" rtlCol="0" anchor="ctr"/>
          <a:lstStyle/>
          <a:p>
            <a:pPr algn="l" indent="0" marL="0">
              <a:buNone/>
            </a:pPr>
            <a:r>
              <a:rPr lang="en-US" sz="900" dirty="0">
                <a:solidFill>
                  <a:srgbClr val="64748B"/>
                </a:solidFill>
                <a:latin typeface="Arial" pitchFamily="34" charset="0"/>
                <a:ea typeface="Arial" pitchFamily="34" charset="-122"/>
                <a:cs typeface="Arial" pitchFamily="34" charset="-120"/>
              </a:rPr>
              <a:t>Business Partner · AI Compliance Agents</a:t>
            </a:r>
            <a:endParaRPr lang="en-US" sz="900" dirty="0"/>
          </a:p>
        </p:txBody>
      </p:sp>
      <p:sp>
        <p:nvSpPr>
          <p:cNvPr id="18" name="Text 16"/>
          <p:cNvSpPr/>
          <p:nvPr/>
        </p:nvSpPr>
        <p:spPr>
          <a:xfrm>
            <a:off x="10634472" y="6419088"/>
            <a:ext cx="10058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332720" y="-1280160"/>
            <a:ext cx="3291840" cy="3291840"/>
          </a:xfrm>
          <a:prstGeom prst="ellipse">
            <a:avLst/>
          </a:prstGeom>
          <a:solidFill>
            <a:srgbClr val="F1F5F9"/>
          </a:solidFill>
          <a:ln/>
        </p:spPr>
      </p:sp>
      <p:sp>
        <p:nvSpPr>
          <p:cNvPr id="3" name="Text 1"/>
          <p:cNvSpPr/>
          <p:nvPr/>
        </p:nvSpPr>
        <p:spPr>
          <a:xfrm>
            <a:off x="548640" y="548640"/>
            <a:ext cx="9144000" cy="274320"/>
          </a:xfrm>
          <a:prstGeom prst="rect">
            <a:avLst/>
          </a:prstGeom>
          <a:noFill/>
          <a:ln/>
        </p:spPr>
        <p:txBody>
          <a:bodyPr wrap="square" lIns="0" tIns="0" rIns="0" bIns="0" rtlCol="0" anchor="ctr"/>
          <a:lstStyle/>
          <a:p>
            <a:pPr algn="l" indent="0" marL="0">
              <a:buNone/>
            </a:pPr>
            <a:r>
              <a:rPr lang="en-US" sz="1100" b="1" spc="300" kern="0" dirty="0">
                <a:solidFill>
                  <a:srgbClr val="0066CC"/>
                </a:solidFill>
                <a:latin typeface="Arial" pitchFamily="34" charset="0"/>
                <a:ea typeface="Arial" pitchFamily="34" charset="-122"/>
                <a:cs typeface="Arial" pitchFamily="34" charset="-120"/>
              </a:rPr>
              <a:t>COMPETITIVE LANDSCAPE · المشهد التنافسي</a:t>
            </a:r>
            <a:endParaRPr lang="en-US" sz="1100" dirty="0"/>
          </a:p>
        </p:txBody>
      </p:sp>
      <p:sp>
        <p:nvSpPr>
          <p:cNvPr id="4" name="Text 2"/>
          <p:cNvSpPr/>
          <p:nvPr/>
        </p:nvSpPr>
        <p:spPr>
          <a:xfrm>
            <a:off x="548640" y="1005840"/>
            <a:ext cx="11091672" cy="777240"/>
          </a:xfrm>
          <a:prstGeom prst="rect">
            <a:avLst/>
          </a:prstGeom>
          <a:noFill/>
          <a:ln/>
        </p:spPr>
        <p:txBody>
          <a:bodyPr wrap="square" lIns="0" tIns="0" rIns="0" bIns="0" rtlCol="0" anchor="ctr"/>
          <a:lstStyle/>
          <a:p>
            <a:pPr rtl="1" algn="r" indent="0" marL="0">
              <a:buNone/>
            </a:pPr>
            <a:r>
              <a:rPr lang="en-US" sz="3000" b="1" dirty="0">
                <a:solidFill>
                  <a:srgbClr val="1E293B"/>
                </a:solidFill>
                <a:latin typeface="Arial" pitchFamily="34" charset="0"/>
                <a:ea typeface="Arial" pitchFamily="34" charset="-122"/>
                <a:cs typeface="Arial" pitchFamily="34" charset="-120"/>
              </a:rPr>
              <a:t>بين مكاتبَ يدوية وأدواتٍ نقطية — الطبقة الوسطى فارغة</a:t>
            </a:r>
            <a:endParaRPr lang="en-US" sz="3000" dirty="0"/>
          </a:p>
        </p:txBody>
      </p:sp>
      <p:sp>
        <p:nvSpPr>
          <p:cNvPr id="5" name="Text 3"/>
          <p:cNvSpPr/>
          <p:nvPr/>
        </p:nvSpPr>
        <p:spPr>
          <a:xfrm>
            <a:off x="548640" y="1755648"/>
            <a:ext cx="11091672" cy="365760"/>
          </a:xfrm>
          <a:prstGeom prst="rect">
            <a:avLst/>
          </a:prstGeom>
          <a:noFill/>
          <a:ln/>
        </p:spPr>
        <p:txBody>
          <a:bodyPr wrap="square" lIns="0" tIns="0" rIns="0" bIns="0" rtlCol="0" anchor="ctr"/>
          <a:lstStyle/>
          <a:p>
            <a:pPr algn="l" indent="0" marL="0">
              <a:buNone/>
            </a:pPr>
            <a:r>
              <a:rPr lang="en-US" sz="1400" dirty="0">
                <a:solidFill>
                  <a:srgbClr val="64748B"/>
                </a:solidFill>
                <a:latin typeface="Arial" pitchFamily="34" charset="0"/>
                <a:ea typeface="Arial" pitchFamily="34" charset="-122"/>
                <a:cs typeface="Arial" pitchFamily="34" charset="-120"/>
              </a:rPr>
              <a:t>Between manual shops and point tools, the middle layer is empty</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1672" cy="914400"/>
        </p:xfrm>
        <a:graphic>
          <a:graphicData uri="http://schemas.openxmlformats.org/drawingml/2006/table">
            <a:tbl>
              <a:tblPr/>
              <a:tblGrid>
                <a:gridCol w="2926080"/>
                <a:gridCol w="2743200"/>
                <a:gridCol w="2743200"/>
                <a:gridCol w="2679192"/>
              </a:tblGrid>
              <a:tr h="566928">
                <a:tc>
                  <a:txBody>
                    <a:bodyPr/>
                    <a:lstStyle/>
                    <a:p>
                      <a:pPr rtl="1" algn="r" indent="0" marL="0">
                        <a:buNone/>
                      </a:pPr>
                      <a:r>
                        <a:rPr lang="en-US" sz="1250" b="1" dirty="0">
                          <a:solidFill>
                            <a:srgbClr val="FFFFFF"/>
                          </a:solidFill>
                          <a:latin typeface="Arial" pitchFamily="34" charset="0"/>
                          <a:ea typeface="Arial" pitchFamily="34" charset="-122"/>
                          <a:cs typeface="Arial" pitchFamily="34" charset="-120"/>
                        </a:rPr>
                        <a:t>القدرة</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72A"/>
                    </a:solidFill>
                  </a:tcPr>
                </a:tc>
                <a:tc>
                  <a:txBody>
                    <a:bodyPr/>
                    <a:lstStyle/>
                    <a:p>
                      <a:pPr rtl="1" algn="ctr" indent="0" marL="0">
                        <a:buNone/>
                      </a:pPr>
                      <a:r>
                        <a:rPr lang="en-US" sz="1250" b="1" dirty="0">
                          <a:solidFill>
                            <a:srgbClr val="FFFFFF"/>
                          </a:solidFill>
                          <a:latin typeface="Arial" pitchFamily="34" charset="0"/>
                          <a:ea typeface="Arial" pitchFamily="34" charset="-122"/>
                          <a:cs typeface="Arial" pitchFamily="34" charset="-120"/>
                        </a:rPr>
                        <a:t>مكاتب استشارات/علاقات حكومية</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72A"/>
                    </a:solidFill>
                  </a:tcPr>
                </a:tc>
                <a:tc>
                  <a:txBody>
                    <a:bodyPr/>
                    <a:lstStyle/>
                    <a:p>
                      <a:pPr rtl="1" algn="ctr" indent="0" marL="0">
                        <a:buNone/>
                      </a:pPr>
                      <a:r>
                        <a:rPr lang="en-US" sz="1250" b="1" dirty="0">
                          <a:solidFill>
                            <a:srgbClr val="FFFFFF"/>
                          </a:solidFill>
                          <a:latin typeface="Arial" pitchFamily="34" charset="0"/>
                          <a:ea typeface="Arial" pitchFamily="34" charset="-122"/>
                          <a:cs typeface="Arial" pitchFamily="34" charset="-120"/>
                        </a:rPr>
                        <a:t>برمجيات نقطية (HRMS/رواتب)</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72A"/>
                    </a:solidFill>
                  </a:tcPr>
                </a:tc>
                <a:tc>
                  <a:txBody>
                    <a:bodyPr/>
                    <a:lstStyle/>
                    <a:p>
                      <a:pPr rtl="1" algn="ctr" indent="0" marL="0">
                        <a:buNone/>
                      </a:pPr>
                      <a:r>
                        <a:rPr lang="en-US" sz="1250" b="1" dirty="0">
                          <a:solidFill>
                            <a:srgbClr val="FFFFFF"/>
                          </a:solidFill>
                          <a:latin typeface="Arial" pitchFamily="34" charset="0"/>
                          <a:ea typeface="Arial" pitchFamily="34" charset="-122"/>
                          <a:cs typeface="Arial" pitchFamily="34" charset="-120"/>
                        </a:rPr>
                        <a:t>وكلاء Business Partner</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72A"/>
                    </a:solidFill>
                  </a:tcPr>
                </a:tc>
              </a:tr>
              <a:tr h="566928">
                <a:tc>
                  <a:txBody>
                    <a:bodyPr/>
                    <a:lstStyle/>
                    <a:p>
                      <a:pPr rtl="1" algn="r" indent="0" marL="0">
                        <a:buNone/>
                      </a:pPr>
                      <a:r>
                        <a:rPr lang="en-US" sz="1250" b="1" dirty="0">
                          <a:solidFill>
                            <a:srgbClr val="1E293B"/>
                          </a:solidFill>
                          <a:latin typeface="Arial" pitchFamily="34" charset="0"/>
                          <a:ea typeface="Arial" pitchFamily="34" charset="-122"/>
                          <a:cs typeface="Arial" pitchFamily="34" charset="-120"/>
                        </a:rPr>
                        <a:t>استباقي قبل المخالفة</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rtl="1" algn="ctr" indent="0" marL="0">
                        <a:buNone/>
                      </a:pPr>
                      <a:r>
                        <a:rPr lang="en-US" sz="1250" dirty="0">
                          <a:solidFill>
                            <a:srgbClr val="94A3B8"/>
                          </a:solidFill>
                          <a:latin typeface="Arial" pitchFamily="34" charset="0"/>
                          <a:ea typeface="Arial" pitchFamily="34" charset="-122"/>
                          <a:cs typeface="Arial" pitchFamily="34" charset="-120"/>
                        </a:rPr>
                        <a:t>✗ رد فعل</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rtl="1" algn="ctr" indent="0" marL="0">
                        <a:buNone/>
                      </a:pPr>
                      <a:r>
                        <a:rPr lang="en-US" sz="1250" dirty="0">
                          <a:solidFill>
                            <a:srgbClr val="1E293B"/>
                          </a:solidFill>
                          <a:latin typeface="Arial" pitchFamily="34" charset="0"/>
                          <a:ea typeface="Arial" pitchFamily="34" charset="-122"/>
                          <a:cs typeface="Arial" pitchFamily="34" charset="-120"/>
                        </a:rPr>
                        <a:t>جزئي — إشعارات بيانات</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rtl="1" algn="ctr" indent="0" marL="0">
                        <a:buNone/>
                      </a:pPr>
                      <a:r>
                        <a:rPr lang="en-US" sz="1250" b="1" dirty="0">
                          <a:solidFill>
                            <a:srgbClr val="10B981"/>
                          </a:solidFill>
                          <a:latin typeface="Arial" pitchFamily="34" charset="0"/>
                          <a:ea typeface="Arial" pitchFamily="34" charset="-122"/>
                          <a:cs typeface="Arial" pitchFamily="34" charset="-120"/>
                        </a:rPr>
                        <a:t>✓ بالأثر والمهلة</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CFDF5"/>
                    </a:solidFill>
                  </a:tcPr>
                </a:tc>
              </a:tr>
              <a:tr h="566928">
                <a:tc>
                  <a:txBody>
                    <a:bodyPr/>
                    <a:lstStyle/>
                    <a:p>
                      <a:pPr rtl="1" algn="r" indent="0" marL="0">
                        <a:buNone/>
                      </a:pPr>
                      <a:r>
                        <a:rPr lang="en-US" sz="1250" b="1" dirty="0">
                          <a:solidFill>
                            <a:srgbClr val="1E293B"/>
                          </a:solidFill>
                          <a:latin typeface="Arial" pitchFamily="34" charset="0"/>
                          <a:ea typeface="Arial" pitchFamily="34" charset="-122"/>
                          <a:cs typeface="Arial" pitchFamily="34" charset="-120"/>
                        </a:rPr>
                        <a:t>يغطي كل المنصات</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rtl="1" algn="ctr" indent="0" marL="0">
                        <a:buNone/>
                      </a:pPr>
                      <a:r>
                        <a:rPr lang="en-US" sz="1250" dirty="0">
                          <a:solidFill>
                            <a:srgbClr val="94A3B8"/>
                          </a:solidFill>
                          <a:latin typeface="Arial" pitchFamily="34" charset="0"/>
                          <a:ea typeface="Arial" pitchFamily="34" charset="-122"/>
                          <a:cs typeface="Arial" pitchFamily="34" charset="-120"/>
                        </a:rPr>
                        <a:t>✗ شخص لكل منصة</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rtl="1" algn="ctr" indent="0" marL="0">
                        <a:buNone/>
                      </a:pPr>
                      <a:r>
                        <a:rPr lang="en-US" sz="1250" dirty="0">
                          <a:solidFill>
                            <a:srgbClr val="94A3B8"/>
                          </a:solidFill>
                          <a:latin typeface="Arial" pitchFamily="34" charset="0"/>
                          <a:ea typeface="Arial" pitchFamily="34" charset="-122"/>
                          <a:cs typeface="Arial" pitchFamily="34" charset="-120"/>
                        </a:rPr>
                        <a:t>✗ منصة/وظيفة واحدة</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rtl="1" algn="ctr" indent="0" marL="0">
                        <a:buNone/>
                      </a:pPr>
                      <a:r>
                        <a:rPr lang="en-US" sz="1250" b="1" dirty="0">
                          <a:solidFill>
                            <a:srgbClr val="10B981"/>
                          </a:solidFill>
                          <a:latin typeface="Arial" pitchFamily="34" charset="0"/>
                          <a:ea typeface="Arial" pitchFamily="34" charset="-122"/>
                          <a:cs typeface="Arial" pitchFamily="34" charset="-120"/>
                        </a:rPr>
                        <a:t>✓ طبقة واحدة</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CFDF5"/>
                    </a:solidFill>
                  </a:tcPr>
                </a:tc>
              </a:tr>
              <a:tr h="566928">
                <a:tc>
                  <a:txBody>
                    <a:bodyPr/>
                    <a:lstStyle/>
                    <a:p>
                      <a:pPr rtl="1" algn="r" indent="0" marL="0">
                        <a:buNone/>
                      </a:pPr>
                      <a:r>
                        <a:rPr lang="en-US" sz="1250" b="1" dirty="0">
                          <a:solidFill>
                            <a:srgbClr val="1E293B"/>
                          </a:solidFill>
                          <a:latin typeface="Arial" pitchFamily="34" charset="0"/>
                          <a:ea typeface="Arial" pitchFamily="34" charset="-122"/>
                          <a:cs typeface="Arial" pitchFamily="34" charset="-120"/>
                        </a:rPr>
                        <a:t>يجهّز الإجراء وينفّذه</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rtl="1" algn="ctr" indent="0" marL="0">
                        <a:buNone/>
                      </a:pPr>
                      <a:r>
                        <a:rPr lang="en-US" sz="1250" dirty="0">
                          <a:solidFill>
                            <a:srgbClr val="1E293B"/>
                          </a:solidFill>
                          <a:latin typeface="Arial" pitchFamily="34" charset="0"/>
                          <a:ea typeface="Arial" pitchFamily="34" charset="-122"/>
                          <a:cs typeface="Arial" pitchFamily="34" charset="-120"/>
                        </a:rPr>
                        <a:t>يدويًا وببطء</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rtl="1" algn="ctr" indent="0" marL="0">
                        <a:buNone/>
                      </a:pPr>
                      <a:r>
                        <a:rPr lang="en-US" sz="1250" dirty="0">
                          <a:solidFill>
                            <a:srgbClr val="94A3B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rtl="1" algn="ctr" indent="0" marL="0">
                        <a:buNone/>
                      </a:pPr>
                      <a:r>
                        <a:rPr lang="en-US" sz="1250" b="1" dirty="0">
                          <a:solidFill>
                            <a:srgbClr val="10B981"/>
                          </a:solidFill>
                          <a:latin typeface="Arial" pitchFamily="34" charset="0"/>
                          <a:ea typeface="Arial" pitchFamily="34" charset="-122"/>
                          <a:cs typeface="Arial" pitchFamily="34" charset="-120"/>
                        </a:rPr>
                        <a:t>✓ باعتماد المالك</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CFDF5"/>
                    </a:solidFill>
                  </a:tcPr>
                </a:tc>
              </a:tr>
              <a:tr h="566928">
                <a:tc>
                  <a:txBody>
                    <a:bodyPr/>
                    <a:lstStyle/>
                    <a:p>
                      <a:pPr rtl="1" algn="r" indent="0" marL="0">
                        <a:buNone/>
                      </a:pPr>
                      <a:r>
                        <a:rPr lang="en-US" sz="1250" b="1" dirty="0">
                          <a:solidFill>
                            <a:srgbClr val="1E293B"/>
                          </a:solidFill>
                          <a:latin typeface="Arial" pitchFamily="34" charset="0"/>
                          <a:ea typeface="Arial" pitchFamily="34" charset="-122"/>
                          <a:cs typeface="Arial" pitchFamily="34" charset="-120"/>
                        </a:rPr>
                        <a:t>يتوسع بلا موظفين</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rtl="1" algn="ctr" indent="0" marL="0">
                        <a:buNone/>
                      </a:pPr>
                      <a:r>
                        <a:rPr lang="en-US" sz="1250" dirty="0">
                          <a:solidFill>
                            <a:srgbClr val="94A3B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rtl="1" algn="ctr" indent="0" marL="0">
                        <a:buNone/>
                      </a:pPr>
                      <a:r>
                        <a:rPr lang="en-US" sz="1250" dirty="0">
                          <a:solidFill>
                            <a:srgbClr val="10B981"/>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rtl="1" algn="ctr" indent="0" marL="0">
                        <a:buNone/>
                      </a:pPr>
                      <a:r>
                        <a:rPr lang="en-US" sz="1250" b="1" dirty="0">
                          <a:solidFill>
                            <a:srgbClr val="10B981"/>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CFDF5"/>
                    </a:solidFill>
                  </a:tcPr>
                </a:tc>
              </a:tr>
              <a:tr h="566928">
                <a:tc>
                  <a:txBody>
                    <a:bodyPr/>
                    <a:lstStyle/>
                    <a:p>
                      <a:pPr rtl="1" algn="r" indent="0" marL="0">
                        <a:buNone/>
                      </a:pPr>
                      <a:r>
                        <a:rPr lang="en-US" sz="1250" b="1" dirty="0">
                          <a:solidFill>
                            <a:srgbClr val="1E293B"/>
                          </a:solidFill>
                          <a:latin typeface="Arial" pitchFamily="34" charset="0"/>
                          <a:ea typeface="Arial" pitchFamily="34" charset="-122"/>
                          <a:cs typeface="Arial" pitchFamily="34" charset="-120"/>
                        </a:rPr>
                        <a:t>معرفة سعودية مرمّزة</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rtl="1" algn="ctr" indent="0" marL="0">
                        <a:buNone/>
                      </a:pPr>
                      <a:r>
                        <a:rPr lang="en-US" sz="1250" dirty="0">
                          <a:solidFill>
                            <a:srgbClr val="1E293B"/>
                          </a:solidFill>
                          <a:latin typeface="Arial" pitchFamily="34" charset="0"/>
                          <a:ea typeface="Arial" pitchFamily="34" charset="-122"/>
                          <a:cs typeface="Arial" pitchFamily="34" charset="-120"/>
                        </a:rPr>
                        <a:t>في رؤوس الأشخاص</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rtl="1" algn="ctr" indent="0" marL="0">
                        <a:buNone/>
                      </a:pPr>
                      <a:r>
                        <a:rPr lang="en-US" sz="1250" dirty="0">
                          <a:solidFill>
                            <a:srgbClr val="1E293B"/>
                          </a:solidFill>
                          <a:latin typeface="Arial" pitchFamily="34" charset="0"/>
                          <a:ea typeface="Arial" pitchFamily="34" charset="-122"/>
                          <a:cs typeface="Arial" pitchFamily="34" charset="-120"/>
                        </a:rPr>
                        <a:t>سطحية</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rtl="1" algn="ctr" indent="0" marL="0">
                        <a:buNone/>
                      </a:pPr>
                      <a:r>
                        <a:rPr lang="en-US" sz="1250" b="1" dirty="0">
                          <a:solidFill>
                            <a:srgbClr val="10B981"/>
                          </a:solidFill>
                          <a:latin typeface="Arial" pitchFamily="34" charset="0"/>
                          <a:ea typeface="Arial" pitchFamily="34" charset="-122"/>
                          <a:cs typeface="Arial" pitchFamily="34" charset="-120"/>
                        </a:rPr>
                        <a:t>✓ من خبرة معاشة</a:t>
                      </a:r>
                      <a:endParaRPr lang="en-US" sz="125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CFDF5"/>
                    </a:solidFill>
                  </a:tcPr>
                </a:tc>
              </a:tr>
            </a:tbl>
          </a:graphicData>
        </a:graphic>
      </p:graphicFrame>
      <p:sp>
        <p:nvSpPr>
          <p:cNvPr id="7" name="Text 4"/>
          <p:cNvSpPr/>
          <p:nvPr/>
        </p:nvSpPr>
        <p:spPr>
          <a:xfrm>
            <a:off x="548640" y="5897880"/>
            <a:ext cx="11091672" cy="365760"/>
          </a:xfrm>
          <a:prstGeom prst="rect">
            <a:avLst/>
          </a:prstGeom>
          <a:noFill/>
          <a:ln/>
        </p:spPr>
        <p:txBody>
          <a:bodyPr wrap="square" lIns="0" tIns="0" rIns="0" bIns="0" rtlCol="0" anchor="t"/>
          <a:lstStyle/>
          <a:p>
            <a:pPr rtl="1" algn="ctr" indent="0" marL="0">
              <a:lnSpc>
                <a:spcPct val="105000"/>
              </a:lnSpc>
              <a:buNone/>
            </a:pPr>
            <a:r>
              <a:rPr lang="en-US" sz="1250" b="1" dirty="0">
                <a:solidFill>
                  <a:srgbClr val="334155"/>
                </a:solidFill>
                <a:latin typeface="Arial" pitchFamily="34" charset="0"/>
                <a:ea typeface="Arial" pitchFamily="34" charset="-122"/>
                <a:cs typeface="Arial" pitchFamily="34" charset="-120"/>
              </a:rPr>
              <a:t>نكمّل أنظمة الرواتب ولا نستبدلها — ويمكن أن نبيع من خلالها لاحقًا.</a:t>
            </a:r>
            <a:endParaRPr lang="en-US" sz="1250" dirty="0"/>
          </a:p>
        </p:txBody>
      </p:sp>
      <p:sp>
        <p:nvSpPr>
          <p:cNvPr id="8" name="Text 5"/>
          <p:cNvSpPr/>
          <p:nvPr/>
        </p:nvSpPr>
        <p:spPr>
          <a:xfrm>
            <a:off x="548640" y="6419088"/>
            <a:ext cx="7315200" cy="274320"/>
          </a:xfrm>
          <a:prstGeom prst="rect">
            <a:avLst/>
          </a:prstGeom>
          <a:noFill/>
          <a:ln/>
        </p:spPr>
        <p:txBody>
          <a:bodyPr wrap="square" lIns="0" tIns="0" rIns="0" bIns="0" rtlCol="0" anchor="ctr"/>
          <a:lstStyle/>
          <a:p>
            <a:pPr algn="l" indent="0" marL="0">
              <a:buNone/>
            </a:pPr>
            <a:r>
              <a:rPr lang="en-US" sz="900" dirty="0">
                <a:solidFill>
                  <a:srgbClr val="64748B"/>
                </a:solidFill>
                <a:latin typeface="Arial" pitchFamily="34" charset="0"/>
                <a:ea typeface="Arial" pitchFamily="34" charset="-122"/>
                <a:cs typeface="Arial" pitchFamily="34" charset="-120"/>
              </a:rPr>
              <a:t>Business Partner · AI Compliance Agents</a:t>
            </a:r>
            <a:endParaRPr lang="en-US" sz="900" dirty="0"/>
          </a:p>
        </p:txBody>
      </p:sp>
      <p:sp>
        <p:nvSpPr>
          <p:cNvPr id="9" name="Text 6"/>
          <p:cNvSpPr/>
          <p:nvPr/>
        </p:nvSpPr>
        <p:spPr>
          <a:xfrm>
            <a:off x="10634472" y="6419088"/>
            <a:ext cx="10058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332720" y="-1280160"/>
            <a:ext cx="3291840" cy="3291840"/>
          </a:xfrm>
          <a:prstGeom prst="ellipse">
            <a:avLst/>
          </a:prstGeom>
          <a:solidFill>
            <a:srgbClr val="F1F5F9"/>
          </a:solidFill>
          <a:ln/>
        </p:spPr>
      </p:sp>
      <p:sp>
        <p:nvSpPr>
          <p:cNvPr id="3" name="Text 1"/>
          <p:cNvSpPr/>
          <p:nvPr/>
        </p:nvSpPr>
        <p:spPr>
          <a:xfrm>
            <a:off x="548640" y="548640"/>
            <a:ext cx="9144000" cy="274320"/>
          </a:xfrm>
          <a:prstGeom prst="rect">
            <a:avLst/>
          </a:prstGeom>
          <a:noFill/>
          <a:ln/>
        </p:spPr>
        <p:txBody>
          <a:bodyPr wrap="square" lIns="0" tIns="0" rIns="0" bIns="0" rtlCol="0" anchor="ctr"/>
          <a:lstStyle/>
          <a:p>
            <a:pPr algn="l" indent="0" marL="0">
              <a:buNone/>
            </a:pPr>
            <a:r>
              <a:rPr lang="en-US" sz="1100" b="1" spc="300" kern="0" dirty="0">
                <a:solidFill>
                  <a:srgbClr val="0066CC"/>
                </a:solidFill>
                <a:latin typeface="Arial" pitchFamily="34" charset="0"/>
                <a:ea typeface="Arial" pitchFamily="34" charset="-122"/>
                <a:cs typeface="Arial" pitchFamily="34" charset="-120"/>
              </a:rPr>
              <a:t>BUSINESS MODEL · نموذج العمل والتسعير</a:t>
            </a:r>
            <a:endParaRPr lang="en-US" sz="1100" dirty="0"/>
          </a:p>
        </p:txBody>
      </p:sp>
      <p:sp>
        <p:nvSpPr>
          <p:cNvPr id="4" name="Text 2"/>
          <p:cNvSpPr/>
          <p:nvPr/>
        </p:nvSpPr>
        <p:spPr>
          <a:xfrm>
            <a:off x="548640" y="1005840"/>
            <a:ext cx="11091672" cy="777240"/>
          </a:xfrm>
          <a:prstGeom prst="rect">
            <a:avLst/>
          </a:prstGeom>
          <a:noFill/>
          <a:ln/>
        </p:spPr>
        <p:txBody>
          <a:bodyPr wrap="square" lIns="0" tIns="0" rIns="0" bIns="0" rtlCol="0" anchor="ctr"/>
          <a:lstStyle/>
          <a:p>
            <a:pPr rtl="1" algn="r" indent="0" marL="0">
              <a:buNone/>
            </a:pPr>
            <a:r>
              <a:rPr lang="en-US" sz="3000" b="1" dirty="0">
                <a:solidFill>
                  <a:srgbClr val="1E293B"/>
                </a:solidFill>
                <a:latin typeface="Arial" pitchFamily="34" charset="0"/>
                <a:ea typeface="Arial" pitchFamily="34" charset="-122"/>
                <a:cs typeface="Arial" pitchFamily="34" charset="-120"/>
              </a:rPr>
              <a:t>اشتراك شهري — بجزءٍ من كلفة موظف واحد</a:t>
            </a:r>
            <a:endParaRPr lang="en-US" sz="3000" dirty="0"/>
          </a:p>
        </p:txBody>
      </p:sp>
      <p:sp>
        <p:nvSpPr>
          <p:cNvPr id="5" name="Text 3"/>
          <p:cNvSpPr/>
          <p:nvPr/>
        </p:nvSpPr>
        <p:spPr>
          <a:xfrm>
            <a:off x="548640" y="1755648"/>
            <a:ext cx="11091672" cy="365760"/>
          </a:xfrm>
          <a:prstGeom prst="rect">
            <a:avLst/>
          </a:prstGeom>
          <a:noFill/>
          <a:ln/>
        </p:spPr>
        <p:txBody>
          <a:bodyPr wrap="square" lIns="0" tIns="0" rIns="0" bIns="0" rtlCol="0" anchor="ctr"/>
          <a:lstStyle/>
          <a:p>
            <a:pPr algn="l" indent="0" marL="0">
              <a:buNone/>
            </a:pPr>
            <a:r>
              <a:rPr lang="en-US" sz="1400" dirty="0">
                <a:solidFill>
                  <a:srgbClr val="64748B"/>
                </a:solidFill>
                <a:latin typeface="Arial" pitchFamily="34" charset="0"/>
                <a:ea typeface="Arial" pitchFamily="34" charset="-122"/>
                <a:cs typeface="Arial" pitchFamily="34" charset="-120"/>
              </a:rPr>
              <a:t>A monthly subscription, at a fraction of one hire</a:t>
            </a:r>
            <a:endParaRPr lang="en-US" sz="1400" dirty="0"/>
          </a:p>
        </p:txBody>
      </p:sp>
      <p:sp>
        <p:nvSpPr>
          <p:cNvPr id="6" name="Shape 4"/>
          <p:cNvSpPr/>
          <p:nvPr/>
        </p:nvSpPr>
        <p:spPr>
          <a:xfrm>
            <a:off x="548640" y="2286000"/>
            <a:ext cx="2560320" cy="2148840"/>
          </a:xfrm>
          <a:prstGeom prst="roundRect">
            <a:avLst>
              <a:gd name="adj" fmla="val 3830"/>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7" name="Text 5"/>
          <p:cNvSpPr/>
          <p:nvPr/>
        </p:nvSpPr>
        <p:spPr>
          <a:xfrm>
            <a:off x="731520" y="2468880"/>
            <a:ext cx="2194560" cy="502920"/>
          </a:xfrm>
          <a:prstGeom prst="rect">
            <a:avLst/>
          </a:prstGeom>
          <a:noFill/>
          <a:ln/>
        </p:spPr>
        <p:txBody>
          <a:bodyPr wrap="square" lIns="0" tIns="0" rIns="0" bIns="0" rtlCol="0" anchor="ctr"/>
          <a:lstStyle/>
          <a:p>
            <a:pPr algn="l" indent="0" marL="0">
              <a:buNone/>
            </a:pPr>
            <a:r>
              <a:rPr lang="en-US" sz="2600" b="1" dirty="0">
                <a:solidFill>
                  <a:srgbClr val="0066CC"/>
                </a:solidFill>
                <a:latin typeface="Arial" pitchFamily="34" charset="0"/>
                <a:ea typeface="Arial" pitchFamily="34" charset="-122"/>
                <a:cs typeface="Arial" pitchFamily="34" charset="-120"/>
              </a:rPr>
              <a:t>249 ﷼</a:t>
            </a:r>
            <a:endParaRPr lang="en-US" sz="2600" dirty="0"/>
          </a:p>
        </p:txBody>
      </p:sp>
      <p:sp>
        <p:nvSpPr>
          <p:cNvPr id="8" name="Text 6"/>
          <p:cNvSpPr/>
          <p:nvPr/>
        </p:nvSpPr>
        <p:spPr>
          <a:xfrm>
            <a:off x="731520" y="3035808"/>
            <a:ext cx="2194560" cy="365760"/>
          </a:xfrm>
          <a:prstGeom prst="rect">
            <a:avLst/>
          </a:prstGeom>
          <a:noFill/>
          <a:ln/>
        </p:spPr>
        <p:txBody>
          <a:bodyPr wrap="square" lIns="0" tIns="0" rIns="0" bIns="0" rtlCol="0" anchor="t"/>
          <a:lstStyle/>
          <a:p>
            <a:pPr rtl="1" algn="r" indent="0" marL="0">
              <a:lnSpc>
                <a:spcPct val="105000"/>
              </a:lnSpc>
              <a:buNone/>
            </a:pPr>
            <a:r>
              <a:rPr lang="en-US" sz="1350" b="1" dirty="0">
                <a:solidFill>
                  <a:srgbClr val="1E293B"/>
                </a:solidFill>
                <a:latin typeface="Arial" pitchFamily="34" charset="0"/>
                <a:ea typeface="Arial" pitchFamily="34" charset="-122"/>
                <a:cs typeface="Arial" pitchFamily="34" charset="-120"/>
              </a:rPr>
              <a:t>حتى 5 موظفين</a:t>
            </a:r>
            <a:endParaRPr lang="en-US" sz="1350" dirty="0"/>
          </a:p>
        </p:txBody>
      </p:sp>
      <p:sp>
        <p:nvSpPr>
          <p:cNvPr id="9" name="Text 7"/>
          <p:cNvSpPr/>
          <p:nvPr/>
        </p:nvSpPr>
        <p:spPr>
          <a:xfrm>
            <a:off x="731520" y="3456432"/>
            <a:ext cx="2194560" cy="868680"/>
          </a:xfrm>
          <a:prstGeom prst="rect">
            <a:avLst/>
          </a:prstGeom>
          <a:noFill/>
          <a:ln/>
        </p:spPr>
        <p:txBody>
          <a:bodyPr wrap="square" lIns="0" tIns="0" rIns="0" bIns="0" rtlCol="0" anchor="t"/>
          <a:lstStyle/>
          <a:p>
            <a:pPr rtl="1" algn="r" indent="0" marL="0">
              <a:lnSpc>
                <a:spcPct val="110000"/>
              </a:lnSpc>
              <a:buNone/>
            </a:pPr>
            <a:r>
              <a:rPr lang="en-US" sz="1150" dirty="0">
                <a:solidFill>
                  <a:srgbClr val="334155"/>
                </a:solidFill>
                <a:latin typeface="Arial" pitchFamily="34" charset="0"/>
                <a:ea typeface="Arial" pitchFamily="34" charset="-122"/>
                <a:cs typeface="Arial" pitchFamily="34" charset="-120"/>
              </a:rPr>
              <a:t>مراقبة + تنبيهات</a:t>
            </a:r>
            <a:endParaRPr lang="en-US" sz="1150" dirty="0"/>
          </a:p>
        </p:txBody>
      </p:sp>
      <p:sp>
        <p:nvSpPr>
          <p:cNvPr id="10" name="Shape 8"/>
          <p:cNvSpPr/>
          <p:nvPr/>
        </p:nvSpPr>
        <p:spPr>
          <a:xfrm>
            <a:off x="3291840" y="2286000"/>
            <a:ext cx="2560320" cy="2148840"/>
          </a:xfrm>
          <a:prstGeom prst="roundRect">
            <a:avLst>
              <a:gd name="adj" fmla="val 3830"/>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1" name="Text 9"/>
          <p:cNvSpPr/>
          <p:nvPr/>
        </p:nvSpPr>
        <p:spPr>
          <a:xfrm>
            <a:off x="3474720" y="2468880"/>
            <a:ext cx="2194560" cy="502920"/>
          </a:xfrm>
          <a:prstGeom prst="rect">
            <a:avLst/>
          </a:prstGeom>
          <a:noFill/>
          <a:ln/>
        </p:spPr>
        <p:txBody>
          <a:bodyPr wrap="square" lIns="0" tIns="0" rIns="0" bIns="0" rtlCol="0" anchor="ctr"/>
          <a:lstStyle/>
          <a:p>
            <a:pPr algn="l" indent="0" marL="0">
              <a:buNone/>
            </a:pPr>
            <a:r>
              <a:rPr lang="en-US" sz="2600" b="1" dirty="0">
                <a:solidFill>
                  <a:srgbClr val="0066CC"/>
                </a:solidFill>
                <a:latin typeface="Arial" pitchFamily="34" charset="0"/>
                <a:ea typeface="Arial" pitchFamily="34" charset="-122"/>
                <a:cs typeface="Arial" pitchFamily="34" charset="-120"/>
              </a:rPr>
              <a:t>599 ﷼</a:t>
            </a:r>
            <a:endParaRPr lang="en-US" sz="2600" dirty="0"/>
          </a:p>
        </p:txBody>
      </p:sp>
      <p:sp>
        <p:nvSpPr>
          <p:cNvPr id="12" name="Text 10"/>
          <p:cNvSpPr/>
          <p:nvPr/>
        </p:nvSpPr>
        <p:spPr>
          <a:xfrm>
            <a:off x="3474720" y="3035808"/>
            <a:ext cx="2194560" cy="365760"/>
          </a:xfrm>
          <a:prstGeom prst="rect">
            <a:avLst/>
          </a:prstGeom>
          <a:noFill/>
          <a:ln/>
        </p:spPr>
        <p:txBody>
          <a:bodyPr wrap="square" lIns="0" tIns="0" rIns="0" bIns="0" rtlCol="0" anchor="t"/>
          <a:lstStyle/>
          <a:p>
            <a:pPr rtl="1" algn="r" indent="0" marL="0">
              <a:lnSpc>
                <a:spcPct val="105000"/>
              </a:lnSpc>
              <a:buNone/>
            </a:pPr>
            <a:r>
              <a:rPr lang="en-US" sz="1350" b="1" dirty="0">
                <a:solidFill>
                  <a:srgbClr val="1E293B"/>
                </a:solidFill>
                <a:latin typeface="Arial" pitchFamily="34" charset="0"/>
                <a:ea typeface="Arial" pitchFamily="34" charset="-122"/>
                <a:cs typeface="Arial" pitchFamily="34" charset="-120"/>
              </a:rPr>
              <a:t>6–49 موظفًا</a:t>
            </a:r>
            <a:endParaRPr lang="en-US" sz="1350" dirty="0"/>
          </a:p>
        </p:txBody>
      </p:sp>
      <p:sp>
        <p:nvSpPr>
          <p:cNvPr id="13" name="Text 11"/>
          <p:cNvSpPr/>
          <p:nvPr/>
        </p:nvSpPr>
        <p:spPr>
          <a:xfrm>
            <a:off x="3474720" y="3456432"/>
            <a:ext cx="2194560" cy="868680"/>
          </a:xfrm>
          <a:prstGeom prst="rect">
            <a:avLst/>
          </a:prstGeom>
          <a:noFill/>
          <a:ln/>
        </p:spPr>
        <p:txBody>
          <a:bodyPr wrap="square" lIns="0" tIns="0" rIns="0" bIns="0" rtlCol="0" anchor="t"/>
          <a:lstStyle/>
          <a:p>
            <a:pPr rtl="1" algn="r" indent="0" marL="0">
              <a:lnSpc>
                <a:spcPct val="110000"/>
              </a:lnSpc>
              <a:buNone/>
            </a:pPr>
            <a:r>
              <a:rPr lang="en-US" sz="1150" dirty="0">
                <a:solidFill>
                  <a:srgbClr val="334155"/>
                </a:solidFill>
                <a:latin typeface="Arial" pitchFamily="34" charset="0"/>
                <a:ea typeface="Arial" pitchFamily="34" charset="-122"/>
                <a:cs typeface="Arial" pitchFamily="34" charset="-120"/>
              </a:rPr>
              <a:t>+ تجهيز الإجراءات + تقرير شهري</a:t>
            </a:r>
            <a:endParaRPr lang="en-US" sz="1150" dirty="0"/>
          </a:p>
        </p:txBody>
      </p:sp>
      <p:sp>
        <p:nvSpPr>
          <p:cNvPr id="14" name="Shape 12"/>
          <p:cNvSpPr/>
          <p:nvPr/>
        </p:nvSpPr>
        <p:spPr>
          <a:xfrm>
            <a:off x="6035040" y="2286000"/>
            <a:ext cx="2560320" cy="2148840"/>
          </a:xfrm>
          <a:prstGeom prst="roundRect">
            <a:avLst>
              <a:gd name="adj" fmla="val 3830"/>
            </a:avLst>
          </a:prstGeom>
          <a:solidFill>
            <a:srgbClr val="0F172A"/>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5" name="Text 13"/>
          <p:cNvSpPr/>
          <p:nvPr/>
        </p:nvSpPr>
        <p:spPr>
          <a:xfrm>
            <a:off x="6217920" y="2468880"/>
            <a:ext cx="2194560" cy="502920"/>
          </a:xfrm>
          <a:prstGeom prst="rect">
            <a:avLst/>
          </a:prstGeom>
          <a:noFill/>
          <a:ln/>
        </p:spPr>
        <p:txBody>
          <a:bodyPr wrap="square" lIns="0" tIns="0" rIns="0" bIns="0" rtlCol="0" anchor="ctr"/>
          <a:lstStyle/>
          <a:p>
            <a:pPr algn="l" indent="0" marL="0">
              <a:buNone/>
            </a:pPr>
            <a:r>
              <a:rPr lang="en-US" sz="2600" b="1" dirty="0">
                <a:solidFill>
                  <a:srgbClr val="10B981"/>
                </a:solidFill>
                <a:latin typeface="Arial" pitchFamily="34" charset="0"/>
                <a:ea typeface="Arial" pitchFamily="34" charset="-122"/>
                <a:cs typeface="Arial" pitchFamily="34" charset="-120"/>
              </a:rPr>
              <a:t>1,499 ﷼</a:t>
            </a:r>
            <a:endParaRPr lang="en-US" sz="2600" dirty="0"/>
          </a:p>
        </p:txBody>
      </p:sp>
      <p:sp>
        <p:nvSpPr>
          <p:cNvPr id="16" name="Text 14"/>
          <p:cNvSpPr/>
          <p:nvPr/>
        </p:nvSpPr>
        <p:spPr>
          <a:xfrm>
            <a:off x="6217920" y="3035808"/>
            <a:ext cx="2194560" cy="365760"/>
          </a:xfrm>
          <a:prstGeom prst="rect">
            <a:avLst/>
          </a:prstGeom>
          <a:noFill/>
          <a:ln/>
        </p:spPr>
        <p:txBody>
          <a:bodyPr wrap="square" lIns="0" tIns="0" rIns="0" bIns="0" rtlCol="0" anchor="t"/>
          <a:lstStyle/>
          <a:p>
            <a:pPr rtl="1" algn="r" indent="0" marL="0">
              <a:lnSpc>
                <a:spcPct val="105000"/>
              </a:lnSpc>
              <a:buNone/>
            </a:pPr>
            <a:r>
              <a:rPr lang="en-US" sz="1350" b="1" dirty="0">
                <a:solidFill>
                  <a:srgbClr val="FFFFFF"/>
                </a:solidFill>
                <a:latin typeface="Arial" pitchFamily="34" charset="0"/>
                <a:ea typeface="Arial" pitchFamily="34" charset="-122"/>
                <a:cs typeface="Arial" pitchFamily="34" charset="-120"/>
              </a:rPr>
              <a:t>50–249 موظفًا</a:t>
            </a:r>
            <a:endParaRPr lang="en-US" sz="1350" dirty="0"/>
          </a:p>
        </p:txBody>
      </p:sp>
      <p:sp>
        <p:nvSpPr>
          <p:cNvPr id="17" name="Text 15"/>
          <p:cNvSpPr/>
          <p:nvPr/>
        </p:nvSpPr>
        <p:spPr>
          <a:xfrm>
            <a:off x="6217920" y="3456432"/>
            <a:ext cx="2194560" cy="868680"/>
          </a:xfrm>
          <a:prstGeom prst="rect">
            <a:avLst/>
          </a:prstGeom>
          <a:noFill/>
          <a:ln/>
        </p:spPr>
        <p:txBody>
          <a:bodyPr wrap="square" lIns="0" tIns="0" rIns="0" bIns="0" rtlCol="0" anchor="t"/>
          <a:lstStyle/>
          <a:p>
            <a:pPr rtl="1" algn="r" indent="0" marL="0">
              <a:lnSpc>
                <a:spcPct val="110000"/>
              </a:lnSpc>
              <a:buNone/>
            </a:pPr>
            <a:r>
              <a:rPr lang="en-US" sz="1150" dirty="0">
                <a:solidFill>
                  <a:srgbClr val="D5DEEA"/>
                </a:solidFill>
                <a:latin typeface="Arial" pitchFamily="34" charset="0"/>
                <a:ea typeface="Arial" pitchFamily="34" charset="-122"/>
                <a:cs typeface="Arial" pitchFamily="34" charset="-120"/>
              </a:rPr>
              <a:t>+ توطين متعدد المهن + أولوية تنفيذ</a:t>
            </a:r>
            <a:endParaRPr lang="en-US" sz="1150" dirty="0"/>
          </a:p>
        </p:txBody>
      </p:sp>
      <p:sp>
        <p:nvSpPr>
          <p:cNvPr id="18" name="Shape 16"/>
          <p:cNvSpPr/>
          <p:nvPr/>
        </p:nvSpPr>
        <p:spPr>
          <a:xfrm>
            <a:off x="8961120" y="2286000"/>
            <a:ext cx="2679192" cy="2148840"/>
          </a:xfrm>
          <a:prstGeom prst="roundRect">
            <a:avLst>
              <a:gd name="adj" fmla="val 3830"/>
            </a:avLst>
          </a:prstGeom>
          <a:solidFill>
            <a:srgbClr val="F8FAFC"/>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9" name="Text 17"/>
          <p:cNvSpPr/>
          <p:nvPr/>
        </p:nvSpPr>
        <p:spPr>
          <a:xfrm>
            <a:off x="9144000" y="2423160"/>
            <a:ext cx="2286000" cy="365760"/>
          </a:xfrm>
          <a:prstGeom prst="rect">
            <a:avLst/>
          </a:prstGeom>
          <a:noFill/>
          <a:ln/>
        </p:spPr>
        <p:txBody>
          <a:bodyPr wrap="square" lIns="0" tIns="0" rIns="0" bIns="0" rtlCol="0" anchor="t"/>
          <a:lstStyle/>
          <a:p>
            <a:pPr rtl="1" algn="r" indent="0" marL="0">
              <a:lnSpc>
                <a:spcPct val="105000"/>
              </a:lnSpc>
              <a:buNone/>
            </a:pPr>
            <a:r>
              <a:rPr lang="en-US" sz="1250" b="1" dirty="0">
                <a:solidFill>
                  <a:srgbClr val="1E293B"/>
                </a:solidFill>
                <a:latin typeface="Arial" pitchFamily="34" charset="0"/>
                <a:ea typeface="Arial" pitchFamily="34" charset="-122"/>
                <a:cs typeface="Arial" pitchFamily="34" charset="-120"/>
              </a:rPr>
              <a:t>مقابل موظف متفرغ</a:t>
            </a:r>
            <a:endParaRPr lang="en-US" sz="1250" dirty="0"/>
          </a:p>
        </p:txBody>
      </p:sp>
      <p:sp>
        <p:nvSpPr>
          <p:cNvPr id="20" name="Shape 18"/>
          <p:cNvSpPr/>
          <p:nvPr/>
        </p:nvSpPr>
        <p:spPr>
          <a:xfrm>
            <a:off x="9235440" y="3977640"/>
            <a:ext cx="777240" cy="292608"/>
          </a:xfrm>
          <a:prstGeom prst="roundRect">
            <a:avLst>
              <a:gd name="adj" fmla="val 15625"/>
            </a:avLst>
          </a:prstGeom>
          <a:solidFill>
            <a:srgbClr val="10B981"/>
          </a:solidFill>
          <a:ln/>
        </p:spPr>
      </p:sp>
      <p:sp>
        <p:nvSpPr>
          <p:cNvPr id="21" name="Shape 19"/>
          <p:cNvSpPr/>
          <p:nvPr/>
        </p:nvSpPr>
        <p:spPr>
          <a:xfrm>
            <a:off x="10241280" y="2880360"/>
            <a:ext cx="777240" cy="1389888"/>
          </a:xfrm>
          <a:prstGeom prst="roundRect">
            <a:avLst>
              <a:gd name="adj" fmla="val 5882"/>
            </a:avLst>
          </a:prstGeom>
          <a:solidFill>
            <a:srgbClr val="CBD5E1"/>
          </a:solidFill>
          <a:ln/>
        </p:spPr>
      </p:sp>
      <p:sp>
        <p:nvSpPr>
          <p:cNvPr id="22" name="Text 20"/>
          <p:cNvSpPr/>
          <p:nvPr/>
        </p:nvSpPr>
        <p:spPr>
          <a:xfrm>
            <a:off x="9235440" y="3657600"/>
            <a:ext cx="822960" cy="274320"/>
          </a:xfrm>
          <a:prstGeom prst="rect">
            <a:avLst/>
          </a:prstGeom>
          <a:noFill/>
          <a:ln/>
        </p:spPr>
        <p:txBody>
          <a:bodyPr wrap="square" lIns="0" tIns="0" rIns="0" bIns="0" rtlCol="0" anchor="t"/>
          <a:lstStyle/>
          <a:p>
            <a:pPr algn="ctr" indent="0" marL="0">
              <a:buNone/>
            </a:pPr>
            <a:r>
              <a:rPr lang="en-US" sz="1000" b="1" dirty="0">
                <a:solidFill>
                  <a:srgbClr val="10B981"/>
                </a:solidFill>
                <a:latin typeface="Arial" pitchFamily="34" charset="0"/>
                <a:ea typeface="Arial" pitchFamily="34" charset="-122"/>
                <a:cs typeface="Arial" pitchFamily="34" charset="-120"/>
              </a:rPr>
              <a:t>1.5K</a:t>
            </a:r>
            <a:endParaRPr lang="en-US" sz="1000" dirty="0"/>
          </a:p>
        </p:txBody>
      </p:sp>
      <p:sp>
        <p:nvSpPr>
          <p:cNvPr id="23" name="Text 21"/>
          <p:cNvSpPr/>
          <p:nvPr/>
        </p:nvSpPr>
        <p:spPr>
          <a:xfrm>
            <a:off x="10195560" y="2606040"/>
            <a:ext cx="914400" cy="274320"/>
          </a:xfrm>
          <a:prstGeom prst="rect">
            <a:avLst/>
          </a:prstGeom>
          <a:noFill/>
          <a:ln/>
        </p:spPr>
        <p:txBody>
          <a:bodyPr wrap="square" lIns="0" tIns="0" rIns="0" bIns="0" rtlCol="0" anchor="t"/>
          <a:lstStyle/>
          <a:p>
            <a:pPr algn="ctr" indent="0" marL="0">
              <a:buNone/>
            </a:pPr>
            <a:r>
              <a:rPr lang="en-US" sz="1000" b="1" dirty="0">
                <a:solidFill>
                  <a:srgbClr val="64748B"/>
                </a:solidFill>
                <a:latin typeface="Arial" pitchFamily="34" charset="0"/>
                <a:ea typeface="Arial" pitchFamily="34" charset="-122"/>
                <a:cs typeface="Arial" pitchFamily="34" charset="-120"/>
              </a:rPr>
              <a:t>8–15K</a:t>
            </a:r>
            <a:endParaRPr lang="en-US" sz="1000" dirty="0"/>
          </a:p>
        </p:txBody>
      </p:sp>
      <p:sp>
        <p:nvSpPr>
          <p:cNvPr id="24" name="Text 22"/>
          <p:cNvSpPr/>
          <p:nvPr/>
        </p:nvSpPr>
        <p:spPr>
          <a:xfrm>
            <a:off x="9144000" y="4315968"/>
            <a:ext cx="2286000" cy="320040"/>
          </a:xfrm>
          <a:prstGeom prst="rect">
            <a:avLst/>
          </a:prstGeom>
          <a:noFill/>
          <a:ln/>
        </p:spPr>
        <p:txBody>
          <a:bodyPr wrap="square" lIns="0" tIns="0" rIns="0" bIns="0" rtlCol="0" anchor="t"/>
          <a:lstStyle/>
          <a:p>
            <a:pPr rtl="1" algn="ctr" indent="0" marL="0">
              <a:lnSpc>
                <a:spcPct val="105000"/>
              </a:lnSpc>
              <a:buNone/>
            </a:pPr>
            <a:r>
              <a:rPr lang="en-US" sz="1100" b="1" dirty="0">
                <a:solidFill>
                  <a:srgbClr val="10B981"/>
                </a:solidFill>
                <a:latin typeface="Arial" pitchFamily="34" charset="0"/>
                <a:ea typeface="Arial" pitchFamily="34" charset="-122"/>
                <a:cs typeface="Arial" pitchFamily="34" charset="-120"/>
              </a:rPr>
              <a:t>≈ عُشر الكلفة</a:t>
            </a:r>
            <a:endParaRPr lang="en-US" sz="1100" dirty="0"/>
          </a:p>
        </p:txBody>
      </p:sp>
      <p:sp>
        <p:nvSpPr>
          <p:cNvPr id="25" name="Shape 23"/>
          <p:cNvSpPr/>
          <p:nvPr/>
        </p:nvSpPr>
        <p:spPr>
          <a:xfrm>
            <a:off x="548640" y="4709160"/>
            <a:ext cx="11091672" cy="1051560"/>
          </a:xfrm>
          <a:prstGeom prst="roundRect">
            <a:avLst>
              <a:gd name="adj" fmla="val 7826"/>
            </a:avLst>
          </a:prstGeom>
          <a:solidFill>
            <a:srgbClr val="F8FAFC"/>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26" name="Text 24"/>
          <p:cNvSpPr/>
          <p:nvPr/>
        </p:nvSpPr>
        <p:spPr>
          <a:xfrm>
            <a:off x="868680" y="4864608"/>
            <a:ext cx="10424160" cy="411480"/>
          </a:xfrm>
          <a:prstGeom prst="rect">
            <a:avLst/>
          </a:prstGeom>
          <a:noFill/>
          <a:ln/>
        </p:spPr>
        <p:txBody>
          <a:bodyPr wrap="square" lIns="0" tIns="0" rIns="0" bIns="0" rtlCol="0" anchor="t"/>
          <a:lstStyle/>
          <a:p>
            <a:pPr rtl="1" algn="r" indent="0" marL="0">
              <a:lnSpc>
                <a:spcPct val="105000"/>
              </a:lnSpc>
              <a:buNone/>
            </a:pPr>
            <a:r>
              <a:rPr lang="en-US" sz="1300" dirty="0">
                <a:solidFill>
                  <a:srgbClr val="334155"/>
                </a:solidFill>
                <a:latin typeface="Arial" pitchFamily="34" charset="0"/>
                <a:ea typeface="Arial" pitchFamily="34" charset="-122"/>
                <a:cs typeface="Arial" pitchFamily="34" charset="-120"/>
              </a:rPr>
              <a:t>+ رسوم تهيئة لمرة واحدة · تنفيذ مُدار للمعاملات الكبيرة · التوسع = منصات إضافية لنفس العميل.</a:t>
            </a:r>
            <a:endParaRPr lang="en-US" sz="1300" dirty="0"/>
          </a:p>
        </p:txBody>
      </p:sp>
      <p:sp>
        <p:nvSpPr>
          <p:cNvPr id="27" name="Text 25"/>
          <p:cNvSpPr/>
          <p:nvPr/>
        </p:nvSpPr>
        <p:spPr>
          <a:xfrm>
            <a:off x="868680" y="5285232"/>
            <a:ext cx="10424160" cy="365760"/>
          </a:xfrm>
          <a:prstGeom prst="rect">
            <a:avLst/>
          </a:prstGeom>
          <a:noFill/>
          <a:ln/>
        </p:spPr>
        <p:txBody>
          <a:bodyPr wrap="square" lIns="0" tIns="0" rIns="0" bIns="0" rtlCol="0" anchor="t"/>
          <a:lstStyle/>
          <a:p>
            <a:pPr rtl="1" algn="r" indent="0" marL="0">
              <a:lnSpc>
                <a:spcPct val="105000"/>
              </a:lnSpc>
              <a:buNone/>
            </a:pPr>
            <a:r>
              <a:rPr lang="en-US" sz="1150" b="1" dirty="0">
                <a:solidFill>
                  <a:srgbClr val="D97706"/>
                </a:solidFill>
                <a:latin typeface="Arial" pitchFamily="34" charset="0"/>
                <a:ea typeface="Arial" pitchFamily="34" charset="-122"/>
                <a:cs typeface="Arial" pitchFamily="34" charset="-120"/>
              </a:rPr>
              <a:t>⚠ الأسعار فرضيات اختبار — تُقفل بعد قياس تكلفة خدمة العميل في الـ Pilot.</a:t>
            </a:r>
            <a:endParaRPr lang="en-US" sz="1150" dirty="0"/>
          </a:p>
        </p:txBody>
      </p:sp>
      <p:sp>
        <p:nvSpPr>
          <p:cNvPr id="28" name="Text 26"/>
          <p:cNvSpPr/>
          <p:nvPr/>
        </p:nvSpPr>
        <p:spPr>
          <a:xfrm>
            <a:off x="548640" y="6419088"/>
            <a:ext cx="7315200" cy="274320"/>
          </a:xfrm>
          <a:prstGeom prst="rect">
            <a:avLst/>
          </a:prstGeom>
          <a:noFill/>
          <a:ln/>
        </p:spPr>
        <p:txBody>
          <a:bodyPr wrap="square" lIns="0" tIns="0" rIns="0" bIns="0" rtlCol="0" anchor="ctr"/>
          <a:lstStyle/>
          <a:p>
            <a:pPr algn="l" indent="0" marL="0">
              <a:buNone/>
            </a:pPr>
            <a:r>
              <a:rPr lang="en-US" sz="900" dirty="0">
                <a:solidFill>
                  <a:srgbClr val="64748B"/>
                </a:solidFill>
                <a:latin typeface="Arial" pitchFamily="34" charset="0"/>
                <a:ea typeface="Arial" pitchFamily="34" charset="-122"/>
                <a:cs typeface="Arial" pitchFamily="34" charset="-120"/>
              </a:rPr>
              <a:t>Business Partner · AI Compliance Agents</a:t>
            </a:r>
            <a:endParaRPr lang="en-US" sz="900" dirty="0"/>
          </a:p>
        </p:txBody>
      </p:sp>
      <p:sp>
        <p:nvSpPr>
          <p:cNvPr id="29" name="Text 27"/>
          <p:cNvSpPr/>
          <p:nvPr/>
        </p:nvSpPr>
        <p:spPr>
          <a:xfrm>
            <a:off x="10634472" y="6419088"/>
            <a:ext cx="10058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332720" y="-1280160"/>
            <a:ext cx="3291840" cy="3291840"/>
          </a:xfrm>
          <a:prstGeom prst="ellipse">
            <a:avLst/>
          </a:prstGeom>
          <a:solidFill>
            <a:srgbClr val="F1F5F9"/>
          </a:solidFill>
          <a:ln/>
        </p:spPr>
      </p:sp>
      <p:sp>
        <p:nvSpPr>
          <p:cNvPr id="3" name="Text 1"/>
          <p:cNvSpPr/>
          <p:nvPr/>
        </p:nvSpPr>
        <p:spPr>
          <a:xfrm>
            <a:off x="548640" y="548640"/>
            <a:ext cx="9144000" cy="274320"/>
          </a:xfrm>
          <a:prstGeom prst="rect">
            <a:avLst/>
          </a:prstGeom>
          <a:noFill/>
          <a:ln/>
        </p:spPr>
        <p:txBody>
          <a:bodyPr wrap="square" lIns="0" tIns="0" rIns="0" bIns="0" rtlCol="0" anchor="ctr"/>
          <a:lstStyle/>
          <a:p>
            <a:pPr algn="l" indent="0" marL="0">
              <a:buNone/>
            </a:pPr>
            <a:r>
              <a:rPr lang="en-US" sz="1100" b="1" spc="300" kern="0" dirty="0">
                <a:solidFill>
                  <a:srgbClr val="0066CC"/>
                </a:solidFill>
                <a:latin typeface="Arial" pitchFamily="34" charset="0"/>
                <a:ea typeface="Arial" pitchFamily="34" charset="-122"/>
                <a:cs typeface="Arial" pitchFamily="34" charset="-120"/>
              </a:rPr>
              <a:t>TRACTION &amp; VALIDATION · الإنجاز وخطة التحقق</a:t>
            </a:r>
            <a:endParaRPr lang="en-US" sz="1100" dirty="0"/>
          </a:p>
        </p:txBody>
      </p:sp>
      <p:sp>
        <p:nvSpPr>
          <p:cNvPr id="4" name="Text 2"/>
          <p:cNvSpPr/>
          <p:nvPr/>
        </p:nvSpPr>
        <p:spPr>
          <a:xfrm>
            <a:off x="548640" y="1005840"/>
            <a:ext cx="11091672" cy="777240"/>
          </a:xfrm>
          <a:prstGeom prst="rect">
            <a:avLst/>
          </a:prstGeom>
          <a:noFill/>
          <a:ln/>
        </p:spPr>
        <p:txBody>
          <a:bodyPr wrap="square" lIns="0" tIns="0" rIns="0" bIns="0" rtlCol="0" anchor="ctr"/>
          <a:lstStyle/>
          <a:p>
            <a:pPr rtl="1" algn="r" indent="0" marL="0">
              <a:buNone/>
            </a:pPr>
            <a:r>
              <a:rPr lang="en-US" sz="3000" b="1" dirty="0">
                <a:solidFill>
                  <a:srgbClr val="1E293B"/>
                </a:solidFill>
                <a:latin typeface="Arial" pitchFamily="34" charset="0"/>
                <a:ea typeface="Arial" pitchFamily="34" charset="-122"/>
                <a:cs typeface="Arial" pitchFamily="34" charset="-120"/>
              </a:rPr>
              <a:t>نظامٌ يعمل — والحاضنة تثبت موثوقيته</a:t>
            </a:r>
            <a:endParaRPr lang="en-US" sz="3000" dirty="0"/>
          </a:p>
        </p:txBody>
      </p:sp>
      <p:sp>
        <p:nvSpPr>
          <p:cNvPr id="5" name="Text 3"/>
          <p:cNvSpPr/>
          <p:nvPr/>
        </p:nvSpPr>
        <p:spPr>
          <a:xfrm>
            <a:off x="548640" y="1755648"/>
            <a:ext cx="11091672" cy="365760"/>
          </a:xfrm>
          <a:prstGeom prst="rect">
            <a:avLst/>
          </a:prstGeom>
          <a:noFill/>
          <a:ln/>
        </p:spPr>
        <p:txBody>
          <a:bodyPr wrap="square" lIns="0" tIns="0" rIns="0" bIns="0" rtlCol="0" anchor="ctr"/>
          <a:lstStyle/>
          <a:p>
            <a:pPr algn="l" indent="0" marL="0">
              <a:buNone/>
            </a:pPr>
            <a:r>
              <a:rPr lang="en-US" sz="1400" dirty="0">
                <a:solidFill>
                  <a:srgbClr val="64748B"/>
                </a:solidFill>
                <a:latin typeface="Arial" pitchFamily="34" charset="0"/>
                <a:ea typeface="Arial" pitchFamily="34" charset="-122"/>
                <a:cs typeface="Arial" pitchFamily="34" charset="-120"/>
              </a:rPr>
              <a:t>A working system — the incubator proves its reliability</a:t>
            </a:r>
            <a:endParaRPr lang="en-US" sz="1400" dirty="0"/>
          </a:p>
        </p:txBody>
      </p:sp>
      <p:sp>
        <p:nvSpPr>
          <p:cNvPr id="6" name="Shape 4"/>
          <p:cNvSpPr/>
          <p:nvPr/>
        </p:nvSpPr>
        <p:spPr>
          <a:xfrm>
            <a:off x="6245352" y="2331720"/>
            <a:ext cx="5394960" cy="3566160"/>
          </a:xfrm>
          <a:prstGeom prst="roundRect">
            <a:avLst>
              <a:gd name="adj" fmla="val 2308"/>
            </a:avLst>
          </a:prstGeom>
          <a:solidFill>
            <a:srgbClr val="ECFDF5"/>
          </a:solidFill>
          <a:ln w="12700">
            <a:solidFill>
              <a:srgbClr val="A7F3D0"/>
            </a:solidFill>
            <a:prstDash val="solid"/>
          </a:ln>
          <a:effectLst>
            <a:outerShdw sx="100000" sy="100000" kx="0" ky="0" algn="bl" rotWithShape="0" blurRad="76200" dist="25400" dir="5400000">
              <a:srgbClr val="94A3B8">
                <a:alpha val="25000"/>
              </a:srgbClr>
            </a:outerShdw>
          </a:effectLst>
        </p:spPr>
      </p:sp>
      <p:sp>
        <p:nvSpPr>
          <p:cNvPr id="7" name="Text 5"/>
          <p:cNvSpPr/>
          <p:nvPr/>
        </p:nvSpPr>
        <p:spPr>
          <a:xfrm>
            <a:off x="6519672" y="2514600"/>
            <a:ext cx="4846320" cy="411480"/>
          </a:xfrm>
          <a:prstGeom prst="rect">
            <a:avLst/>
          </a:prstGeom>
          <a:noFill/>
          <a:ln/>
        </p:spPr>
        <p:txBody>
          <a:bodyPr wrap="square" lIns="0" tIns="0" rIns="0" bIns="0" rtlCol="0" anchor="t"/>
          <a:lstStyle/>
          <a:p>
            <a:pPr rtl="1" algn="r" indent="0" marL="0">
              <a:lnSpc>
                <a:spcPct val="105000"/>
              </a:lnSpc>
              <a:buNone/>
            </a:pPr>
            <a:r>
              <a:rPr lang="en-US" sz="1600" b="1" dirty="0">
                <a:solidFill>
                  <a:srgbClr val="065F46"/>
                </a:solidFill>
                <a:latin typeface="Arial" pitchFamily="34" charset="0"/>
                <a:ea typeface="Arial" pitchFamily="34" charset="-122"/>
                <a:cs typeface="Arial" pitchFamily="34" charset="-120"/>
              </a:rPr>
              <a:t>مبنيّ اليوم ✓</a:t>
            </a:r>
            <a:endParaRPr lang="en-US" sz="1600" dirty="0"/>
          </a:p>
        </p:txBody>
      </p:sp>
      <p:sp>
        <p:nvSpPr>
          <p:cNvPr id="8" name="Shape 6"/>
          <p:cNvSpPr/>
          <p:nvPr/>
        </p:nvSpPr>
        <p:spPr>
          <a:xfrm>
            <a:off x="11183112" y="3090672"/>
            <a:ext cx="118872" cy="118872"/>
          </a:xfrm>
          <a:prstGeom prst="ellipse">
            <a:avLst/>
          </a:prstGeom>
          <a:solidFill>
            <a:srgbClr val="10B981"/>
          </a:solidFill>
          <a:ln/>
        </p:spPr>
      </p:sp>
      <p:sp>
        <p:nvSpPr>
          <p:cNvPr id="9" name="Text 7"/>
          <p:cNvSpPr/>
          <p:nvPr/>
        </p:nvSpPr>
        <p:spPr>
          <a:xfrm>
            <a:off x="6519672" y="3017520"/>
            <a:ext cx="4617720" cy="640080"/>
          </a:xfrm>
          <a:prstGeom prst="rect">
            <a:avLst/>
          </a:prstGeom>
          <a:noFill/>
          <a:ln/>
        </p:spPr>
        <p:txBody>
          <a:bodyPr wrap="square" lIns="0" tIns="0" rIns="0" bIns="0" rtlCol="0" anchor="t"/>
          <a:lstStyle/>
          <a:p>
            <a:pPr rtl="1" algn="r" indent="0" marL="0">
              <a:lnSpc>
                <a:spcPct val="108000"/>
              </a:lnSpc>
              <a:buNone/>
            </a:pPr>
            <a:r>
              <a:rPr lang="en-US" sz="1250" dirty="0">
                <a:solidFill>
                  <a:srgbClr val="064E3B"/>
                </a:solidFill>
                <a:latin typeface="Arial" pitchFamily="34" charset="0"/>
                <a:ea typeface="Arial" pitchFamily="34" charset="-122"/>
                <a:cs typeface="Arial" pitchFamily="34" charset="-120"/>
              </a:rPr>
              <a:t>وكيل مراقبة يومي حيّ (n8n · تقرير 07:00) + وكيل محادثة.</a:t>
            </a:r>
            <a:endParaRPr lang="en-US" sz="1250" dirty="0"/>
          </a:p>
        </p:txBody>
      </p:sp>
      <p:sp>
        <p:nvSpPr>
          <p:cNvPr id="10" name="Shape 8"/>
          <p:cNvSpPr/>
          <p:nvPr/>
        </p:nvSpPr>
        <p:spPr>
          <a:xfrm>
            <a:off x="11183112" y="3776472"/>
            <a:ext cx="118872" cy="118872"/>
          </a:xfrm>
          <a:prstGeom prst="ellipse">
            <a:avLst/>
          </a:prstGeom>
          <a:solidFill>
            <a:srgbClr val="10B981"/>
          </a:solidFill>
          <a:ln/>
        </p:spPr>
      </p:sp>
      <p:sp>
        <p:nvSpPr>
          <p:cNvPr id="11" name="Text 9"/>
          <p:cNvSpPr/>
          <p:nvPr/>
        </p:nvSpPr>
        <p:spPr>
          <a:xfrm>
            <a:off x="6519672" y="3703320"/>
            <a:ext cx="4617720" cy="640080"/>
          </a:xfrm>
          <a:prstGeom prst="rect">
            <a:avLst/>
          </a:prstGeom>
          <a:noFill/>
          <a:ln/>
        </p:spPr>
        <p:txBody>
          <a:bodyPr wrap="square" lIns="0" tIns="0" rIns="0" bIns="0" rtlCol="0" anchor="t"/>
          <a:lstStyle/>
          <a:p>
            <a:pPr rtl="1" algn="r" indent="0" marL="0">
              <a:lnSpc>
                <a:spcPct val="108000"/>
              </a:lnSpc>
              <a:buNone/>
            </a:pPr>
            <a:r>
              <a:rPr lang="en-US" sz="1250" dirty="0">
                <a:solidFill>
                  <a:srgbClr val="064E3B"/>
                </a:solidFill>
                <a:latin typeface="Arial" pitchFamily="34" charset="0"/>
                <a:ea typeface="Arial" pitchFamily="34" charset="-122"/>
                <a:cs typeface="Arial" pitchFamily="34" charset="-120"/>
              </a:rPr>
              <a:t>سجل امتثال + سجل تدقيق + بوابة موافقات في Notion.</a:t>
            </a:r>
            <a:endParaRPr lang="en-US" sz="1250" dirty="0"/>
          </a:p>
        </p:txBody>
      </p:sp>
      <p:sp>
        <p:nvSpPr>
          <p:cNvPr id="12" name="Shape 10"/>
          <p:cNvSpPr/>
          <p:nvPr/>
        </p:nvSpPr>
        <p:spPr>
          <a:xfrm>
            <a:off x="11183112" y="4462272"/>
            <a:ext cx="118872" cy="118872"/>
          </a:xfrm>
          <a:prstGeom prst="ellipse">
            <a:avLst/>
          </a:prstGeom>
          <a:solidFill>
            <a:srgbClr val="10B981"/>
          </a:solidFill>
          <a:ln/>
        </p:spPr>
      </p:sp>
      <p:sp>
        <p:nvSpPr>
          <p:cNvPr id="13" name="Text 11"/>
          <p:cNvSpPr/>
          <p:nvPr/>
        </p:nvSpPr>
        <p:spPr>
          <a:xfrm>
            <a:off x="6519672" y="4389120"/>
            <a:ext cx="4617720" cy="640080"/>
          </a:xfrm>
          <a:prstGeom prst="rect">
            <a:avLst/>
          </a:prstGeom>
          <a:noFill/>
          <a:ln/>
        </p:spPr>
        <p:txBody>
          <a:bodyPr wrap="square" lIns="0" tIns="0" rIns="0" bIns="0" rtlCol="0" anchor="t"/>
          <a:lstStyle/>
          <a:p>
            <a:pPr rtl="1" algn="r" indent="0" marL="0">
              <a:lnSpc>
                <a:spcPct val="108000"/>
              </a:lnSpc>
              <a:buNone/>
            </a:pPr>
            <a:r>
              <a:rPr lang="en-US" sz="1250" dirty="0">
                <a:solidFill>
                  <a:srgbClr val="064E3B"/>
                </a:solidFill>
                <a:latin typeface="Arial" pitchFamily="34" charset="0"/>
                <a:ea typeface="Arial" pitchFamily="34" charset="-122"/>
                <a:cs typeface="Arial" pitchFamily="34" charset="-120"/>
              </a:rPr>
              <a:t>حاسبات نطاقات ورسوم + مكتبة 83 مرجعًا حكوميًا رسميًا.</a:t>
            </a:r>
            <a:endParaRPr lang="en-US" sz="1250" dirty="0"/>
          </a:p>
        </p:txBody>
      </p:sp>
      <p:sp>
        <p:nvSpPr>
          <p:cNvPr id="14" name="Shape 12"/>
          <p:cNvSpPr/>
          <p:nvPr/>
        </p:nvSpPr>
        <p:spPr>
          <a:xfrm>
            <a:off x="11183112" y="5148072"/>
            <a:ext cx="118872" cy="118872"/>
          </a:xfrm>
          <a:prstGeom prst="ellipse">
            <a:avLst/>
          </a:prstGeom>
          <a:solidFill>
            <a:srgbClr val="10B981"/>
          </a:solidFill>
          <a:ln/>
        </p:spPr>
      </p:sp>
      <p:sp>
        <p:nvSpPr>
          <p:cNvPr id="15" name="Text 13"/>
          <p:cNvSpPr/>
          <p:nvPr/>
        </p:nvSpPr>
        <p:spPr>
          <a:xfrm>
            <a:off x="6519672" y="5074920"/>
            <a:ext cx="4617720" cy="640080"/>
          </a:xfrm>
          <a:prstGeom prst="rect">
            <a:avLst/>
          </a:prstGeom>
          <a:noFill/>
          <a:ln/>
        </p:spPr>
        <p:txBody>
          <a:bodyPr wrap="square" lIns="0" tIns="0" rIns="0" bIns="0" rtlCol="0" anchor="t"/>
          <a:lstStyle/>
          <a:p>
            <a:pPr rtl="1" algn="r" indent="0" marL="0">
              <a:lnSpc>
                <a:spcPct val="108000"/>
              </a:lnSpc>
              <a:buNone/>
            </a:pPr>
            <a:r>
              <a:rPr lang="en-US" sz="1250" dirty="0">
                <a:solidFill>
                  <a:srgbClr val="064E3B"/>
                </a:solidFill>
                <a:latin typeface="Arial" pitchFamily="34" charset="0"/>
                <a:ea typeface="Arial" pitchFamily="34" charset="-122"/>
                <a:cs typeface="Arial" pitchFamily="34" charset="-120"/>
              </a:rPr>
              <a:t>محرك واتساب + شركة خدمات قائمة تدرّ دخلًا ومعرفة.</a:t>
            </a:r>
            <a:endParaRPr lang="en-US" sz="1250" dirty="0"/>
          </a:p>
        </p:txBody>
      </p:sp>
      <p:sp>
        <p:nvSpPr>
          <p:cNvPr id="16" name="Shape 14"/>
          <p:cNvSpPr/>
          <p:nvPr/>
        </p:nvSpPr>
        <p:spPr>
          <a:xfrm>
            <a:off x="548640" y="2331720"/>
            <a:ext cx="5394960" cy="3566160"/>
          </a:xfrm>
          <a:prstGeom prst="roundRect">
            <a:avLst>
              <a:gd name="adj" fmla="val 2308"/>
            </a:avLst>
          </a:prstGeom>
          <a:solidFill>
            <a:srgbClr val="F8FAFC"/>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7" name="Text 15"/>
          <p:cNvSpPr/>
          <p:nvPr/>
        </p:nvSpPr>
        <p:spPr>
          <a:xfrm>
            <a:off x="822960" y="2514600"/>
            <a:ext cx="4846320" cy="411480"/>
          </a:xfrm>
          <a:prstGeom prst="rect">
            <a:avLst/>
          </a:prstGeom>
          <a:noFill/>
          <a:ln/>
        </p:spPr>
        <p:txBody>
          <a:bodyPr wrap="square" lIns="0" tIns="0" rIns="0" bIns="0" rtlCol="0" anchor="t"/>
          <a:lstStyle/>
          <a:p>
            <a:pPr rtl="1" algn="r" indent="0" marL="0">
              <a:lnSpc>
                <a:spcPct val="105000"/>
              </a:lnSpc>
              <a:buNone/>
            </a:pPr>
            <a:r>
              <a:rPr lang="en-US" sz="1600" b="1" dirty="0">
                <a:solidFill>
                  <a:srgbClr val="0066CC"/>
                </a:solidFill>
                <a:latin typeface="Arial" pitchFamily="34" charset="0"/>
                <a:ea typeface="Arial" pitchFamily="34" charset="-122"/>
                <a:cs typeface="Arial" pitchFamily="34" charset="-120"/>
              </a:rPr>
              <a:t>نثبته في البرنامج 🎯</a:t>
            </a:r>
            <a:endParaRPr lang="en-US" sz="1600" dirty="0"/>
          </a:p>
        </p:txBody>
      </p:sp>
      <p:sp>
        <p:nvSpPr>
          <p:cNvPr id="18" name="Shape 16"/>
          <p:cNvSpPr/>
          <p:nvPr/>
        </p:nvSpPr>
        <p:spPr>
          <a:xfrm>
            <a:off x="5486400" y="3090672"/>
            <a:ext cx="118872" cy="118872"/>
          </a:xfrm>
          <a:prstGeom prst="ellipse">
            <a:avLst/>
          </a:prstGeom>
          <a:solidFill>
            <a:srgbClr val="0066CC"/>
          </a:solidFill>
          <a:ln/>
        </p:spPr>
      </p:sp>
      <p:sp>
        <p:nvSpPr>
          <p:cNvPr id="19" name="Text 17"/>
          <p:cNvSpPr/>
          <p:nvPr/>
        </p:nvSpPr>
        <p:spPr>
          <a:xfrm>
            <a:off x="822960" y="3017520"/>
            <a:ext cx="4617720" cy="640080"/>
          </a:xfrm>
          <a:prstGeom prst="rect">
            <a:avLst/>
          </a:prstGeom>
          <a:noFill/>
          <a:ln/>
        </p:spPr>
        <p:txBody>
          <a:bodyPr wrap="square" lIns="0" tIns="0" rIns="0" bIns="0" rtlCol="0" anchor="t"/>
          <a:lstStyle/>
          <a:p>
            <a:pPr rtl="1" algn="r" indent="0" marL="0">
              <a:lnSpc>
                <a:spcPct val="108000"/>
              </a:lnSpc>
              <a:buNone/>
            </a:pPr>
            <a:r>
              <a:rPr lang="en-US" sz="1250" dirty="0">
                <a:solidFill>
                  <a:srgbClr val="334155"/>
                </a:solidFill>
                <a:latin typeface="Arial" pitchFamily="34" charset="0"/>
                <a:ea typeface="Arial" pitchFamily="34" charset="-122"/>
                <a:cs typeface="Arial" pitchFamily="34" charset="-120"/>
              </a:rPr>
              <a:t>الإسفين الضيق: مراقبة نطاقات/حماية الأجور تعمل بموثوقية.</a:t>
            </a:r>
            <a:endParaRPr lang="en-US" sz="1250" dirty="0"/>
          </a:p>
        </p:txBody>
      </p:sp>
      <p:sp>
        <p:nvSpPr>
          <p:cNvPr id="20" name="Shape 18"/>
          <p:cNvSpPr/>
          <p:nvPr/>
        </p:nvSpPr>
        <p:spPr>
          <a:xfrm>
            <a:off x="5486400" y="3776472"/>
            <a:ext cx="118872" cy="118872"/>
          </a:xfrm>
          <a:prstGeom prst="ellipse">
            <a:avLst/>
          </a:prstGeom>
          <a:solidFill>
            <a:srgbClr val="0066CC"/>
          </a:solidFill>
          <a:ln/>
        </p:spPr>
      </p:sp>
      <p:sp>
        <p:nvSpPr>
          <p:cNvPr id="21" name="Text 19"/>
          <p:cNvSpPr/>
          <p:nvPr/>
        </p:nvSpPr>
        <p:spPr>
          <a:xfrm>
            <a:off x="822960" y="3703320"/>
            <a:ext cx="4617720" cy="640080"/>
          </a:xfrm>
          <a:prstGeom prst="rect">
            <a:avLst/>
          </a:prstGeom>
          <a:noFill/>
          <a:ln/>
        </p:spPr>
        <p:txBody>
          <a:bodyPr wrap="square" lIns="0" tIns="0" rIns="0" bIns="0" rtlCol="0" anchor="t"/>
          <a:lstStyle/>
          <a:p>
            <a:pPr rtl="1" algn="r" indent="0" marL="0">
              <a:lnSpc>
                <a:spcPct val="108000"/>
              </a:lnSpc>
              <a:buNone/>
            </a:pPr>
            <a:r>
              <a:rPr lang="en-US" sz="1250" dirty="0">
                <a:solidFill>
                  <a:srgbClr val="334155"/>
                </a:solidFill>
                <a:latin typeface="Arial" pitchFamily="34" charset="0"/>
                <a:ea typeface="Arial" pitchFamily="34" charset="-122"/>
                <a:cs typeface="Arial" pitchFamily="34" charset="-120"/>
              </a:rPr>
              <a:t>لـ 20–50 منشأة حقيقية خلال 90 يومًا.</a:t>
            </a:r>
            <a:endParaRPr lang="en-US" sz="1250" dirty="0"/>
          </a:p>
        </p:txBody>
      </p:sp>
      <p:sp>
        <p:nvSpPr>
          <p:cNvPr id="22" name="Shape 20"/>
          <p:cNvSpPr/>
          <p:nvPr/>
        </p:nvSpPr>
        <p:spPr>
          <a:xfrm>
            <a:off x="5486400" y="4462272"/>
            <a:ext cx="118872" cy="118872"/>
          </a:xfrm>
          <a:prstGeom prst="ellipse">
            <a:avLst/>
          </a:prstGeom>
          <a:solidFill>
            <a:srgbClr val="0066CC"/>
          </a:solidFill>
          <a:ln/>
        </p:spPr>
      </p:sp>
      <p:sp>
        <p:nvSpPr>
          <p:cNvPr id="23" name="Text 21"/>
          <p:cNvSpPr/>
          <p:nvPr/>
        </p:nvSpPr>
        <p:spPr>
          <a:xfrm>
            <a:off x="822960" y="4389120"/>
            <a:ext cx="4617720" cy="640080"/>
          </a:xfrm>
          <a:prstGeom prst="rect">
            <a:avLst/>
          </a:prstGeom>
          <a:noFill/>
          <a:ln/>
        </p:spPr>
        <p:txBody>
          <a:bodyPr wrap="square" lIns="0" tIns="0" rIns="0" bIns="0" rtlCol="0" anchor="t"/>
          <a:lstStyle/>
          <a:p>
            <a:pPr rtl="1" algn="r" indent="0" marL="0">
              <a:lnSpc>
                <a:spcPct val="108000"/>
              </a:lnSpc>
              <a:buNone/>
            </a:pPr>
            <a:r>
              <a:rPr lang="en-US" sz="1250" dirty="0">
                <a:solidFill>
                  <a:srgbClr val="334155"/>
                </a:solidFill>
                <a:latin typeface="Arial" pitchFamily="34" charset="0"/>
                <a:ea typeface="Arial" pitchFamily="34" charset="-122"/>
                <a:cs typeface="Arial" pitchFamily="34" charset="-120"/>
              </a:rPr>
              <a:t>المقاييس: دقة التنبيه · الزمن من التنبيه للإجراء · الاحتفاظ.</a:t>
            </a:r>
            <a:endParaRPr lang="en-US" sz="1250" dirty="0"/>
          </a:p>
        </p:txBody>
      </p:sp>
      <p:sp>
        <p:nvSpPr>
          <p:cNvPr id="24" name="Shape 22"/>
          <p:cNvSpPr/>
          <p:nvPr/>
        </p:nvSpPr>
        <p:spPr>
          <a:xfrm>
            <a:off x="5486400" y="5148072"/>
            <a:ext cx="118872" cy="118872"/>
          </a:xfrm>
          <a:prstGeom prst="ellipse">
            <a:avLst/>
          </a:prstGeom>
          <a:solidFill>
            <a:srgbClr val="0066CC"/>
          </a:solidFill>
          <a:ln/>
        </p:spPr>
      </p:sp>
      <p:sp>
        <p:nvSpPr>
          <p:cNvPr id="25" name="Text 23"/>
          <p:cNvSpPr/>
          <p:nvPr/>
        </p:nvSpPr>
        <p:spPr>
          <a:xfrm>
            <a:off x="822960" y="5074920"/>
            <a:ext cx="4617720" cy="640080"/>
          </a:xfrm>
          <a:prstGeom prst="rect">
            <a:avLst/>
          </a:prstGeom>
          <a:noFill/>
          <a:ln/>
        </p:spPr>
        <p:txBody>
          <a:bodyPr wrap="square" lIns="0" tIns="0" rIns="0" bIns="0" rtlCol="0" anchor="t"/>
          <a:lstStyle/>
          <a:p>
            <a:pPr rtl="1" algn="r" indent="0" marL="0">
              <a:lnSpc>
                <a:spcPct val="108000"/>
              </a:lnSpc>
              <a:buNone/>
            </a:pPr>
            <a:r>
              <a:rPr lang="en-US" sz="1250" dirty="0">
                <a:solidFill>
                  <a:srgbClr val="334155"/>
                </a:solidFill>
                <a:latin typeface="Arial" pitchFamily="34" charset="0"/>
                <a:ea typeface="Arial" pitchFamily="34" charset="-122"/>
                <a:cs typeface="Arial" pitchFamily="34" charset="-120"/>
              </a:rPr>
              <a:t>الاستعداد للدفع + تكلفة خدمة العميل الفعلية.</a:t>
            </a:r>
            <a:endParaRPr lang="en-US" sz="1250" dirty="0"/>
          </a:p>
        </p:txBody>
      </p:sp>
      <p:sp>
        <p:nvSpPr>
          <p:cNvPr id="26" name="Text 24"/>
          <p:cNvSpPr/>
          <p:nvPr/>
        </p:nvSpPr>
        <p:spPr>
          <a:xfrm>
            <a:off x="548640" y="6419088"/>
            <a:ext cx="7315200" cy="274320"/>
          </a:xfrm>
          <a:prstGeom prst="rect">
            <a:avLst/>
          </a:prstGeom>
          <a:noFill/>
          <a:ln/>
        </p:spPr>
        <p:txBody>
          <a:bodyPr wrap="square" lIns="0" tIns="0" rIns="0" bIns="0" rtlCol="0" anchor="ctr"/>
          <a:lstStyle/>
          <a:p>
            <a:pPr algn="l" indent="0" marL="0">
              <a:buNone/>
            </a:pPr>
            <a:r>
              <a:rPr lang="en-US" sz="900" dirty="0">
                <a:solidFill>
                  <a:srgbClr val="64748B"/>
                </a:solidFill>
                <a:latin typeface="Arial" pitchFamily="34" charset="0"/>
                <a:ea typeface="Arial" pitchFamily="34" charset="-122"/>
                <a:cs typeface="Arial" pitchFamily="34" charset="-120"/>
              </a:rPr>
              <a:t>Business Partner · AI Compliance Agents</a:t>
            </a:r>
            <a:endParaRPr lang="en-US" sz="900" dirty="0"/>
          </a:p>
        </p:txBody>
      </p:sp>
      <p:sp>
        <p:nvSpPr>
          <p:cNvPr id="27" name="Text 25"/>
          <p:cNvSpPr/>
          <p:nvPr/>
        </p:nvSpPr>
        <p:spPr>
          <a:xfrm>
            <a:off x="10634472" y="6419088"/>
            <a:ext cx="10058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0241280" y="-1371600"/>
            <a:ext cx="3474720" cy="3474720"/>
          </a:xfrm>
          <a:prstGeom prst="ellipse">
            <a:avLst/>
          </a:prstGeom>
          <a:solidFill>
            <a:srgbClr val="1E293B"/>
          </a:solidFill>
          <a:ln/>
        </p:spPr>
      </p:sp>
      <p:sp>
        <p:nvSpPr>
          <p:cNvPr id="3" name="Text 1"/>
          <p:cNvSpPr/>
          <p:nvPr/>
        </p:nvSpPr>
        <p:spPr>
          <a:xfrm>
            <a:off x="548640" y="548640"/>
            <a:ext cx="9144000" cy="274320"/>
          </a:xfrm>
          <a:prstGeom prst="rect">
            <a:avLst/>
          </a:prstGeom>
          <a:noFill/>
          <a:ln/>
        </p:spPr>
        <p:txBody>
          <a:bodyPr wrap="square" lIns="0" tIns="0" rIns="0" bIns="0" rtlCol="0" anchor="ctr"/>
          <a:lstStyle/>
          <a:p>
            <a:pPr algn="l" indent="0" marL="0">
              <a:buNone/>
            </a:pPr>
            <a:r>
              <a:rPr lang="en-US" sz="1100" b="1" spc="300" kern="0" dirty="0">
                <a:solidFill>
                  <a:srgbClr val="10B981"/>
                </a:solidFill>
                <a:latin typeface="Arial" pitchFamily="34" charset="0"/>
                <a:ea typeface="Arial" pitchFamily="34" charset="-122"/>
                <a:cs typeface="Arial" pitchFamily="34" charset="-120"/>
              </a:rPr>
              <a:t>THE ASK · الطلب من البرنامج</a:t>
            </a:r>
            <a:endParaRPr lang="en-US" sz="1100" dirty="0"/>
          </a:p>
        </p:txBody>
      </p:sp>
      <p:sp>
        <p:nvSpPr>
          <p:cNvPr id="4" name="Text 2"/>
          <p:cNvSpPr/>
          <p:nvPr/>
        </p:nvSpPr>
        <p:spPr>
          <a:xfrm>
            <a:off x="548640" y="1005840"/>
            <a:ext cx="11091672" cy="777240"/>
          </a:xfrm>
          <a:prstGeom prst="rect">
            <a:avLst/>
          </a:prstGeom>
          <a:noFill/>
          <a:ln/>
        </p:spPr>
        <p:txBody>
          <a:bodyPr wrap="square" lIns="0" tIns="0" rIns="0" bIns="0" rtlCol="0" anchor="ctr"/>
          <a:lstStyle/>
          <a:p>
            <a:pPr rtl="1" algn="r" indent="0" marL="0">
              <a:buNone/>
            </a:pPr>
            <a:r>
              <a:rPr lang="en-US" sz="3000" b="1" dirty="0">
                <a:solidFill>
                  <a:srgbClr val="FFFFFF"/>
                </a:solidFill>
                <a:latin typeface="Arial" pitchFamily="34" charset="0"/>
                <a:ea typeface="Arial" pitchFamily="34" charset="-122"/>
                <a:cs typeface="Arial" pitchFamily="34" charset="-120"/>
              </a:rPr>
              <a:t>ماذا نطلب من Ittica — وماذا سنصنع به</a:t>
            </a:r>
            <a:endParaRPr lang="en-US" sz="3000" dirty="0"/>
          </a:p>
        </p:txBody>
      </p:sp>
      <p:sp>
        <p:nvSpPr>
          <p:cNvPr id="5" name="Text 3"/>
          <p:cNvSpPr/>
          <p:nvPr/>
        </p:nvSpPr>
        <p:spPr>
          <a:xfrm>
            <a:off x="548640" y="1755648"/>
            <a:ext cx="11091672" cy="365760"/>
          </a:xfrm>
          <a:prstGeom prst="rect">
            <a:avLst/>
          </a:prstGeom>
          <a:noFill/>
          <a:ln/>
        </p:spPr>
        <p:txBody>
          <a:bodyPr wrap="square" lIns="0" tIns="0" rIns="0" bIns="0" rtlCol="0" anchor="ctr"/>
          <a:lstStyle/>
          <a:p>
            <a:pPr algn="l" indent="0" marL="0">
              <a:buNone/>
            </a:pPr>
            <a:r>
              <a:rPr lang="en-US" sz="1400" dirty="0">
                <a:solidFill>
                  <a:srgbClr val="AEC0D6"/>
                </a:solidFill>
                <a:latin typeface="Arial" pitchFamily="34" charset="0"/>
                <a:ea typeface="Arial" pitchFamily="34" charset="-122"/>
                <a:cs typeface="Arial" pitchFamily="34" charset="-120"/>
              </a:rPr>
              <a:t>What we ask — and what we'll build with it</a:t>
            </a:r>
            <a:endParaRPr lang="en-US" sz="1400" dirty="0"/>
          </a:p>
        </p:txBody>
      </p:sp>
      <p:sp>
        <p:nvSpPr>
          <p:cNvPr id="6" name="Shape 4"/>
          <p:cNvSpPr/>
          <p:nvPr/>
        </p:nvSpPr>
        <p:spPr>
          <a:xfrm>
            <a:off x="548640" y="2286000"/>
            <a:ext cx="3429000" cy="1600200"/>
          </a:xfrm>
          <a:prstGeom prst="roundRect">
            <a:avLst>
              <a:gd name="adj" fmla="val 5143"/>
            </a:avLst>
          </a:prstGeom>
          <a:solidFill>
            <a:srgbClr val="1E293B"/>
          </a:solidFill>
          <a:ln w="12700">
            <a:solidFill>
              <a:srgbClr val="334155"/>
            </a:solidFill>
            <a:prstDash val="solid"/>
          </a:ln>
          <a:effectLst>
            <a:outerShdw sx="100000" sy="100000" kx="0" ky="0" algn="bl" rotWithShape="0" blurRad="76200" dist="25400" dir="5400000">
              <a:srgbClr val="94A3B8">
                <a:alpha val="25000"/>
              </a:srgbClr>
            </a:outerShdw>
          </a:effectLst>
        </p:spPr>
      </p:sp>
      <p:sp>
        <p:nvSpPr>
          <p:cNvPr id="7" name="Shape 5"/>
          <p:cNvSpPr/>
          <p:nvPr/>
        </p:nvSpPr>
        <p:spPr>
          <a:xfrm>
            <a:off x="3319272" y="2468880"/>
            <a:ext cx="457200" cy="457200"/>
          </a:xfrm>
          <a:prstGeom prst="ellipse">
            <a:avLst/>
          </a:prstGeom>
          <a:solidFill>
            <a:srgbClr val="10B981"/>
          </a:solidFill>
          <a:ln/>
        </p:spPr>
      </p:sp>
      <p:sp>
        <p:nvSpPr>
          <p:cNvPr id="8" name="Text 6"/>
          <p:cNvSpPr/>
          <p:nvPr/>
        </p:nvSpPr>
        <p:spPr>
          <a:xfrm>
            <a:off x="3319272" y="2468880"/>
            <a:ext cx="457200" cy="457200"/>
          </a:xfrm>
          <a:prstGeom prst="rect">
            <a:avLst/>
          </a:prstGeom>
          <a:noFill/>
          <a:ln/>
        </p:spPr>
        <p:txBody>
          <a:bodyPr wrap="square" lIns="0" tIns="0" rIns="0" bIns="0" rtlCol="0" anchor="ctr"/>
          <a:lstStyle/>
          <a:p>
            <a:pPr algn="ctr" indent="0" marL="0">
              <a:buNone/>
            </a:pPr>
            <a:r>
              <a:rPr lang="en-US" sz="1500" b="1" dirty="0">
                <a:solidFill>
                  <a:srgbClr val="06231A"/>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804672" y="2514600"/>
            <a:ext cx="2377440" cy="457200"/>
          </a:xfrm>
          <a:prstGeom prst="rect">
            <a:avLst/>
          </a:prstGeom>
          <a:noFill/>
          <a:ln/>
        </p:spPr>
        <p:txBody>
          <a:bodyPr wrap="square" lIns="0" tIns="0" rIns="0" bIns="0" rtlCol="0" anchor="t"/>
          <a:lstStyle/>
          <a:p>
            <a:pPr rtl="1" algn="r" indent="0" marL="0">
              <a:lnSpc>
                <a:spcPct val="105000"/>
              </a:lnSpc>
              <a:buNone/>
            </a:pPr>
            <a:r>
              <a:rPr lang="en-US" sz="1550" b="1" dirty="0">
                <a:solidFill>
                  <a:srgbClr val="FFFFFF"/>
                </a:solidFill>
                <a:latin typeface="Arial" pitchFamily="34" charset="0"/>
                <a:ea typeface="Arial" pitchFamily="34" charset="-122"/>
                <a:cs typeface="Arial" pitchFamily="34" charset="-120"/>
              </a:rPr>
              <a:t>احتضان وإرشاد</a:t>
            </a:r>
            <a:endParaRPr lang="en-US" sz="1550" dirty="0"/>
          </a:p>
        </p:txBody>
      </p:sp>
      <p:sp>
        <p:nvSpPr>
          <p:cNvPr id="10" name="Text 8"/>
          <p:cNvSpPr/>
          <p:nvPr/>
        </p:nvSpPr>
        <p:spPr>
          <a:xfrm>
            <a:off x="804672" y="3035808"/>
            <a:ext cx="2926080" cy="731520"/>
          </a:xfrm>
          <a:prstGeom prst="rect">
            <a:avLst/>
          </a:prstGeom>
          <a:noFill/>
          <a:ln/>
        </p:spPr>
        <p:txBody>
          <a:bodyPr wrap="square" lIns="0" tIns="0" rIns="0" bIns="0" rtlCol="0" anchor="t"/>
          <a:lstStyle/>
          <a:p>
            <a:pPr rtl="1" algn="r" indent="0" marL="0">
              <a:lnSpc>
                <a:spcPct val="110000"/>
              </a:lnSpc>
              <a:buNone/>
            </a:pPr>
            <a:r>
              <a:rPr lang="en-US" sz="1200" dirty="0">
                <a:solidFill>
                  <a:srgbClr val="D5DEEA"/>
                </a:solidFill>
                <a:latin typeface="Arial" pitchFamily="34" charset="0"/>
                <a:ea typeface="Arial" pitchFamily="34" charset="-122"/>
                <a:cs typeface="Arial" pitchFamily="34" charset="-120"/>
              </a:rPr>
              <a:t>منتج · حوكمة · أمن.</a:t>
            </a:r>
            <a:endParaRPr lang="en-US" sz="1200" dirty="0"/>
          </a:p>
        </p:txBody>
      </p:sp>
      <p:sp>
        <p:nvSpPr>
          <p:cNvPr id="11" name="Shape 9"/>
          <p:cNvSpPr/>
          <p:nvPr/>
        </p:nvSpPr>
        <p:spPr>
          <a:xfrm>
            <a:off x="4251960" y="2286000"/>
            <a:ext cx="3429000" cy="1600200"/>
          </a:xfrm>
          <a:prstGeom prst="roundRect">
            <a:avLst>
              <a:gd name="adj" fmla="val 5143"/>
            </a:avLst>
          </a:prstGeom>
          <a:solidFill>
            <a:srgbClr val="1E293B"/>
          </a:solidFill>
          <a:ln w="12700">
            <a:solidFill>
              <a:srgbClr val="334155"/>
            </a:solidFill>
            <a:prstDash val="solid"/>
          </a:ln>
          <a:effectLst>
            <a:outerShdw sx="100000" sy="100000" kx="0" ky="0" algn="bl" rotWithShape="0" blurRad="76200" dist="25400" dir="5400000">
              <a:srgbClr val="94A3B8">
                <a:alpha val="25000"/>
              </a:srgbClr>
            </a:outerShdw>
          </a:effectLst>
        </p:spPr>
      </p:sp>
      <p:sp>
        <p:nvSpPr>
          <p:cNvPr id="12" name="Shape 10"/>
          <p:cNvSpPr/>
          <p:nvPr/>
        </p:nvSpPr>
        <p:spPr>
          <a:xfrm>
            <a:off x="7022592" y="2468880"/>
            <a:ext cx="457200" cy="457200"/>
          </a:xfrm>
          <a:prstGeom prst="ellipse">
            <a:avLst/>
          </a:prstGeom>
          <a:solidFill>
            <a:srgbClr val="10B981"/>
          </a:solidFill>
          <a:ln/>
        </p:spPr>
      </p:sp>
      <p:sp>
        <p:nvSpPr>
          <p:cNvPr id="13" name="Text 11"/>
          <p:cNvSpPr/>
          <p:nvPr/>
        </p:nvSpPr>
        <p:spPr>
          <a:xfrm>
            <a:off x="7022592" y="2468880"/>
            <a:ext cx="457200" cy="457200"/>
          </a:xfrm>
          <a:prstGeom prst="rect">
            <a:avLst/>
          </a:prstGeom>
          <a:noFill/>
          <a:ln/>
        </p:spPr>
        <p:txBody>
          <a:bodyPr wrap="square" lIns="0" tIns="0" rIns="0" bIns="0" rtlCol="0" anchor="ctr"/>
          <a:lstStyle/>
          <a:p>
            <a:pPr algn="ctr" indent="0" marL="0">
              <a:buNone/>
            </a:pPr>
            <a:r>
              <a:rPr lang="en-US" sz="1500" b="1" dirty="0">
                <a:solidFill>
                  <a:srgbClr val="06231A"/>
                </a:solidFill>
                <a:latin typeface="Arial" pitchFamily="34" charset="0"/>
                <a:ea typeface="Arial" pitchFamily="34" charset="-122"/>
                <a:cs typeface="Arial" pitchFamily="34" charset="-120"/>
              </a:rPr>
              <a:t>2</a:t>
            </a:r>
            <a:endParaRPr lang="en-US" sz="1500" dirty="0"/>
          </a:p>
        </p:txBody>
      </p:sp>
      <p:sp>
        <p:nvSpPr>
          <p:cNvPr id="14" name="Text 12"/>
          <p:cNvSpPr/>
          <p:nvPr/>
        </p:nvSpPr>
        <p:spPr>
          <a:xfrm>
            <a:off x="4507992" y="2514600"/>
            <a:ext cx="2377440" cy="457200"/>
          </a:xfrm>
          <a:prstGeom prst="rect">
            <a:avLst/>
          </a:prstGeom>
          <a:noFill/>
          <a:ln/>
        </p:spPr>
        <p:txBody>
          <a:bodyPr wrap="square" lIns="0" tIns="0" rIns="0" bIns="0" rtlCol="0" anchor="t"/>
          <a:lstStyle/>
          <a:p>
            <a:pPr rtl="1" algn="r" indent="0" marL="0">
              <a:lnSpc>
                <a:spcPct val="105000"/>
              </a:lnSpc>
              <a:buNone/>
            </a:pPr>
            <a:r>
              <a:rPr lang="en-US" sz="1550" b="1" dirty="0">
                <a:solidFill>
                  <a:srgbClr val="FFFFFF"/>
                </a:solidFill>
                <a:latin typeface="Arial" pitchFamily="34" charset="0"/>
                <a:ea typeface="Arial" pitchFamily="34" charset="-122"/>
                <a:cs typeface="Arial" pitchFamily="34" charset="-120"/>
              </a:rPr>
              <a:t>20–50 منشأة تجربة</a:t>
            </a:r>
            <a:endParaRPr lang="en-US" sz="1550" dirty="0"/>
          </a:p>
        </p:txBody>
      </p:sp>
      <p:sp>
        <p:nvSpPr>
          <p:cNvPr id="15" name="Text 13"/>
          <p:cNvSpPr/>
          <p:nvPr/>
        </p:nvSpPr>
        <p:spPr>
          <a:xfrm>
            <a:off x="4507992" y="3035808"/>
            <a:ext cx="2926080" cy="731520"/>
          </a:xfrm>
          <a:prstGeom prst="rect">
            <a:avLst/>
          </a:prstGeom>
          <a:noFill/>
          <a:ln/>
        </p:spPr>
        <p:txBody>
          <a:bodyPr wrap="square" lIns="0" tIns="0" rIns="0" bIns="0" rtlCol="0" anchor="t"/>
          <a:lstStyle/>
          <a:p>
            <a:pPr rtl="1" algn="r" indent="0" marL="0">
              <a:lnSpc>
                <a:spcPct val="110000"/>
              </a:lnSpc>
              <a:buNone/>
            </a:pPr>
            <a:r>
              <a:rPr lang="en-US" sz="1200" dirty="0">
                <a:solidFill>
                  <a:srgbClr val="D5DEEA"/>
                </a:solidFill>
                <a:latin typeface="Arial" pitchFamily="34" charset="0"/>
                <a:ea typeface="Arial" pitchFamily="34" charset="-122"/>
                <a:cs typeface="Arial" pitchFamily="34" charset="-120"/>
              </a:rPr>
              <a:t>تعريفات بشركاء تصميم (Design Partners).</a:t>
            </a:r>
            <a:endParaRPr lang="en-US" sz="1200" dirty="0"/>
          </a:p>
        </p:txBody>
      </p:sp>
      <p:sp>
        <p:nvSpPr>
          <p:cNvPr id="16" name="Shape 14"/>
          <p:cNvSpPr/>
          <p:nvPr/>
        </p:nvSpPr>
        <p:spPr>
          <a:xfrm>
            <a:off x="7955280" y="2286000"/>
            <a:ext cx="3429000" cy="1600200"/>
          </a:xfrm>
          <a:prstGeom prst="roundRect">
            <a:avLst>
              <a:gd name="adj" fmla="val 5143"/>
            </a:avLst>
          </a:prstGeom>
          <a:solidFill>
            <a:srgbClr val="1E293B"/>
          </a:solidFill>
          <a:ln w="12700">
            <a:solidFill>
              <a:srgbClr val="334155"/>
            </a:solidFill>
            <a:prstDash val="solid"/>
          </a:ln>
          <a:effectLst>
            <a:outerShdw sx="100000" sy="100000" kx="0" ky="0" algn="bl" rotWithShape="0" blurRad="76200" dist="25400" dir="5400000">
              <a:srgbClr val="94A3B8">
                <a:alpha val="25000"/>
              </a:srgbClr>
            </a:outerShdw>
          </a:effectLst>
        </p:spPr>
      </p:sp>
      <p:sp>
        <p:nvSpPr>
          <p:cNvPr id="17" name="Shape 15"/>
          <p:cNvSpPr/>
          <p:nvPr/>
        </p:nvSpPr>
        <p:spPr>
          <a:xfrm>
            <a:off x="10725912" y="2468880"/>
            <a:ext cx="457200" cy="457200"/>
          </a:xfrm>
          <a:prstGeom prst="ellipse">
            <a:avLst/>
          </a:prstGeom>
          <a:solidFill>
            <a:srgbClr val="10B981"/>
          </a:solidFill>
          <a:ln/>
        </p:spPr>
      </p:sp>
      <p:sp>
        <p:nvSpPr>
          <p:cNvPr id="18" name="Text 16"/>
          <p:cNvSpPr/>
          <p:nvPr/>
        </p:nvSpPr>
        <p:spPr>
          <a:xfrm>
            <a:off x="10725912" y="2468880"/>
            <a:ext cx="457200" cy="457200"/>
          </a:xfrm>
          <a:prstGeom prst="rect">
            <a:avLst/>
          </a:prstGeom>
          <a:noFill/>
          <a:ln/>
        </p:spPr>
        <p:txBody>
          <a:bodyPr wrap="square" lIns="0" tIns="0" rIns="0" bIns="0" rtlCol="0" anchor="ctr"/>
          <a:lstStyle/>
          <a:p>
            <a:pPr algn="ctr" indent="0" marL="0">
              <a:buNone/>
            </a:pPr>
            <a:r>
              <a:rPr lang="en-US" sz="1500" b="1" dirty="0">
                <a:solidFill>
                  <a:srgbClr val="06231A"/>
                </a:solidFill>
                <a:latin typeface="Arial" pitchFamily="34" charset="0"/>
                <a:ea typeface="Arial" pitchFamily="34" charset="-122"/>
                <a:cs typeface="Arial" pitchFamily="34" charset="-120"/>
              </a:rPr>
              <a:t>3</a:t>
            </a:r>
            <a:endParaRPr lang="en-US" sz="1500" dirty="0"/>
          </a:p>
        </p:txBody>
      </p:sp>
      <p:sp>
        <p:nvSpPr>
          <p:cNvPr id="19" name="Text 17"/>
          <p:cNvSpPr/>
          <p:nvPr/>
        </p:nvSpPr>
        <p:spPr>
          <a:xfrm>
            <a:off x="8211312" y="2514600"/>
            <a:ext cx="2377440" cy="457200"/>
          </a:xfrm>
          <a:prstGeom prst="rect">
            <a:avLst/>
          </a:prstGeom>
          <a:noFill/>
          <a:ln/>
        </p:spPr>
        <p:txBody>
          <a:bodyPr wrap="square" lIns="0" tIns="0" rIns="0" bIns="0" rtlCol="0" anchor="t"/>
          <a:lstStyle/>
          <a:p>
            <a:pPr rtl="1" algn="r" indent="0" marL="0">
              <a:lnSpc>
                <a:spcPct val="105000"/>
              </a:lnSpc>
              <a:buNone/>
            </a:pPr>
            <a:r>
              <a:rPr lang="en-US" sz="1550" b="1" dirty="0">
                <a:solidFill>
                  <a:srgbClr val="FFFFFF"/>
                </a:solidFill>
                <a:latin typeface="Arial" pitchFamily="34" charset="0"/>
                <a:ea typeface="Arial" pitchFamily="34" charset="-122"/>
                <a:cs typeface="Arial" pitchFamily="34" charset="-120"/>
              </a:rPr>
              <a:t>مسارات التكامل الرسمية</a:t>
            </a:r>
            <a:endParaRPr lang="en-US" sz="1550" dirty="0"/>
          </a:p>
        </p:txBody>
      </p:sp>
      <p:sp>
        <p:nvSpPr>
          <p:cNvPr id="20" name="Text 18"/>
          <p:cNvSpPr/>
          <p:nvPr/>
        </p:nvSpPr>
        <p:spPr>
          <a:xfrm>
            <a:off x="8211312" y="3035808"/>
            <a:ext cx="2926080" cy="731520"/>
          </a:xfrm>
          <a:prstGeom prst="rect">
            <a:avLst/>
          </a:prstGeom>
          <a:noFill/>
          <a:ln/>
        </p:spPr>
        <p:txBody>
          <a:bodyPr wrap="square" lIns="0" tIns="0" rIns="0" bIns="0" rtlCol="0" anchor="t"/>
          <a:lstStyle/>
          <a:p>
            <a:pPr rtl="1" algn="r" indent="0" marL="0">
              <a:lnSpc>
                <a:spcPct val="110000"/>
              </a:lnSpc>
              <a:buNone/>
            </a:pPr>
            <a:r>
              <a:rPr lang="en-US" sz="1200" dirty="0">
                <a:solidFill>
                  <a:srgbClr val="D5DEEA"/>
                </a:solidFill>
                <a:latin typeface="Arial" pitchFamily="34" charset="0"/>
                <a:ea typeface="Arial" pitchFamily="34" charset="-122"/>
                <a:cs typeface="Arial" pitchFamily="34" charset="-120"/>
              </a:rPr>
              <a:t>توجيه نحو Sandbox/APIs مع الجهات — مفتاح الأتمتة الكاملة.</a:t>
            </a:r>
            <a:endParaRPr lang="en-US" sz="1200" dirty="0"/>
          </a:p>
        </p:txBody>
      </p:sp>
      <p:sp>
        <p:nvSpPr>
          <p:cNvPr id="21" name="Text 19"/>
          <p:cNvSpPr/>
          <p:nvPr/>
        </p:nvSpPr>
        <p:spPr>
          <a:xfrm>
            <a:off x="548640" y="4206240"/>
            <a:ext cx="11091672" cy="457200"/>
          </a:xfrm>
          <a:prstGeom prst="rect">
            <a:avLst/>
          </a:prstGeom>
          <a:noFill/>
          <a:ln/>
        </p:spPr>
        <p:txBody>
          <a:bodyPr wrap="square" lIns="0" tIns="0" rIns="0" bIns="0" rtlCol="0" anchor="t"/>
          <a:lstStyle/>
          <a:p>
            <a:pPr rtl="1" algn="r" indent="0" marL="0">
              <a:lnSpc>
                <a:spcPct val="105000"/>
              </a:lnSpc>
              <a:buNone/>
            </a:pPr>
            <a:r>
              <a:rPr lang="en-US" sz="1350" dirty="0">
                <a:solidFill>
                  <a:srgbClr val="AEC0D6"/>
                </a:solidFill>
                <a:latin typeface="Arial" pitchFamily="34" charset="0"/>
                <a:ea typeface="Arial" pitchFamily="34" charset="-122"/>
                <a:cs typeface="Arial" pitchFamily="34" charset="-120"/>
              </a:rPr>
              <a:t>الخطة: إطلاق الإسفين خلال 30 يومًا ← Pilot موثّق بيوم 90 ← نموذج مالي من الأسفل ← جولة مبنية على أدلة لا وعود.</a:t>
            </a:r>
            <a:endParaRPr lang="en-US" sz="1350" dirty="0"/>
          </a:p>
        </p:txBody>
      </p:sp>
      <p:sp>
        <p:nvSpPr>
          <p:cNvPr id="22" name="Shape 20"/>
          <p:cNvSpPr/>
          <p:nvPr/>
        </p:nvSpPr>
        <p:spPr>
          <a:xfrm>
            <a:off x="548640" y="4892040"/>
            <a:ext cx="11091672" cy="18288"/>
          </a:xfrm>
          <a:prstGeom prst="rect">
            <a:avLst/>
          </a:prstGeom>
          <a:solidFill>
            <a:srgbClr val="334155"/>
          </a:solidFill>
          <a:ln/>
        </p:spPr>
      </p:sp>
      <p:sp>
        <p:nvSpPr>
          <p:cNvPr id="23" name="Text 21"/>
          <p:cNvSpPr/>
          <p:nvPr/>
        </p:nvSpPr>
        <p:spPr>
          <a:xfrm>
            <a:off x="548640" y="5120640"/>
            <a:ext cx="11091672" cy="548640"/>
          </a:xfrm>
          <a:prstGeom prst="rect">
            <a:avLst/>
          </a:prstGeom>
          <a:noFill/>
          <a:ln/>
        </p:spPr>
        <p:txBody>
          <a:bodyPr wrap="square" lIns="0" tIns="0" rIns="0" bIns="0" rtlCol="0" anchor="t"/>
          <a:lstStyle/>
          <a:p>
            <a:pPr rtl="1" algn="ctr" indent="0" marL="0">
              <a:lnSpc>
                <a:spcPct val="105000"/>
              </a:lnSpc>
              <a:buNone/>
            </a:pPr>
            <a:r>
              <a:rPr lang="en-US" sz="2000" b="1" dirty="0">
                <a:solidFill>
                  <a:srgbClr val="10B981"/>
                </a:solidFill>
                <a:latin typeface="Arial" pitchFamily="34" charset="0"/>
                <a:ea typeface="Arial" pitchFamily="34" charset="-122"/>
                <a:cs typeface="Arial" pitchFamily="34" charset="-120"/>
              </a:rPr>
              <a:t>«عشر سنوات من إصلاح طوارئ الامتثال — نحوّلها إلى وكيلٍ يمنعها.»</a:t>
            </a:r>
            <a:endParaRPr lang="en-US" sz="2000" dirty="0"/>
          </a:p>
        </p:txBody>
      </p:sp>
      <p:sp>
        <p:nvSpPr>
          <p:cNvPr id="24" name="Text 22"/>
          <p:cNvSpPr/>
          <p:nvPr/>
        </p:nvSpPr>
        <p:spPr>
          <a:xfrm>
            <a:off x="548640" y="5715000"/>
            <a:ext cx="11091672" cy="320040"/>
          </a:xfrm>
          <a:prstGeom prst="rect">
            <a:avLst/>
          </a:prstGeom>
          <a:noFill/>
          <a:ln/>
        </p:spPr>
        <p:txBody>
          <a:bodyPr wrap="square" lIns="0" tIns="0" rIns="0" bIns="0" rtlCol="0" anchor="t"/>
          <a:lstStyle/>
          <a:p>
            <a:pPr algn="ctr" indent="0" marL="0">
              <a:buNone/>
            </a:pPr>
            <a:r>
              <a:rPr lang="en-US" sz="1200" i="1" dirty="0">
                <a:solidFill>
                  <a:srgbClr val="8CA0B8"/>
                </a:solidFill>
                <a:latin typeface="Arial" pitchFamily="34" charset="0"/>
                <a:ea typeface="Arial" pitchFamily="34" charset="-122"/>
                <a:cs typeface="Arial" pitchFamily="34" charset="-120"/>
              </a:rPr>
              <a:t>Ten years of fixing compliance emergencies — turned into an agent that prevents them.</a:t>
            </a:r>
            <a:endParaRPr lang="en-US" sz="1200" dirty="0"/>
          </a:p>
        </p:txBody>
      </p:sp>
      <p:sp>
        <p:nvSpPr>
          <p:cNvPr id="25" name="Text 23"/>
          <p:cNvSpPr/>
          <p:nvPr/>
        </p:nvSpPr>
        <p:spPr>
          <a:xfrm>
            <a:off x="548640" y="6419088"/>
            <a:ext cx="7315200" cy="274320"/>
          </a:xfrm>
          <a:prstGeom prst="rect">
            <a:avLst/>
          </a:prstGeom>
          <a:noFill/>
          <a:ln/>
        </p:spPr>
        <p:txBody>
          <a:bodyPr wrap="square" lIns="0" tIns="0" rIns="0" bIns="0" rtlCol="0" anchor="ctr"/>
          <a:lstStyle/>
          <a:p>
            <a:pPr algn="l" indent="0" marL="0">
              <a:buNone/>
            </a:pPr>
            <a:r>
              <a:rPr lang="en-US" sz="900" dirty="0">
                <a:solidFill>
                  <a:srgbClr val="8CA0B8"/>
                </a:solidFill>
                <a:latin typeface="Arial" pitchFamily="34" charset="0"/>
                <a:ea typeface="Arial" pitchFamily="34" charset="-122"/>
                <a:cs typeface="Arial" pitchFamily="34" charset="-120"/>
              </a:rPr>
              <a:t>Business Partner · AI Compliance Agents</a:t>
            </a:r>
            <a:endParaRPr lang="en-US" sz="900" dirty="0"/>
          </a:p>
        </p:txBody>
      </p:sp>
      <p:sp>
        <p:nvSpPr>
          <p:cNvPr id="26" name="Text 24"/>
          <p:cNvSpPr/>
          <p:nvPr/>
        </p:nvSpPr>
        <p:spPr>
          <a:xfrm>
            <a:off x="10634472" y="6419088"/>
            <a:ext cx="1005840" cy="274320"/>
          </a:xfrm>
          <a:prstGeom prst="rect">
            <a:avLst/>
          </a:prstGeom>
          <a:noFill/>
          <a:ln/>
        </p:spPr>
        <p:txBody>
          <a:bodyPr wrap="square" lIns="0" tIns="0" rIns="0" bIns="0" rtlCol="0" anchor="ctr"/>
          <a:lstStyle/>
          <a:p>
            <a:pPr algn="r" indent="0" marL="0">
              <a:buNone/>
            </a:pPr>
            <a:r>
              <a:rPr lang="en-US" sz="900" dirty="0">
                <a:solidFill>
                  <a:srgbClr val="8CA0B8"/>
                </a:solidFill>
                <a:latin typeface="Arial" pitchFamily="34" charset="0"/>
                <a:ea typeface="Arial" pitchFamily="34" charset="-122"/>
                <a:cs typeface="Arial" pitchFamily="34" charset="-120"/>
              </a:rPr>
              <a:t>12 / 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Business Partner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Business Partner</dc:creator>
  <cp:lastModifiedBy>Business Partner</cp:lastModifiedBy>
  <cp:revision>1</cp:revision>
  <dcterms:created xsi:type="dcterms:W3CDTF">2026-08-12T00:34:05Z</dcterms:created>
  <dcterms:modified xsi:type="dcterms:W3CDTF">2026-08-12T00:34:05Z</dcterms:modified>
</cp:coreProperties>
</file>