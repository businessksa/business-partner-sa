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FDF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usiness-partner-logo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"/>
            <a:ext cx="3840480" cy="5779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240280"/>
            <a:ext cx="5394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9DB4FF"/>
                </a:solidFill>
                <a:latin typeface="IBM Plex Mono"/>
                <a:cs typeface="IBM Plex Mono"/>
              </a:rPr>
              <a:t>QUOTATION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539496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Playfair Display"/>
                <a:cs typeface="Playfair Display"/>
              </a:rPr>
              <a:t>Entrepreneurship-Licence Company 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23360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EEF1FB"/>
                </a:solidFill>
                <a:latin typeface="IBM Plex Sans Arabic"/>
                <a:cs typeface="IBM Plex Sans Arabic"/>
              </a:rPr>
              <a:t>Registering your investment under the entrepreneurship category with the Ministry of Investment, then establishing your company and registering it with the competent authorities.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240280"/>
            <a:ext cx="5330952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400" b="0">
                <a:solidFill>
                  <a:srgbClr val="9DB4FF"/>
                </a:solidFill>
                <a:latin typeface="IBM Plex Sans Arabic"/>
                <a:cs typeface="IBM Plex Sans Arabic"/>
              </a:rPr>
              <a:t>عرض سعر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560320"/>
            <a:ext cx="5330952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rtl="1" algn="r">
              <a:lnSpc>
                <a:spcPct val="110000"/>
              </a:lnSpc>
            </a:pPr>
            <a:r>
              <a:rPr sz="3400" b="1">
                <a:solidFill>
                  <a:srgbClr val="FFFFFF"/>
                </a:solidFill>
                <a:latin typeface="IBM Plex Sans Arabic"/>
                <a:cs typeface="IBM Plex Sans Arabic"/>
              </a:rPr>
              <a:t>تأسيس شركة برخصة ريادة الأعمال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4023360"/>
            <a:ext cx="5330952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600" b="0">
                <a:solidFill>
                  <a:srgbClr val="EEF1FB"/>
                </a:solidFill>
                <a:latin typeface="IBM Plex Sans Arabic"/>
                <a:cs typeface="IBM Plex Sans Arabic"/>
              </a:rPr>
              <a:t>تسجيل استثمارك في فئة ريادة الأعمال لدى وزارة الاستثمار، ثم تأسيس شركتك وتسجيلها لدى الجهات المختصة.‏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257800"/>
            <a:ext cx="3566160" cy="27432"/>
          </a:xfrm>
          <a:prstGeom prst="rect">
            <a:avLst/>
          </a:prstGeom>
          <a:solidFill>
            <a:srgbClr val="9D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321808"/>
            <a:ext cx="3566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9DB4FF"/>
                </a:solidFill>
                <a:latin typeface="IBM Plex Sans Arabic"/>
                <a:cs typeface="IBM Plex Sans Arabic"/>
              </a:rPr>
              <a:t>To / إلى السادة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577840"/>
            <a:ext cx="35661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FFFFFF"/>
                </a:solidFill>
                <a:latin typeface="IBM Plex Sans Arabic"/>
                <a:cs typeface="IBM Plex Sans Arabic"/>
              </a:rPr>
              <a:t>Mr. Abu Mohammed Al-Yamani · السيد أبو محمد اليمني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79" y="5257800"/>
            <a:ext cx="3566160" cy="27432"/>
          </a:xfrm>
          <a:prstGeom prst="rect">
            <a:avLst/>
          </a:prstGeom>
          <a:solidFill>
            <a:srgbClr val="9D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79" y="5321808"/>
            <a:ext cx="3566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9DB4FF"/>
                </a:solidFill>
                <a:latin typeface="IBM Plex Sans Arabic"/>
                <a:cs typeface="IBM Plex Sans Arabic"/>
              </a:rPr>
              <a:t>Date / التاريخ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79" y="5577840"/>
            <a:ext cx="35661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FFFFFF"/>
                </a:solidFill>
                <a:latin typeface="IBM Plex Sans Arabic"/>
                <a:cs typeface="IBM Plex Sans Arabic"/>
              </a:rPr>
              <a:t>31 October 2026 · 31 أكتوبر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19" y="5257800"/>
            <a:ext cx="3566160" cy="27432"/>
          </a:xfrm>
          <a:prstGeom prst="rect">
            <a:avLst/>
          </a:prstGeom>
          <a:solidFill>
            <a:srgbClr val="9D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9" y="5321808"/>
            <a:ext cx="3566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9DB4FF"/>
                </a:solidFill>
                <a:latin typeface="IBM Plex Sans Arabic"/>
                <a:cs typeface="IBM Plex Sans Arabic"/>
              </a:rPr>
              <a:t>Validity / صلاحية العرض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9" y="5577840"/>
            <a:ext cx="35661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FFFFFF"/>
                </a:solidFill>
                <a:latin typeface="IBM Plex Sans Arabic"/>
                <a:cs typeface="IBM Plex Sans Arabic"/>
              </a:rPr>
              <a:t>14 days · 14 يوماً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900" b="0">
                <a:solidFill>
                  <a:srgbClr val="9DB4FF"/>
                </a:solidFill>
                <a:latin typeface="IBM Plex Mono"/>
                <a:cs typeface="IBM Plex Mono"/>
              </a:rPr>
              <a:t>BP-FI-05 · Foreign Investment · الاستثمار الأجنبي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6692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2400" b="1">
                <a:solidFill>
                  <a:srgbClr val="0B1B5A"/>
                </a:solidFill>
                <a:latin typeface="Playfair Display"/>
                <a:cs typeface="Playfair Display"/>
              </a:rPr>
              <a:t>Scope — included in the fee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411480"/>
            <a:ext cx="5239512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2800" b="1">
                <a:solidFill>
                  <a:srgbClr val="0B1B5A"/>
                </a:solidFill>
                <a:latin typeface="IBM Plex Sans Arabic"/>
                <a:cs typeface="IBM Plex Sans Arabic"/>
              </a:rPr>
              <a:t>النطاق — شامل ضمن الأتعاب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91672" cy="36576"/>
          </a:xfrm>
          <a:prstGeom prst="rect">
            <a:avLst/>
          </a:prstGeom>
          <a:solidFill>
            <a:srgbClr val="0B1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1091672" cy="603504"/>
          </a:xfrm>
          <a:prstGeom prst="rect">
            <a:avLst/>
          </a:prstGeom>
          <a:solidFill>
            <a:srgbClr val="F7F8FD"/>
          </a:solidFill>
          <a:ln w="9525">
            <a:solidFill>
              <a:srgbClr val="DD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27048"/>
            <a:ext cx="3657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1E3A9E"/>
                </a:solidFill>
                <a:latin typeface="IBM Plex Mono"/>
                <a:cs typeface="IBM Plex Mon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99616"/>
            <a:ext cx="484632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>
              <a:lnSpc>
                <a:spcPct val="105000"/>
              </a:lnSpc>
            </a:pPr>
            <a:r>
              <a:rPr sz="1000" b="1">
                <a:solidFill>
                  <a:srgbClr val="1B2340"/>
                </a:solidFill>
                <a:latin typeface="IBM Plex Sans Arabic"/>
                <a:cs typeface="IBM Plex Sans Arabic"/>
              </a:rPr>
              <a:t>Eligibility &amp; structuring</a:t>
            </a:r>
            <a:r>
              <a:rPr sz="1000" b="0">
                <a:solidFill>
                  <a:srgbClr val="1B2340"/>
                </a:solidFill>
                <a:latin typeface="IBM Plex Sans Arabic"/>
                <a:cs typeface="IBM Plex Sans Arabic"/>
              </a:rPr>
              <a:t> — Study of the project’s eligibility for the entrepreneurship category; determination of the activity (ISIC), the ownership structure and the legal form of the company.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499616"/>
            <a:ext cx="512064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rtl="1" algn="r">
              <a:lnSpc>
                <a:spcPct val="105000"/>
              </a:lnSpc>
            </a:pPr>
            <a:r>
              <a:rPr sz="1100" b="1">
                <a:solidFill>
                  <a:srgbClr val="1B2340"/>
                </a:solidFill>
                <a:latin typeface="IBM Plex Sans Arabic"/>
                <a:cs typeface="IBM Plex Sans Arabic"/>
              </a:rPr>
              <a:t>الأهلية والهيكلة</a:t>
            </a:r>
            <a:r>
              <a:rPr sz="1100" b="0">
                <a:solidFill>
                  <a:srgbClr val="1B2340"/>
                </a:solidFill>
                <a:latin typeface="IBM Plex Sans Arabic"/>
                <a:cs typeface="IBM Plex Sans Arabic"/>
              </a:rPr>
              <a:t> — دراسة أهلية المشروع لفئة ريادة الأعمال، وتحديد النشاط (ISIC) وهيكل الملكية والشكل النظامي للشركة.‏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1527048"/>
            <a:ext cx="4114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>
                <a:solidFill>
                  <a:srgbClr val="1E3A9E"/>
                </a:solidFill>
                <a:latin typeface="IBM Plex Mono"/>
                <a:cs typeface="IBM Plex Mono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39696"/>
            <a:ext cx="11091672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203703"/>
            <a:ext cx="3657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1E3A9E"/>
                </a:solidFill>
                <a:latin typeface="IBM Plex Mono"/>
                <a:cs typeface="IBM Plex Mono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176272"/>
            <a:ext cx="484632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>
              <a:lnSpc>
                <a:spcPct val="105000"/>
              </a:lnSpc>
            </a:pPr>
            <a:r>
              <a:rPr sz="1000" b="1">
                <a:solidFill>
                  <a:srgbClr val="1B2340"/>
                </a:solidFill>
                <a:latin typeface="IBM Plex Sans Arabic"/>
                <a:cs typeface="IBM Plex Sans Arabic"/>
              </a:rPr>
              <a:t>Investment registration</a:t>
            </a:r>
            <a:r>
              <a:rPr sz="1000" b="0">
                <a:solidFill>
                  <a:srgbClr val="1B2340"/>
                </a:solidFill>
                <a:latin typeface="IBM Plex Sans Arabic"/>
                <a:cs typeface="IBM Plex Sans Arabic"/>
              </a:rPr>
              <a:t> — Preparing the registration file with the Ministry of Investment (MISA), reviewing it, filing it and following it up until the investment registration (licence) is issued.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176272"/>
            <a:ext cx="512064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rtl="1" algn="r">
              <a:lnSpc>
                <a:spcPct val="105000"/>
              </a:lnSpc>
            </a:pPr>
            <a:r>
              <a:rPr sz="1100" b="1">
                <a:solidFill>
                  <a:srgbClr val="1B2340"/>
                </a:solidFill>
                <a:latin typeface="IBM Plex Sans Arabic"/>
                <a:cs typeface="IBM Plex Sans Arabic"/>
              </a:rPr>
              <a:t>التسجيل الاستثماري</a:t>
            </a:r>
            <a:r>
              <a:rPr sz="1100" b="0">
                <a:solidFill>
                  <a:srgbClr val="1B2340"/>
                </a:solidFill>
                <a:latin typeface="IBM Plex Sans Arabic"/>
                <a:cs typeface="IBM Plex Sans Arabic"/>
              </a:rPr>
              <a:t> — إعداد ملف التسجيل لدى وزارة الاستثمار ومراجعته وتقديمه ومتابعته حتى صدور التسجيل (رخصة الاستثمار).‏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2203703"/>
            <a:ext cx="4114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>
                <a:solidFill>
                  <a:srgbClr val="1E3A9E"/>
                </a:solidFill>
                <a:latin typeface="IBM Plex Mono"/>
                <a:cs typeface="IBM Plex Mono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816352"/>
            <a:ext cx="11091672" cy="603504"/>
          </a:xfrm>
          <a:prstGeom prst="rect">
            <a:avLst/>
          </a:prstGeom>
          <a:solidFill>
            <a:srgbClr val="F7F8FD"/>
          </a:solidFill>
          <a:ln w="9525">
            <a:solidFill>
              <a:srgbClr val="DD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880360"/>
            <a:ext cx="3657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1E3A9E"/>
                </a:solidFill>
                <a:latin typeface="IBM Plex Mono"/>
                <a:cs typeface="IBM Plex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852928"/>
            <a:ext cx="484632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>
              <a:lnSpc>
                <a:spcPct val="105000"/>
              </a:lnSpc>
            </a:pPr>
            <a:r>
              <a:rPr sz="1000" b="1">
                <a:solidFill>
                  <a:srgbClr val="1B2340"/>
                </a:solidFill>
                <a:latin typeface="IBM Plex Sans Arabic"/>
                <a:cs typeface="IBM Plex Sans Arabic"/>
              </a:rPr>
              <a:t>Support entity</a:t>
            </a:r>
            <a:r>
              <a:rPr sz="1000" b="0">
                <a:solidFill>
                  <a:srgbClr val="1B2340"/>
                </a:solidFill>
                <a:latin typeface="IBM Plex Sans Arabic"/>
                <a:cs typeface="IBM Plex Sans Arabic"/>
              </a:rPr>
              <a:t> — Guiding the Client to the accredited support entity (a Saudi university or an accredited business incubator) and coordinating with it to obtain the support or project-endorsement letter.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2852928"/>
            <a:ext cx="512064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rtl="1" algn="r">
              <a:lnSpc>
                <a:spcPct val="105000"/>
              </a:lnSpc>
            </a:pPr>
            <a:r>
              <a:rPr sz="1100" b="1">
                <a:solidFill>
                  <a:srgbClr val="1B2340"/>
                </a:solidFill>
                <a:latin typeface="IBM Plex Sans Arabic"/>
                <a:cs typeface="IBM Plex Sans Arabic"/>
              </a:rPr>
              <a:t>جهة الدعم</a:t>
            </a:r>
            <a:r>
              <a:rPr sz="1100" b="0">
                <a:solidFill>
                  <a:srgbClr val="1B2340"/>
                </a:solidFill>
                <a:latin typeface="IBM Plex Sans Arabic"/>
                <a:cs typeface="IBM Plex Sans Arabic"/>
              </a:rPr>
              <a:t> — توجيه العميل إلى جهة الدعم المعتمدة (جامعة سعودية أو حاضنة أعمال معتمدة) والتنسيق معها لاستخراج خطاب الدعم أو اعتماد المشروع.‏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2880360"/>
            <a:ext cx="4114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>
                <a:solidFill>
                  <a:srgbClr val="1E3A9E"/>
                </a:solidFill>
                <a:latin typeface="IBM Plex Mono"/>
                <a:cs typeface="IBM Plex Mono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493008"/>
            <a:ext cx="11091672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557015"/>
            <a:ext cx="3657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1E3A9E"/>
                </a:solidFill>
                <a:latin typeface="IBM Plex Mono"/>
                <a:cs typeface="IBM Plex Mono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529584"/>
            <a:ext cx="484632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>
              <a:lnSpc>
                <a:spcPct val="105000"/>
              </a:lnSpc>
            </a:pPr>
            <a:r>
              <a:rPr sz="1000" b="1">
                <a:solidFill>
                  <a:srgbClr val="1B2340"/>
                </a:solidFill>
                <a:latin typeface="IBM Plex Sans Arabic"/>
                <a:cs typeface="IBM Plex Sans Arabic"/>
              </a:rPr>
              <a:t>Incorporation</a:t>
            </a:r>
            <a:r>
              <a:rPr sz="1000" b="0">
                <a:solidFill>
                  <a:srgbClr val="1B2340"/>
                </a:solidFill>
                <a:latin typeface="IBM Plex Sans Arabic"/>
                <a:cs typeface="IBM Plex Sans Arabic"/>
              </a:rPr>
              <a:t> — Preparing the contract of incorporation and articles of association, establishing the company and issuing the commercial registration through the Saudi Business Center.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3529584"/>
            <a:ext cx="512064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rtl="1" algn="r">
              <a:lnSpc>
                <a:spcPct val="105000"/>
              </a:lnSpc>
            </a:pPr>
            <a:r>
              <a:rPr sz="1100" b="1">
                <a:solidFill>
                  <a:srgbClr val="1B2340"/>
                </a:solidFill>
                <a:latin typeface="IBM Plex Sans Arabic"/>
                <a:cs typeface="IBM Plex Sans Arabic"/>
              </a:rPr>
              <a:t>التأسيس</a:t>
            </a:r>
            <a:r>
              <a:rPr sz="1100" b="0">
                <a:solidFill>
                  <a:srgbClr val="1B2340"/>
                </a:solidFill>
                <a:latin typeface="IBM Plex Sans Arabic"/>
                <a:cs typeface="IBM Plex Sans Arabic"/>
              </a:rPr>
              <a:t> — إعداد عقد التأسيس والنظام الأساسي، وتأسيس الشركة وإصدار السجل التجاري عبر المركز السعودي للأعمال.‏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3557015"/>
            <a:ext cx="4114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>
                <a:solidFill>
                  <a:srgbClr val="1E3A9E"/>
                </a:solidFill>
                <a:latin typeface="IBM Plex Mono"/>
                <a:cs typeface="IBM Plex Mono"/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169664"/>
            <a:ext cx="11091672" cy="603504"/>
          </a:xfrm>
          <a:prstGeom prst="rect">
            <a:avLst/>
          </a:prstGeom>
          <a:solidFill>
            <a:srgbClr val="F7F8FD"/>
          </a:solidFill>
          <a:ln w="9525">
            <a:solidFill>
              <a:srgbClr val="DD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233672"/>
            <a:ext cx="3657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1E3A9E"/>
                </a:solidFill>
                <a:latin typeface="IBM Plex Mono"/>
                <a:cs typeface="IBM Plex Mono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206240"/>
            <a:ext cx="484632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>
              <a:lnSpc>
                <a:spcPct val="105000"/>
              </a:lnSpc>
            </a:pPr>
            <a:r>
              <a:rPr sz="1000" b="1">
                <a:solidFill>
                  <a:srgbClr val="1B2340"/>
                </a:solidFill>
                <a:latin typeface="IBM Plex Sans Arabic"/>
                <a:cs typeface="IBM Plex Sans Arabic"/>
              </a:rPr>
              <a:t>Registrations</a:t>
            </a:r>
            <a:r>
              <a:rPr sz="1000" b="0">
                <a:solidFill>
                  <a:srgbClr val="1B2340"/>
                </a:solidFill>
                <a:latin typeface="IBM Plex Sans Arabic"/>
                <a:cs typeface="IBM Plex Sans Arabic"/>
              </a:rPr>
              <a:t> — Chamber of Commerce membership; registration with ZATCA (VAT when due); opening the establishment’s files with GOSI and the Ministry of Human Resources; registering the national address.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4206240"/>
            <a:ext cx="512064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rtl="1" algn="r">
              <a:lnSpc>
                <a:spcPct val="105000"/>
              </a:lnSpc>
            </a:pPr>
            <a:r>
              <a:rPr sz="1100" b="1">
                <a:solidFill>
                  <a:srgbClr val="1B2340"/>
                </a:solidFill>
                <a:latin typeface="IBM Plex Sans Arabic"/>
                <a:cs typeface="IBM Plex Sans Arabic"/>
              </a:rPr>
              <a:t>التسجيلات</a:t>
            </a:r>
            <a:r>
              <a:rPr sz="1100" b="0">
                <a:solidFill>
                  <a:srgbClr val="1B2340"/>
                </a:solidFill>
                <a:latin typeface="IBM Plex Sans Arabic"/>
                <a:cs typeface="IBM Plex Sans Arabic"/>
              </a:rPr>
              <a:t> — الاشتراك في الغرفة التجارية؛ وتسجيل المنشأة لدى الزكاة والضريبة والجمارك (ضريبة القيمة المضافة عند الاستحقاق)؛ وفتح ملفاتها في التأمينات الاجتماعية ووزارة الموارد البشرية؛ وتسجيل العنوان الوطني.‏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4233672"/>
            <a:ext cx="4114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>
                <a:solidFill>
                  <a:srgbClr val="1E3A9E"/>
                </a:solidFill>
                <a:latin typeface="IBM Plex Mono"/>
                <a:cs typeface="IBM Plex Mono"/>
              </a:rPr>
              <a:t>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846320"/>
            <a:ext cx="11091672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910328"/>
            <a:ext cx="3657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1E3A9E"/>
                </a:solidFill>
                <a:latin typeface="IBM Plex Mono"/>
                <a:cs typeface="IBM Plex Mono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4882896"/>
            <a:ext cx="484632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>
              <a:lnSpc>
                <a:spcPct val="105000"/>
              </a:lnSpc>
            </a:pPr>
            <a:r>
              <a:rPr sz="1000" b="1">
                <a:solidFill>
                  <a:srgbClr val="1B2340"/>
                </a:solidFill>
                <a:latin typeface="IBM Plex Sans Arabic"/>
                <a:cs typeface="IBM Plex Sans Arabic"/>
              </a:rPr>
              <a:t>Manager &amp; authorisations</a:t>
            </a:r>
            <a:r>
              <a:rPr sz="1000" b="0">
                <a:solidFill>
                  <a:srgbClr val="1B2340"/>
                </a:solidFill>
                <a:latin typeface="IBM Plex Sans Arabic"/>
                <a:cs typeface="IBM Plex Sans Arabic"/>
              </a:rPr>
              <a:t> — Appointing the manager and preparing the authorisations required for the company’s operation.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4882896"/>
            <a:ext cx="512064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rtl="1" algn="r">
              <a:lnSpc>
                <a:spcPct val="105000"/>
              </a:lnSpc>
            </a:pPr>
            <a:r>
              <a:rPr sz="1100" b="1">
                <a:solidFill>
                  <a:srgbClr val="1B2340"/>
                </a:solidFill>
                <a:latin typeface="IBM Plex Sans Arabic"/>
                <a:cs typeface="IBM Plex Sans Arabic"/>
              </a:rPr>
              <a:t>المدير والتفويضات</a:t>
            </a:r>
            <a:r>
              <a:rPr sz="1100" b="0">
                <a:solidFill>
                  <a:srgbClr val="1B2340"/>
                </a:solidFill>
                <a:latin typeface="IBM Plex Sans Arabic"/>
                <a:cs typeface="IBM Plex Sans Arabic"/>
              </a:rPr>
              <a:t> — تعيين المدير وتجهيز التفويضات اللازمة لتشغيل الشركة.‏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4910328"/>
            <a:ext cx="4114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>
                <a:solidFill>
                  <a:srgbClr val="1E3A9E"/>
                </a:solidFill>
                <a:latin typeface="IBM Plex Mono"/>
                <a:cs typeface="IBM Plex Mono"/>
              </a:rPr>
              <a:t>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522975"/>
            <a:ext cx="11091672" cy="603504"/>
          </a:xfrm>
          <a:prstGeom prst="rect">
            <a:avLst/>
          </a:prstGeom>
          <a:solidFill>
            <a:srgbClr val="F7F8FD"/>
          </a:solidFill>
          <a:ln w="9525">
            <a:solidFill>
              <a:srgbClr val="DD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586983"/>
            <a:ext cx="3657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1E3A9E"/>
                </a:solidFill>
                <a:latin typeface="IBM Plex Mono"/>
                <a:cs typeface="IBM Plex Mono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5559551"/>
            <a:ext cx="484632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>
              <a:lnSpc>
                <a:spcPct val="105000"/>
              </a:lnSpc>
            </a:pPr>
            <a:r>
              <a:rPr sz="1000" b="1">
                <a:solidFill>
                  <a:srgbClr val="1B2340"/>
                </a:solidFill>
                <a:latin typeface="IBM Plex Sans Arabic"/>
                <a:cs typeface="IBM Plex Sans Arabic"/>
              </a:rPr>
              <a:t>Updates &amp; handover</a:t>
            </a:r>
            <a:r>
              <a:rPr sz="1000" b="0">
                <a:solidFill>
                  <a:srgbClr val="1B2340"/>
                </a:solidFill>
                <a:latin typeface="IBM Plex Sans Arabic"/>
                <a:cs typeface="IBM Plex Sans Arabic"/>
              </a:rPr>
              <a:t> — Keeping the Client informed of the application status step by step, and handing over the complete final file.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80760" y="5559551"/>
            <a:ext cx="512064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rtl="1" algn="r">
              <a:lnSpc>
                <a:spcPct val="105000"/>
              </a:lnSpc>
            </a:pPr>
            <a:r>
              <a:rPr sz="1100" b="1">
                <a:solidFill>
                  <a:srgbClr val="1B2340"/>
                </a:solidFill>
                <a:latin typeface="IBM Plex Sans Arabic"/>
                <a:cs typeface="IBM Plex Sans Arabic"/>
              </a:rPr>
              <a:t>المتابعة والتسليم</a:t>
            </a:r>
            <a:r>
              <a:rPr sz="1100" b="0">
                <a:solidFill>
                  <a:srgbClr val="1B2340"/>
                </a:solidFill>
                <a:latin typeface="IBM Plex Sans Arabic"/>
                <a:cs typeface="IBM Plex Sans Arabic"/>
              </a:rPr>
              <a:t> — إبلاغ العميل بحالة الطلب أولاً بأول، وتسليم الملف النهائي كاملاً.‏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01400" y="5586983"/>
            <a:ext cx="4114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>
                <a:solidFill>
                  <a:srgbClr val="1E3A9E"/>
                </a:solidFill>
                <a:latin typeface="IBM Plex Mono"/>
                <a:cs typeface="IBM Plex Mono"/>
              </a:rPr>
              <a:t>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6291072"/>
            <a:ext cx="11091672" cy="18288"/>
          </a:xfrm>
          <a:prstGeom prst="rect">
            <a:avLst/>
          </a:prstGeom>
          <a:solidFill>
            <a:srgbClr val="0B1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800" b="0">
                <a:solidFill>
                  <a:srgbClr val="4A5578"/>
                </a:solidFill>
                <a:latin typeface="IBM Plex Sans Arabic"/>
                <a:cs typeface="IBM Plex Sans Arabic"/>
              </a:rPr>
              <a:t>National Address: RDAA9214 · 9214 King Khaled Branch Rd, Al Asemah, Ad Diriyah 13714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0720" y="6355080"/>
            <a:ext cx="5879592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4A5578"/>
                </a:solidFill>
                <a:latin typeface="IBM Plex Sans Arabic"/>
                <a:cs typeface="IBM Plex Sans Arabic"/>
              </a:rPr>
              <a:t>[●] · business@businesspartner.sa · www.businesspartner.sa · 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6692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2400" b="1">
                <a:solidFill>
                  <a:srgbClr val="0B1B5A"/>
                </a:solidFill>
                <a:latin typeface="Playfair Display"/>
                <a:cs typeface="Playfair Display"/>
              </a:rPr>
              <a:t>Price &amp; what is included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411480"/>
            <a:ext cx="5239512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2800" b="1">
                <a:solidFill>
                  <a:srgbClr val="0B1B5A"/>
                </a:solidFill>
                <a:latin typeface="IBM Plex Sans Arabic"/>
                <a:cs typeface="IBM Plex Sans Arabic"/>
              </a:rPr>
              <a:t>السعر وما يشمله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91672" cy="36576"/>
          </a:xfrm>
          <a:prstGeom prst="rect">
            <a:avLst/>
          </a:prstGeom>
          <a:solidFill>
            <a:srgbClr val="0B1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4023360" cy="4480560"/>
          </a:xfrm>
          <a:prstGeom prst="rect">
            <a:avLst/>
          </a:prstGeom>
          <a:solidFill>
            <a:srgbClr val="0B1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9DB4FF"/>
                </a:solidFill>
                <a:latin typeface="IBM Plex Mono"/>
                <a:cs typeface="IBM Plex Mono"/>
              </a:rPr>
              <a:t>BP-FI-05 · Service fee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36576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Playfair Display"/>
                <a:cs typeface="Playfair Display"/>
              </a:rPr>
              <a:t>SAR 30,000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63240"/>
            <a:ext cx="3657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IBM Plex Sans Arabic"/>
                <a:cs typeface="IBM Plex Sans Arabic"/>
              </a:rPr>
              <a:t>30,000 ريال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36576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30000"/>
              </a:lnSpc>
            </a:pPr>
            <a:r>
              <a:rPr sz="1100" b="0">
                <a:solidFill>
                  <a:srgbClr val="EEF1FB"/>
                </a:solidFill>
                <a:latin typeface="IBM Plex Sans Arabic"/>
                <a:cs typeface="IBM Plex Sans Arabic"/>
              </a:rPr>
              <a:t>Before 15% VAT (SAR 4,500) · total SAR 34,500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EEF1FB"/>
                </a:solidFill>
                <a:latin typeface="IBM Plex Sans Arabic"/>
                <a:cs typeface="IBM Plex Sans Arabic"/>
              </a:rPr>
              <a:t>قبل ضريبة 15% (4,500 ريال) · الإجمالي 34,500 ريال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36576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30000"/>
              </a:lnSpc>
            </a:pPr>
            <a:r>
              <a:rPr sz="1200" b="0">
                <a:solidFill>
                  <a:srgbClr val="9DB4FF"/>
                </a:solidFill>
                <a:latin typeface="IBM Plex Sans Arabic"/>
                <a:cs typeface="IBM Plex Sans Arabic"/>
              </a:rPr>
              <a:t>Government fees: </a:t>
            </a:r>
            <a:r>
              <a:rPr sz="1200" b="1">
                <a:solidFill>
                  <a:srgbClr val="9DB4FF"/>
                </a:solidFill>
                <a:latin typeface="IBM Plex Sans Arabic"/>
                <a:cs typeface="IBM Plex Sans Arabic"/>
              </a:rPr>
              <a:t>Not included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9DB4FF"/>
                </a:solidFill>
                <a:latin typeface="IBM Plex Sans Arabic"/>
                <a:cs typeface="IBM Plex Sans Arabic"/>
              </a:rPr>
              <a:t>الرسوم الحكومية: </a:t>
            </a:r>
            <a:r>
              <a:rPr sz="1200" b="1">
                <a:solidFill>
                  <a:srgbClr val="9DB4FF"/>
                </a:solidFill>
                <a:latin typeface="IBM Plex Sans Arabic"/>
                <a:cs typeface="IBM Plex Sans Arabic"/>
              </a:rPr>
              <a:t>غير شامل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1554480"/>
            <a:ext cx="6793992" cy="2240280"/>
          </a:xfrm>
          <a:prstGeom prst="rect">
            <a:avLst/>
          </a:prstGeom>
          <a:solidFill>
            <a:srgbClr val="F7F8FD"/>
          </a:solidFill>
          <a:ln w="9525">
            <a:solidFill>
              <a:srgbClr val="DD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3480" y="1627632"/>
            <a:ext cx="3200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0B1B5A"/>
                </a:solidFill>
                <a:latin typeface="IBM Plex Sans Arabic"/>
                <a:cs typeface="IBM Plex Sans Arabic"/>
              </a:rPr>
              <a:t>On us · علينا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1920240"/>
            <a:ext cx="329184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25000"/>
              </a:lnSpc>
            </a:pPr>
            <a:r>
              <a:rPr sz="1050" b="0">
                <a:solidFill>
                  <a:srgbClr val="1B2340"/>
                </a:solidFill>
                <a:latin typeface="IBM Plex Sans Arabic"/>
                <a:cs typeface="IBM Plex Sans Arabic"/>
              </a:rPr>
              <a:t>• Eligibility study &amp; structuring</a:t>
            </a:r>
          </a:p>
          <a:p>
            <a:pPr>
              <a:lnSpc>
                <a:spcPct val="125000"/>
              </a:lnSpc>
            </a:pPr>
            <a:r>
              <a:rPr sz="1050" b="0">
                <a:solidFill>
                  <a:srgbClr val="1B2340"/>
                </a:solidFill>
                <a:latin typeface="IBM Plex Sans Arabic"/>
                <a:cs typeface="IBM Plex Sans Arabic"/>
              </a:rPr>
              <a:t>• MISA investment registration</a:t>
            </a:r>
          </a:p>
          <a:p>
            <a:pPr>
              <a:lnSpc>
                <a:spcPct val="125000"/>
              </a:lnSpc>
            </a:pPr>
            <a:r>
              <a:rPr sz="1050" b="0">
                <a:solidFill>
                  <a:srgbClr val="1B2340"/>
                </a:solidFill>
                <a:latin typeface="IBM Plex Sans Arabic"/>
                <a:cs typeface="IBM Plex Sans Arabic"/>
              </a:rPr>
              <a:t>• Support-entity coordination</a:t>
            </a:r>
          </a:p>
          <a:p>
            <a:pPr>
              <a:lnSpc>
                <a:spcPct val="125000"/>
              </a:lnSpc>
            </a:pPr>
            <a:r>
              <a:rPr sz="1050" b="0">
                <a:solidFill>
                  <a:srgbClr val="1B2340"/>
                </a:solidFill>
                <a:latin typeface="IBM Plex Sans Arabic"/>
                <a:cs typeface="IBM Plex Sans Arabic"/>
              </a:rPr>
              <a:t>• Articles &amp; commercial registration</a:t>
            </a:r>
          </a:p>
          <a:p>
            <a:pPr>
              <a:lnSpc>
                <a:spcPct val="125000"/>
              </a:lnSpc>
            </a:pPr>
            <a:r>
              <a:rPr sz="1050" b="0">
                <a:solidFill>
                  <a:srgbClr val="1B2340"/>
                </a:solidFill>
                <a:latin typeface="IBM Plex Sans Arabic"/>
                <a:cs typeface="IBM Plex Sans Arabic"/>
              </a:rPr>
              <a:t>• Chamber, ZATCA, GOSI, HR, national address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1920240"/>
            <a:ext cx="324612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rtl="1" algn="r">
              <a:lnSpc>
                <a:spcPct val="125000"/>
              </a:lnSpc>
            </a:pPr>
            <a:r>
              <a:rPr sz="1050" b="0">
                <a:solidFill>
                  <a:srgbClr val="1B2340"/>
                </a:solidFill>
                <a:latin typeface="IBM Plex Sans Arabic"/>
                <a:cs typeface="IBM Plex Sans Arabic"/>
              </a:rPr>
              <a:t>دراسة الأهلية والهيكلة •</a:t>
            </a:r>
          </a:p>
          <a:p>
            <a:pPr rtl="1" algn="r">
              <a:lnSpc>
                <a:spcPct val="125000"/>
              </a:lnSpc>
            </a:pPr>
            <a:r>
              <a:rPr sz="1050" b="0">
                <a:solidFill>
                  <a:srgbClr val="1B2340"/>
                </a:solidFill>
                <a:latin typeface="IBM Plex Sans Arabic"/>
                <a:cs typeface="IBM Plex Sans Arabic"/>
              </a:rPr>
              <a:t>التسجيل الاستثماري لدى وزارة الاستثمار •</a:t>
            </a:r>
          </a:p>
          <a:p>
            <a:pPr rtl="1" algn="r">
              <a:lnSpc>
                <a:spcPct val="125000"/>
              </a:lnSpc>
            </a:pPr>
            <a:r>
              <a:rPr sz="1050" b="0">
                <a:solidFill>
                  <a:srgbClr val="1B2340"/>
                </a:solidFill>
                <a:latin typeface="IBM Plex Sans Arabic"/>
                <a:cs typeface="IBM Plex Sans Arabic"/>
              </a:rPr>
              <a:t>التنسيق مع جهة الدعم •</a:t>
            </a:r>
          </a:p>
          <a:p>
            <a:pPr rtl="1" algn="r">
              <a:lnSpc>
                <a:spcPct val="125000"/>
              </a:lnSpc>
            </a:pPr>
            <a:r>
              <a:rPr sz="1050" b="0">
                <a:solidFill>
                  <a:srgbClr val="1B2340"/>
                </a:solidFill>
                <a:latin typeface="IBM Plex Sans Arabic"/>
                <a:cs typeface="IBM Plex Sans Arabic"/>
              </a:rPr>
              <a:t>عقد التأسيس والسجل التجاري •</a:t>
            </a:r>
          </a:p>
          <a:p>
            <a:pPr rtl="1" algn="r">
              <a:lnSpc>
                <a:spcPct val="125000"/>
              </a:lnSpc>
            </a:pPr>
            <a:r>
              <a:rPr sz="1050" b="0">
                <a:solidFill>
                  <a:srgbClr val="1B2340"/>
                </a:solidFill>
                <a:latin typeface="IBM Plex Sans Arabic"/>
                <a:cs typeface="IBM Plex Sans Arabic"/>
              </a:rPr>
              <a:t>الغرفة والزكاة والتأمينات والموارد البشرية والعنوان الوطني 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3931920"/>
            <a:ext cx="6793992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83480" y="4005072"/>
            <a:ext cx="3200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0B1B5A"/>
                </a:solidFill>
                <a:latin typeface="IBM Plex Sans Arabic"/>
                <a:cs typeface="IBM Plex Sans Arabic"/>
              </a:rPr>
              <a:t>On the Client · على العميل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4297680"/>
            <a:ext cx="3291840" cy="1737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25000"/>
              </a:lnSpc>
            </a:pPr>
            <a:r>
              <a:rPr sz="1050" b="0">
                <a:solidFill>
                  <a:srgbClr val="1B2340"/>
                </a:solidFill>
                <a:latin typeface="IBM Plex Sans Arabic"/>
                <a:cs typeface="IBM Plex Sans Arabic"/>
              </a:rPr>
              <a:t>• Government fees &amp; entity charges</a:t>
            </a:r>
          </a:p>
          <a:p>
            <a:pPr>
              <a:lnSpc>
                <a:spcPct val="125000"/>
              </a:lnSpc>
            </a:pPr>
            <a:r>
              <a:rPr sz="1050" b="0">
                <a:solidFill>
                  <a:srgbClr val="1B2340"/>
                </a:solidFill>
                <a:latin typeface="IBM Plex Sans Arabic"/>
                <a:cs typeface="IBM Plex Sans Arabic"/>
              </a:rPr>
              <a:t>• Attestation, certified translation, support-entity fees</a:t>
            </a:r>
          </a:p>
          <a:p>
            <a:pPr>
              <a:lnSpc>
                <a:spcPct val="125000"/>
              </a:lnSpc>
            </a:pPr>
            <a:r>
              <a:rPr sz="1050" b="0">
                <a:solidFill>
                  <a:srgbClr val="1B2340"/>
                </a:solidFill>
                <a:latin typeface="IBM Plex Sans Arabic"/>
                <a:cs typeface="IBM Plex Sans Arabic"/>
              </a:rPr>
              <a:t>• Powers of attorney (issued in the Kingdom if resident)</a:t>
            </a:r>
          </a:p>
          <a:p>
            <a:pPr>
              <a:lnSpc>
                <a:spcPct val="125000"/>
              </a:lnSpc>
            </a:pPr>
            <a:r>
              <a:rPr sz="1050" b="0">
                <a:solidFill>
                  <a:srgbClr val="1B2340"/>
                </a:solidFill>
                <a:latin typeface="IBM Plex Sans Arabic"/>
                <a:cs typeface="IBM Plex Sans Arabic"/>
              </a:rPr>
              <a:t>• Documents &amp; information, complete and on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4297680"/>
            <a:ext cx="3246120" cy="1737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rtl="1" algn="r">
              <a:lnSpc>
                <a:spcPct val="125000"/>
              </a:lnSpc>
            </a:pPr>
            <a:r>
              <a:rPr sz="1050" b="0">
                <a:solidFill>
                  <a:srgbClr val="1B2340"/>
                </a:solidFill>
                <a:latin typeface="IBM Plex Sans Arabic"/>
                <a:cs typeface="IBM Plex Sans Arabic"/>
              </a:rPr>
              <a:t>الرسوم الحكومية ورسوم الجهات •</a:t>
            </a:r>
          </a:p>
          <a:p>
            <a:pPr rtl="1" algn="r">
              <a:lnSpc>
                <a:spcPct val="125000"/>
              </a:lnSpc>
            </a:pPr>
            <a:r>
              <a:rPr sz="1050" b="0">
                <a:solidFill>
                  <a:srgbClr val="1B2340"/>
                </a:solidFill>
                <a:latin typeface="IBM Plex Sans Arabic"/>
                <a:cs typeface="IBM Plex Sans Arabic"/>
              </a:rPr>
              <a:t>التصديق والترجمة المعتمدة ورسوم جهة الدعم •</a:t>
            </a:r>
          </a:p>
          <a:p>
            <a:pPr rtl="1" algn="r">
              <a:lnSpc>
                <a:spcPct val="125000"/>
              </a:lnSpc>
            </a:pPr>
            <a:r>
              <a:rPr sz="1050" b="0">
                <a:solidFill>
                  <a:srgbClr val="1B2340"/>
                </a:solidFill>
                <a:latin typeface="IBM Plex Sans Arabic"/>
                <a:cs typeface="IBM Plex Sans Arabic"/>
              </a:rPr>
              <a:t>الوكالات (تصدر من داخل السعودية إن كان مقيماً) •</a:t>
            </a:r>
          </a:p>
          <a:p>
            <a:pPr rtl="1" algn="r">
              <a:lnSpc>
                <a:spcPct val="125000"/>
              </a:lnSpc>
            </a:pPr>
            <a:r>
              <a:rPr sz="1050" b="0">
                <a:solidFill>
                  <a:srgbClr val="1B2340"/>
                </a:solidFill>
                <a:latin typeface="IBM Plex Sans Arabic"/>
                <a:cs typeface="IBM Plex Sans Arabic"/>
              </a:rPr>
              <a:t>المستندات والمعلومات كاملة وفي وقتها 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291072"/>
            <a:ext cx="11091672" cy="18288"/>
          </a:xfrm>
          <a:prstGeom prst="rect">
            <a:avLst/>
          </a:prstGeom>
          <a:solidFill>
            <a:srgbClr val="0B1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800" b="0">
                <a:solidFill>
                  <a:srgbClr val="4A5578"/>
                </a:solidFill>
                <a:latin typeface="IBM Plex Sans Arabic"/>
                <a:cs typeface="IBM Plex Sans Arabic"/>
              </a:rPr>
              <a:t>National Address: RDAA9214 · 9214 King Khaled Branch Rd, Al Asemah, Ad Diriyah 13714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6355080"/>
            <a:ext cx="5879592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4A5578"/>
                </a:solidFill>
                <a:latin typeface="IBM Plex Sans Arabic"/>
                <a:cs typeface="IBM Plex Sans Arabic"/>
              </a:rPr>
              <a:t>[●] · business@businesspartner.sa · www.businesspartner.sa · 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6692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2400" b="1">
                <a:solidFill>
                  <a:srgbClr val="0B1B5A"/>
                </a:solidFill>
                <a:latin typeface="Playfair Display"/>
                <a:cs typeface="Playfair Display"/>
              </a:rPr>
              <a:t>Stages, duration &amp; payment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411480"/>
            <a:ext cx="5239512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2800" b="1">
                <a:solidFill>
                  <a:srgbClr val="0B1B5A"/>
                </a:solidFill>
                <a:latin typeface="IBM Plex Sans Arabic"/>
                <a:cs typeface="IBM Plex Sans Arabic"/>
              </a:rPr>
              <a:t>المراحل والمدة والدفع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91672" cy="36576"/>
          </a:xfrm>
          <a:prstGeom prst="rect">
            <a:avLst/>
          </a:prstGeom>
          <a:solidFill>
            <a:srgbClr val="0B1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3566160" cy="2011680"/>
          </a:xfrm>
          <a:prstGeom prst="rect">
            <a:avLst/>
          </a:prstGeom>
          <a:solidFill>
            <a:srgbClr val="F7F8FD"/>
          </a:solidFill>
          <a:ln w="9525">
            <a:solidFill>
              <a:srgbClr val="DD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548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2200" b="1">
                <a:solidFill>
                  <a:srgbClr val="1E3A9E"/>
                </a:solidFill>
                <a:latin typeface="IBM Plex Mono"/>
                <a:cs typeface="IBM Plex Mon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32918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250" b="1">
                <a:solidFill>
                  <a:srgbClr val="0B1B5A"/>
                </a:solidFill>
                <a:latin typeface="IBM Plex Sans Arabic"/>
                <a:cs typeface="IBM Plex Sans Arabic"/>
              </a:rPr>
              <a:t>Before registration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23160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950" b="0">
                <a:solidFill>
                  <a:srgbClr val="1B2340"/>
                </a:solidFill>
                <a:latin typeface="IBM Plex Sans Arabic"/>
                <a:cs typeface="IBM Plex Sans Arabic"/>
              </a:rPr>
              <a:t>Documents, support letter, attestation — on the 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71800"/>
            <a:ext cx="32918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250" b="1">
                <a:solidFill>
                  <a:srgbClr val="0B1B5A"/>
                </a:solidFill>
                <a:latin typeface="IBM Plex Sans Arabic"/>
                <a:cs typeface="IBM Plex Sans Arabic"/>
              </a:rPr>
              <a:t>قبل التسجيل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73552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rtl="1" algn="r">
              <a:lnSpc>
                <a:spcPct val="110000"/>
              </a:lnSpc>
            </a:pPr>
            <a:r>
              <a:rPr sz="950" b="0">
                <a:solidFill>
                  <a:srgbClr val="1B2340"/>
                </a:solidFill>
                <a:latin typeface="IBM Plex Sans Arabic"/>
                <a:cs typeface="IBM Plex Sans Arabic"/>
              </a:rPr>
              <a:t>المستندات وخطاب الدعم والتصديق — على العميل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1554480"/>
            <a:ext cx="3566160" cy="2011680"/>
          </a:xfrm>
          <a:prstGeom prst="rect">
            <a:avLst/>
          </a:prstGeom>
          <a:solidFill>
            <a:srgbClr val="F7F8FD"/>
          </a:solidFill>
          <a:ln w="9525">
            <a:solidFill>
              <a:srgbClr val="DD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627632"/>
            <a:ext cx="548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2200" b="1">
                <a:solidFill>
                  <a:srgbClr val="1E3A9E"/>
                </a:solidFill>
                <a:latin typeface="IBM Plex Mono"/>
                <a:cs typeface="IBM Plex Mon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103120"/>
            <a:ext cx="32918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250" b="1">
                <a:solidFill>
                  <a:srgbClr val="0B1B5A"/>
                </a:solidFill>
                <a:latin typeface="IBM Plex Sans Arabic"/>
                <a:cs typeface="IBM Plex Sans Arabic"/>
              </a:rPr>
              <a:t>Investment registration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423160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950" b="0">
                <a:solidFill>
                  <a:srgbClr val="1B2340"/>
                </a:solidFill>
                <a:latin typeface="IBM Plex Sans Arabic"/>
                <a:cs typeface="IBM Plex Sans Arabic"/>
              </a:rPr>
              <a:t>Official period: 10 working days from a complete 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971800"/>
            <a:ext cx="32918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250" b="1">
                <a:solidFill>
                  <a:srgbClr val="0B1B5A"/>
                </a:solidFill>
                <a:latin typeface="IBM Plex Sans Arabic"/>
                <a:cs typeface="IBM Plex Sans Arabic"/>
              </a:rPr>
              <a:t>التسجيل الاستثماري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273552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rtl="1" algn="r">
              <a:lnSpc>
                <a:spcPct val="110000"/>
              </a:lnSpc>
            </a:pPr>
            <a:r>
              <a:rPr sz="950" b="0">
                <a:solidFill>
                  <a:srgbClr val="1B2340"/>
                </a:solidFill>
                <a:latin typeface="IBM Plex Sans Arabic"/>
                <a:cs typeface="IBM Plex Sans Arabic"/>
              </a:rPr>
              <a:t>المدة الرسمية: 10 أيام عمل من اكتمال الملف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19" y="1554480"/>
            <a:ext cx="3566160" cy="2011680"/>
          </a:xfrm>
          <a:prstGeom prst="rect">
            <a:avLst/>
          </a:prstGeom>
          <a:solidFill>
            <a:srgbClr val="F7F8FD"/>
          </a:solidFill>
          <a:ln w="9525">
            <a:solidFill>
              <a:srgbClr val="DD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79" y="1627632"/>
            <a:ext cx="548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2200" b="1">
                <a:solidFill>
                  <a:srgbClr val="1E3A9E"/>
                </a:solidFill>
                <a:latin typeface="IBM Plex Mono"/>
                <a:cs typeface="IBM Plex Mono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2103120"/>
            <a:ext cx="32918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250" b="1">
                <a:solidFill>
                  <a:srgbClr val="0B1B5A"/>
                </a:solidFill>
                <a:latin typeface="IBM Plex Sans Arabic"/>
                <a:cs typeface="IBM Plex Sans Arabic"/>
              </a:rPr>
              <a:t>Incorporation &amp; handover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2423160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950" b="0">
                <a:solidFill>
                  <a:srgbClr val="1B2340"/>
                </a:solidFill>
                <a:latin typeface="IBM Plex Sans Arabic"/>
                <a:cs typeface="IBM Plex Sans Arabic"/>
              </a:rPr>
              <a:t>CR, chamber, ZATCA, GOSI, HR, national address, final 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2971800"/>
            <a:ext cx="32918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250" b="1">
                <a:solidFill>
                  <a:srgbClr val="0B1B5A"/>
                </a:solidFill>
                <a:latin typeface="IBM Plex Sans Arabic"/>
                <a:cs typeface="IBM Plex Sans Arabic"/>
              </a:rPr>
              <a:t>التأسيس والتسليم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3273552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rtl="1" algn="r">
              <a:lnSpc>
                <a:spcPct val="110000"/>
              </a:lnSpc>
            </a:pPr>
            <a:r>
              <a:rPr sz="950" b="0">
                <a:solidFill>
                  <a:srgbClr val="1B2340"/>
                </a:solidFill>
                <a:latin typeface="IBM Plex Sans Arabic"/>
                <a:cs typeface="IBM Plex Sans Arabic"/>
              </a:rPr>
              <a:t>السجل والغرفة والزكاة والتأمينات والملف النهائي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79476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0B1B5A"/>
                </a:solidFill>
                <a:latin typeface="IBM Plex Sans Arabic"/>
                <a:cs typeface="IBM Plex Sans Arabic"/>
              </a:rPr>
              <a:t>Payment · الدفع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251960"/>
            <a:ext cx="5468112" cy="1783080"/>
          </a:xfrm>
          <a:prstGeom prst="rect">
            <a:avLst/>
          </a:prstGeom>
          <a:solidFill>
            <a:srgbClr val="0B1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343400"/>
            <a:ext cx="16459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Playfair Display"/>
                <a:cs typeface="Playfair Display"/>
              </a:rPr>
              <a:t>50%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074920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9DB4FF"/>
                </a:solidFill>
                <a:latin typeface="IBM Plex Sans Arabic"/>
                <a:cs typeface="IBM Plex Sans Arabic"/>
              </a:rPr>
              <a:t>SAR 15,000 before VAT · 15,000 ريال قبل الضريبة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394960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IBM Plex Sans Arabic"/>
                <a:cs typeface="IBM Plex Sans Arabic"/>
              </a:rPr>
              <a:t>On signing the contract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687568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200" b="0">
                <a:solidFill>
                  <a:srgbClr val="FFFFFF"/>
                </a:solidFill>
                <a:latin typeface="IBM Plex Sans Arabic"/>
                <a:cs typeface="IBM Plex Sans Arabic"/>
              </a:rPr>
              <a:t>عند التعاقد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4251960"/>
            <a:ext cx="5468112" cy="1783080"/>
          </a:xfrm>
          <a:prstGeom prst="rect">
            <a:avLst/>
          </a:prstGeom>
          <a:solidFill>
            <a:srgbClr val="0B1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4343400"/>
            <a:ext cx="16459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Playfair Display"/>
                <a:cs typeface="Playfair Display"/>
              </a:rPr>
              <a:t>50%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5074920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9DB4FF"/>
                </a:solidFill>
                <a:latin typeface="IBM Plex Sans Arabic"/>
                <a:cs typeface="IBM Plex Sans Arabic"/>
              </a:rPr>
              <a:t>SAR 15,000 before VAT · 15,000 ريال قبل الضريبة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5394960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IBM Plex Sans Arabic"/>
                <a:cs typeface="IBM Plex Sans Arabic"/>
              </a:rPr>
              <a:t>After the company is established and the work is delivered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5687568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rtl="1" algn="r">
              <a:lnSpc>
                <a:spcPct val="115000"/>
              </a:lnSpc>
            </a:pPr>
            <a:r>
              <a:rPr sz="1200" b="0">
                <a:solidFill>
                  <a:srgbClr val="FFFFFF"/>
                </a:solidFill>
                <a:latin typeface="IBM Plex Sans Arabic"/>
                <a:cs typeface="IBM Plex Sans Arabic"/>
              </a:rPr>
              <a:t>بعد تأسيس الشركة وتسليم العمل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6291072"/>
            <a:ext cx="11091672" cy="18288"/>
          </a:xfrm>
          <a:prstGeom prst="rect">
            <a:avLst/>
          </a:prstGeom>
          <a:solidFill>
            <a:srgbClr val="0B1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800" b="0">
                <a:solidFill>
                  <a:srgbClr val="4A5578"/>
                </a:solidFill>
                <a:latin typeface="IBM Plex Sans Arabic"/>
                <a:cs typeface="IBM Plex Sans Arabic"/>
              </a:rPr>
              <a:t>National Address: RDAA9214 · 9214 King Khaled Branch Rd, Al Asemah, Ad Diriyah 13714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0" y="6355080"/>
            <a:ext cx="5879592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4A5578"/>
                </a:solidFill>
                <a:latin typeface="IBM Plex Sans Arabic"/>
                <a:cs typeface="IBM Plex Sans Arabic"/>
              </a:rPr>
              <a:t>[●] · business@businesspartner.sa · www.businesspartner.sa · 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FDF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usiness-partner-logo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"/>
            <a:ext cx="3840480" cy="5779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01168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9DB4FF"/>
                </a:solidFill>
                <a:latin typeface="IBM Plex Mono"/>
                <a:cs typeface="IBM Plex Mono"/>
              </a:rPr>
              <a:t>CONTACT &amp; BANK TRANSFER · التواصل والتحويل البنكي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Playfair Display"/>
                <a:cs typeface="Playfair Display"/>
              </a:rPr>
              <a:t>Thank you for your trust · شكراً لثقتكم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657600"/>
            <a:ext cx="5394960" cy="27432"/>
          </a:xfrm>
          <a:prstGeom prst="rect">
            <a:avLst/>
          </a:prstGeom>
          <a:solidFill>
            <a:srgbClr val="9D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3657600"/>
            <a:ext cx="5394960" cy="27432"/>
          </a:xfrm>
          <a:prstGeom prst="rect">
            <a:avLst/>
          </a:prstGeom>
          <a:solidFill>
            <a:srgbClr val="9D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749039"/>
            <a:ext cx="5394960" cy="2194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50000"/>
              </a:lnSpc>
            </a:pPr>
            <a:r>
              <a:rPr sz="1200" b="1">
                <a:solidFill>
                  <a:srgbClr val="FFFFFF"/>
                </a:solidFill>
                <a:latin typeface="IBM Plex Sans Arabic"/>
                <a:cs typeface="IBM Plex Sans Arabic"/>
              </a:rPr>
              <a:t>Contact · التواصل</a:t>
            </a:r>
          </a:p>
          <a:p>
            <a:pPr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IBM Plex Sans Arabic"/>
                <a:cs typeface="IBM Plex Sans Arabic"/>
              </a:rPr>
              <a:t>Mobile / الجوال: [●]</a:t>
            </a:r>
          </a:p>
          <a:p>
            <a:pPr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IBM Plex Sans Arabic"/>
                <a:cs typeface="IBM Plex Sans Arabic"/>
              </a:rPr>
              <a:t>Email / الإيميل: business@businesspartner.sa</a:t>
            </a:r>
          </a:p>
          <a:p>
            <a:pPr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IBM Plex Sans Arabic"/>
                <a:cs typeface="IBM Plex Sans Arabic"/>
              </a:rPr>
              <a:t>Website / الموقع: www.businesspartner.sa</a:t>
            </a:r>
          </a:p>
          <a:p>
            <a:pPr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IBM Plex Sans Arabic"/>
                <a:cs typeface="IBM Plex Sans Arabic"/>
              </a:rPr>
              <a:t>National address / العنوان الوطني: RDAA9214 · Ad Diriyah 13714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3749039"/>
            <a:ext cx="5394960" cy="2194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50000"/>
              </a:lnSpc>
            </a:pPr>
            <a:r>
              <a:rPr sz="1200" b="1">
                <a:solidFill>
                  <a:srgbClr val="FFFFFF"/>
                </a:solidFill>
                <a:latin typeface="IBM Plex Sans Arabic"/>
                <a:cs typeface="IBM Plex Sans Arabic"/>
              </a:rPr>
              <a:t>Bank transfer · التحويل البنكي</a:t>
            </a:r>
          </a:p>
          <a:p>
            <a:pPr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IBM Plex Sans Arabic"/>
                <a:cs typeface="IBM Plex Sans Arabic"/>
              </a:rPr>
              <a:t>Beneficiary / المستفيد: Business Partner Solutions / بزنس بارتنر سلوشنز</a:t>
            </a:r>
          </a:p>
          <a:p>
            <a:pPr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IBM Plex Sans Arabic"/>
                <a:cs typeface="IBM Plex Sans Arabic"/>
              </a:rPr>
              <a:t>Bank / البنك: [●]</a:t>
            </a:r>
          </a:p>
          <a:p>
            <a:pPr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IBM Plex Sans Arabic"/>
                <a:cs typeface="IBM Plex Sans Arabic"/>
              </a:rPr>
              <a:t>IBAN: [IBAN]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291072"/>
            <a:ext cx="11091672" cy="18288"/>
          </a:xfrm>
          <a:prstGeom prst="rect">
            <a:avLst/>
          </a:prstGeom>
          <a:solidFill>
            <a:srgbClr val="9D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800" b="0">
                <a:solidFill>
                  <a:srgbClr val="9DB4FF"/>
                </a:solidFill>
                <a:latin typeface="IBM Plex Sans Arabic"/>
                <a:cs typeface="IBM Plex Sans Arabic"/>
              </a:rPr>
              <a:t>National Address: RDAA9214 · 9214 King Khaled Branch Rd, Al Asemah, Ad Diriyah 13714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6355080"/>
            <a:ext cx="5879592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9DB4FF"/>
                </a:solidFill>
                <a:latin typeface="IBM Plex Sans Arabic"/>
                <a:cs typeface="IBM Plex Sans Arabic"/>
              </a:rPr>
              <a:t>[●] · business@businesspartner.sa · www.businesspartner.sa · 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